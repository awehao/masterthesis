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41AABDF-47B2-48E7-9B5D-FC82E647EB8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老師好，我是陳文顥。這次延續上一期的全身預測控制，從抽屜的直線操作擴展到門的旋轉操作。今天會分開說明已完成的接觸模擬、通過中關門的離線名目結果，以及尚在整合的換抓流程；完整往返任務仍是目標，不是今天已完成的成果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整體目標是從起點出發，導航到門前，開門後通過，且在整機通過完成以前就有關門進展。接著到櫃體開啟、關閉，再回到起點。開門時不強求一邊穿越，允許先後退拉開，再換抓內側把手。導航段要啟用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GMPC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和導航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CBF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；目前開門接觸模擬不是已經驗證完整導航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CBF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串接，也不是新增全身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CBF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reviews/20261027_howard_confirmed_plan.md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Howard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本輪確認：導航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CBF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開啟、成功開門保留影片、同趟完整往返為目標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52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上一期已展示完整抽屜操作及預測步數比較。這一期的新增內容是門的接觸操作、底盤繞行與換抓承接。必須把三個證據層級分開：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度單趟開門與受控暫停已通過；約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48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度繞行開門已有接觸證據但整體可靠性未通過；通過中關門目前是離線名目閉迴路。它們不是同一配置或同一趟實驗。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第六次講稿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/NOTE_door_wide_w1f_60_3.md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規格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/COOPEN_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核心段接觸模擬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成果與限制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/coopen_inner_wgmpc_v2_summary.json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50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這裡要清楚說明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GMPC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發揮作用的位置。參考生成器只給目標與引導，不直接寫入理想關節路徑。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W-GMPC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使用實測狀態、手臂設定點和偏移估計，聯合求出底盤三維與手臂六維命令。命令再經執行鏈；接觸與幾何監看可拒絕或中止，不把這些監看說成已在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MPC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內完成全身避碰。導航階段另有導航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CBF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，不能把它當成目前所有操作段都已有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CBF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保證。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src/ammr_wholebody_mpc/ammr_wholebody_mpc/wgmpc_core_sp.py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evaluation/door_regrasp_mode1.py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evaluation/door_regrasp_gates3.py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evaluation/door_regrasp_policy6.py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592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延續上一期的設定點模型，不假設速率命令立即變成實際關節速度。這一期發現開門構型改變後，固定偏移的模型誤差會變大，因此在原有有效區間規則下恢復偏移更新，暫停時再凍結。因果影子重播的一區間鉛直殘差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RMS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由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0.776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降到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0.045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毫米，這是預測一致性的證據，不直接等於接觸控制改善。下一頁的實跑比較才展示實際漂移；接觸負載可能被學入，因此承載與內力風險仍要分開觀察。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/door_coopen_core_bench_3_offset_shadow.json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/door_coopen_core_bench_6_compare.json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規格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/COOPEN_core_spec_draft14.md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572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這是本期可以明確展示的成功影片。機器人實際夾持把手，底盤與手臂共同開門至約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度，接續收斂、受控暫停與主動保持下的停止觀察，事前凍結的判定器全部通過。這不是穿門成果，也不能推論撤除保持後仍停止、跨條件可靠或實機成功。影片是既有實錄姿態重播，不是原始相機錄影。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/NOTE_door_wide_w1f_60_3.md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影片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/door_wide_w1f_60_3_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大角度協同開門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度紀錄修正驗證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開至約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度並完成受控暫停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成功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側視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實錄重播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.mp4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影片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/door_wide_w1f_60_3_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大角度協同開門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度紀錄修正驗證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開至約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度並完成受控暫停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成功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近景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實錄重播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.mp4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609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第二個成果是指定台架初態下的繞行開門核心段。實際閉爪後，門開到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47.74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度，出口距離指標下降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0.176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公尺，展示底盤不是固定在原地。但本趟整體判定不通過：持握窗有低承載物理步，停止窗也有超標樣本。台架初態繞過自主接近，所以不能寫成自主抓取或完整通行成功。它也與前頁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度成功趟不同抓法、不同配置。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/bench_6_door_coopen_check_core12.json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規格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/COOPEN_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核心段接觸模擬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成果與限制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影片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/door_coopen_core_bench_6_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繞緣持握邊開門邊往出口繞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聯合配置開至約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48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度並走完暫停與停止觀察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判定器不通過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失敗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側視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實錄重播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.mp4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圖中灰色是開門早期即凍結偏移估計的趟次，另外三條為開門期間恢復更新的配置。共同門角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43.7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度，平均持握漂移由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4.48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毫米變成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1.33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1.32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1.35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毫米，三趟分箱曲線相近。不把不同診斷與暫停配置混稱嚴格單變因因果。末段仍回升到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4.82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毫米，離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毫米門檻的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0.18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毫米只是名目差額，不能稱抗擾動餘裕。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圖表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/29_coopen_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核心段接觸模擬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漂移四趟比較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.png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/door_coopen_core_bench_6_compare.json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為避免把手臂一直纏在門扇外側，這條路線允許先解除外側持握，退臂後移到門洞入口，再抓內側把手。雙面把手已建立版本化幾何與資產，但同型同高對稱是建模假設，不能當成不同實門都適用。這一頁是方法骨架，不是實跑動畫。狀態與命令來源要承接，不使用瞬移或理想固定連接來假裝換抓成功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evaluation/door_asset_v3.py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evaluation/door_regrasp_ref_registry.py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evaluation/door_regrasp_mode1.py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evaluation/door_regrasp_exec_core.py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646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這組結果使用真正的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W-GMPC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求解器與辨識設定點受控體、指定延遲，從已保存的開門末態開始。門角在抓持段由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TCP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推得，不是門動力學量測。模型中，門由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47.89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度關至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2.20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度，底盤越過圓盤清空線前已關約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45.7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度，整機其後也越過遠側面。取樣自檢沒有所列違規，但自由段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TCP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最大落後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毫米，仍有關節飽和，而且未驗接觸力、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、安全層、完全關閉及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Isaac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。此為早期完整拉關模型，與下一頁最新換抓參考不是同一版，不能拼成同趟成功。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/coopen_inner_wgmpc_v2_summary.json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圖表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/31_coopen_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內側把手串接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名目閉迴路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時間軸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.png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圖表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/32_coopen_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內側把手串接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名目閉迴路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俯視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.png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57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最新換抓版本承接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bench_6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實錄的關節、設定點、套用命令與模型偏移，不再用理想平衡設定點初始化。內側抓法改為沿橫桿軸轉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度，配合經預測淨空核對的時間表。名目模型中，真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W-GMPC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走完退開、收臂移動與內側接近，沒有取樣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stop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或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warn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，仍沒有物理接觸力確認。這個版本只到換抓，不包含前頁那個完整拉關結果。接下來是實際三節點與執行端的完整啟動和換抓聯測，完成後再提出單趟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Isaac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申請，不把準備工作算成任務成功。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evaluation/results/door/door_regrasp_ref_v4_wgmpc_v2.json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evaluation/results/door/door_regrasp_ref_v4.json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reviews/20261028_145143_request.md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reviews/20261028_152918_request.md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56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目前可報告三層成果：第一，單趟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開門與主動保持停止通過；第二，指定初態下，接觸模擬展示開門同期往出口繞行及持握漂移改善，但可靠性未通過；第三，通過中關門的離線名目路線已建立，新換抓正在整合。接下來優先取得同一趟的開門到換抓接觸證據，再接通過中關門，最後串接導航、開關抽屜與返回。這是研究目標，不承諾報告前一定完成；正式報告按實際取得的證據更新。成功開門影片已保留，後續成功子段也會保留，完整同趟紀錄另外驗證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規格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/COOPEN_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核心段接觸模擬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成果與限制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reviews/20261027_howard_confirmed_plan.md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reviews/20261028_152918_request.md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視覺支線目前完成限定預抓取。已知把手與靜態先驗下，以幾何視覺鎖定目標，到位誤差相對鎖定目標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1.83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毫米，保持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0.51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秒；相對真值的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TCP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誤差約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3.99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毫米。估計與控制誤差會同方向疊加，這比只看控制到位更重要。像素中心契約候選版在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82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格共同工具目標上降低接近軸絕對誤差中位數，但仍有變差影格，未建立後續抓取可接受誤差界，不能宣稱視覺抓取或泛化完成。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規格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/DL3_run_result.yaml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規格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/PC2_result.yaml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這張是早期內側把手完整拉關名目模型的俯視圖。底盤圓盤清空與整機清空是不同條件；必須連手臂與夾爪都退出牆面包絡。路線來自對稱雙側把手假設與名目模型，不是實際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Isaac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影片，也不是最新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φ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＋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度換抓參考。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圖表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/32_coopen_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內側把手串接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名目閉迴路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俯視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.png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/coopen_inner_wgmpc_v2_summary.json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52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這頁用來回答為什麼影片上流程結束，卻不說任務可靠成功。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bench_6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線上狀態機走完，但逐物理步獨立重算發現兩類違規。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29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個物理步低承載，最長八步是兩指交替，不是某一指連續八步，也不能直接說成滑脫。停止十秒窗內有兩個超標樣本；已記錄的時序支持取樣差異，但監督器當時窗口未完整保存，不能宣稱原因完全確認。正式判定不改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來源：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/bench_6_door_coopen_check_core12.json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資料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/door_coopen_core_bench_6_reconcile.json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第七次進度報告素材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規格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/COOPEN_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核心段接觸模擬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成果與限制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.md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437D63-8F7B-44D7-8A82-ECEE6DE0EE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F7C654-8542-410E-877A-A95A31BA91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6A52547-5D25-485F-B6CC-9A8A5CB7867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hyperlink" Target="file:///home/howardchen/masterthesis/&#31532;&#19971;&#27425;&#36914;&#24230;&#22577;&#21578;&#32032;&#26448;/&#24433;&#29255;/door_wide_w1f_60_3_&#22823;&#35282;&#24230;&#21332;&#21516;&#38283;&#38272;60&#24230;&#32000;&#37636;&#20462;&#27491;&#39511;&#35657;_&#38283;&#33267;&#32004;60&#24230;&#20006;&#23436;&#25104;&#21463;&#25511;&#26283;&#20572;_&#25104;&#21151;_&#20596;&#35222;_&#23526;&#37636;&#37325;&#25773;.mp4" TargetMode="External"/><Relationship Id="rId4" Type="http://schemas.openxmlformats.org/officeDocument/2006/relationships/hyperlink" Target="file:///home/howardchen/masterthesis/&#31532;&#19971;&#27425;&#36914;&#24230;&#22577;&#21578;&#32032;&#26448;/&#24433;&#29255;/door_wide_w1f_60_3_&#22823;&#35282;&#24230;&#21332;&#21516;&#38283;&#38272;60&#24230;&#32000;&#37636;&#20462;&#27491;&#39511;&#35657;_&#38283;&#33267;&#32004;60&#24230;&#20006;&#23436;&#25104;&#21463;&#25511;&#26283;&#20572;_&#25104;&#21151;_&#36817;&#26223;_&#23526;&#37636;&#37325;&#25773;.mp4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hyperlink" Target="file:///home/howardchen/masterthesis/&#31532;&#19971;&#27425;&#36914;&#24230;&#22577;&#21578;&#32032;&#26448;/&#24433;&#29255;/door_coopen_core_bench_6_&#32350;&#32227;&#25345;&#25569;&#37002;&#38283;&#38272;&#37002;&#24448;&#20986;&#21475;&#32350;_&#32879;&#21512;&#37197;&#32622;&#38283;&#33267;&#32004;48&#24230;&#20006;&#36208;&#23436;&#26283;&#20572;&#33287;&#20572;&#27490;&#35264;&#23519;_&#21028;&#23450;&#22120;&#19981;&#36890;&#36942;_&#22833;&#25943;_&#20596;&#35222;_&#23526;&#37636;&#37325;&#25773;.mp4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第七次進度報告 </a:t>
            </a: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/ DRAFT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450000" y="410400"/>
            <a:ext cx="11268000" cy="10998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動態環境下移動機械臂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預測導航與受約束操作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15" name=""/>
          <p:cNvSpPr/>
          <p:nvPr/>
        </p:nvSpPr>
        <p:spPr>
          <a:xfrm>
            <a:off x="450000" y="1440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86000" y="1800000"/>
            <a:ext cx="10800000" cy="531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500" spc="-1" strike="noStrike">
                <a:solidFill>
                  <a:srgbClr val="2f75b5"/>
                </a:solidFill>
                <a:latin typeface="Noto Sans CJK TC"/>
              </a:rPr>
              <a:t>從抽屜操作走向開門、換抓與通過中關門</a:t>
            </a:r>
            <a:endParaRPr b="1" lang="en-US" sz="25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86000" y="2520000"/>
            <a:ext cx="10440000" cy="82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2000" spc="-1" strike="noStrike">
                <a:solidFill>
                  <a:srgbClr val="666666"/>
                </a:solidFill>
                <a:latin typeface="Noto Sans CJK TC"/>
              </a:rPr>
              <a:t>Predictive Navigation and Constrained Manipulation</a:t>
            </a:r>
            <a:endParaRPr b="0" lang="en-US" sz="20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  <a:p>
            <a:r>
              <a:rPr b="0" lang="en-US" sz="2000" spc="-1" strike="noStrike">
                <a:solidFill>
                  <a:srgbClr val="666666"/>
                </a:solidFill>
                <a:latin typeface="Noto Sans CJK TC"/>
              </a:rPr>
              <a:t>of Mobile Manipulators in Dynamic Environments</a:t>
            </a:r>
            <a:endParaRPr b="0" lang="en-US" sz="20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86000" y="4104000"/>
            <a:ext cx="5760000" cy="82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2000" spc="-1" strike="noStrike">
                <a:solidFill>
                  <a:srgbClr val="222222"/>
                </a:solidFill>
                <a:latin typeface="Noto Sans CJK TC"/>
              </a:rPr>
              <a:t>報告者：陳文顥</a:t>
            </a:r>
            <a:endParaRPr b="0" lang="en-US" sz="20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2000" spc="-1" strike="noStrike">
                <a:solidFill>
                  <a:srgbClr val="222222"/>
                </a:solidFill>
                <a:latin typeface="Noto Sans CJK TC"/>
              </a:rPr>
              <a:t>指導教授：陳榮順 教授</a:t>
            </a:r>
            <a:endParaRPr b="0" lang="en-US" sz="20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1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17365d"/>
                </a:solidFill>
                <a:latin typeface="Noto Sans CJK TC"/>
              </a:rPr>
              <a:t>本稿依已保存紀錄整理；完整串接與實跑進度將於正式報告前更新。</a:t>
            </a:r>
            <a:endParaRPr b="1" lang="en-US" sz="16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01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目標與進度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研究目標：導航與操作串成同一趟任務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25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2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8" name=""/>
          <p:cNvSpPr/>
          <p:nvPr/>
        </p:nvSpPr>
        <p:spPr>
          <a:xfrm>
            <a:off x="450000" y="1404000"/>
            <a:ext cx="3636000" cy="151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450000" y="1404000"/>
            <a:ext cx="46800" cy="151200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576000" y="1512000"/>
            <a:ext cx="3402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f75b5"/>
                </a:solidFill>
                <a:latin typeface="Noto Sans CJK TC"/>
              </a:rPr>
              <a:t>1  </a:t>
            </a: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起點 → 門前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576000" y="1897200"/>
            <a:ext cx="3402000" cy="954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導航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GMPC 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＋導航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CBF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2" name=""/>
          <p:cNvSpPr/>
          <p:nvPr/>
        </p:nvSpPr>
        <p:spPr>
          <a:xfrm>
            <a:off x="4266000" y="1404000"/>
            <a:ext cx="3636000" cy="151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4266000" y="1404000"/>
            <a:ext cx="46800" cy="1512000"/>
          </a:xfrm>
          <a:prstGeom prst="rect">
            <a:avLst/>
          </a:prstGeom>
          <a:solidFill>
            <a:srgbClr val="287766"/>
          </a:solidFill>
          <a:ln w="7200">
            <a:solidFill>
              <a:srgbClr val="287766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392000" y="1512000"/>
            <a:ext cx="3402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87766"/>
                </a:solidFill>
                <a:latin typeface="Noto Sans CJK TC"/>
              </a:rPr>
              <a:t>2  </a:t>
            </a:r>
            <a:r>
              <a:rPr b="1" lang="zh-CN" sz="2100" spc="-1" strike="noStrike">
                <a:solidFill>
                  <a:srgbClr val="287766"/>
                </a:solidFill>
                <a:latin typeface="Noto Sans CJK TC"/>
              </a:rPr>
              <a:t>後退拉開門</a:t>
            </a:r>
            <a:endParaRPr b="1" lang="en-US" sz="2100" spc="-1" strike="noStrike">
              <a:solidFill>
                <a:srgbClr val="287766"/>
              </a:solidFill>
              <a:latin typeface="Noto Sans CJK TC"/>
              <a:ea typeface="Noto Sans CJK TC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4392000" y="1897200"/>
            <a:ext cx="3402000" cy="954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底盤與手臂協同控制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6" name=""/>
          <p:cNvSpPr/>
          <p:nvPr/>
        </p:nvSpPr>
        <p:spPr>
          <a:xfrm>
            <a:off x="8082000" y="1404000"/>
            <a:ext cx="3636000" cy="151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8082000" y="1404000"/>
            <a:ext cx="46800" cy="1512000"/>
          </a:xfrm>
          <a:prstGeom prst="rect">
            <a:avLst/>
          </a:prstGeom>
          <a:solidFill>
            <a:srgbClr val="ed7d31"/>
          </a:solidFill>
          <a:ln w="7200">
            <a:solidFill>
              <a:srgbClr val="ed7d31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8208000" y="1512000"/>
            <a:ext cx="3402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ed7d31"/>
                </a:solidFill>
                <a:latin typeface="Noto Sans CJK TC"/>
              </a:rPr>
              <a:t>3  </a:t>
            </a:r>
            <a:r>
              <a:rPr b="1" lang="zh-CN" sz="2100" spc="-1" strike="noStrike">
                <a:solidFill>
                  <a:srgbClr val="ed7d31"/>
                </a:solidFill>
                <a:latin typeface="Noto Sans CJK TC"/>
              </a:rPr>
              <a:t>通過途中關門</a:t>
            </a:r>
            <a:endParaRPr b="1" lang="en-US" sz="21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8208000" y="1897200"/>
            <a:ext cx="3402000" cy="954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解除外側 → 換抓內側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40" name=""/>
          <p:cNvSpPr/>
          <p:nvPr/>
        </p:nvSpPr>
        <p:spPr>
          <a:xfrm>
            <a:off x="450000" y="3330000"/>
            <a:ext cx="3636000" cy="151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450000" y="3330000"/>
            <a:ext cx="46800" cy="151200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576000" y="3438000"/>
            <a:ext cx="3402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f75b5"/>
                </a:solidFill>
                <a:latin typeface="Noto Sans CJK TC"/>
              </a:rPr>
              <a:t>4  </a:t>
            </a: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抵達櫃體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6000" y="3823200"/>
            <a:ext cx="3402000" cy="954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導航與操作控制交接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44" name=""/>
          <p:cNvSpPr/>
          <p:nvPr/>
        </p:nvSpPr>
        <p:spPr>
          <a:xfrm>
            <a:off x="4266000" y="3330000"/>
            <a:ext cx="3636000" cy="151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4266000" y="3330000"/>
            <a:ext cx="46800" cy="151200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392000" y="3438000"/>
            <a:ext cx="3402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f75b5"/>
                </a:solidFill>
                <a:latin typeface="Noto Sans CJK TC"/>
              </a:rPr>
              <a:t>5  </a:t>
            </a: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開櫃 → 關櫃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392000" y="3823200"/>
            <a:ext cx="3402000" cy="954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承接前期抽屜操作能力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48" name=""/>
          <p:cNvSpPr/>
          <p:nvPr/>
        </p:nvSpPr>
        <p:spPr>
          <a:xfrm>
            <a:off x="8082000" y="3330000"/>
            <a:ext cx="3636000" cy="151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8082000" y="3330000"/>
            <a:ext cx="46800" cy="1512000"/>
          </a:xfrm>
          <a:prstGeom prst="rect">
            <a:avLst/>
          </a:prstGeom>
          <a:solidFill>
            <a:srgbClr val="ed7d31"/>
          </a:solidFill>
          <a:ln w="7200">
            <a:solidFill>
              <a:srgbClr val="ed7d31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8208000" y="3438000"/>
            <a:ext cx="3402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ed7d31"/>
                </a:solidFill>
                <a:latin typeface="Noto Sans CJK TC"/>
              </a:rPr>
              <a:t>6  </a:t>
            </a:r>
            <a:r>
              <a:rPr b="1" lang="zh-CN" sz="2100" spc="-1" strike="noStrike">
                <a:solidFill>
                  <a:srgbClr val="ed7d31"/>
                </a:solidFill>
                <a:latin typeface="Noto Sans CJK TC"/>
              </a:rPr>
              <a:t>返回起點</a:t>
            </a:r>
            <a:endParaRPr b="1" lang="en-US" sz="21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8208000" y="3823200"/>
            <a:ext cx="3402000" cy="954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同一趟連續紀錄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52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以上是目標流程；尚未完成同一趟的開門、通行、抽屜操作與往返。</a:t>
            </a:r>
            <a:endParaRPr b="1" lang="en-US" sz="16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01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目標與進度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本期進展：從直線抽屜，擴展到旋轉門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56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3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59" name=""/>
          <p:cNvSpPr/>
          <p:nvPr/>
        </p:nvSpPr>
        <p:spPr>
          <a:xfrm>
            <a:off x="450000" y="1404000"/>
            <a:ext cx="3240000" cy="792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22000" y="1486800"/>
            <a:ext cx="309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工作項目</a:t>
            </a:r>
            <a:endParaRPr b="1" lang="en-US" sz="16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61" name=""/>
          <p:cNvSpPr/>
          <p:nvPr/>
        </p:nvSpPr>
        <p:spPr>
          <a:xfrm>
            <a:off x="3690000" y="1404000"/>
            <a:ext cx="4032000" cy="792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762000" y="1486800"/>
            <a:ext cx="388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本期已有證據</a:t>
            </a:r>
            <a:endParaRPr b="1" lang="en-US" sz="16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63" name=""/>
          <p:cNvSpPr/>
          <p:nvPr/>
        </p:nvSpPr>
        <p:spPr>
          <a:xfrm>
            <a:off x="7722000" y="1404000"/>
            <a:ext cx="3996000" cy="792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794000" y="1486800"/>
            <a:ext cx="3852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證據界線</a:t>
            </a:r>
            <a:endParaRPr b="1" lang="en-US" sz="16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65" name=""/>
          <p:cNvSpPr/>
          <p:nvPr/>
        </p:nvSpPr>
        <p:spPr>
          <a:xfrm>
            <a:off x="450000" y="2196000"/>
            <a:ext cx="3240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22000" y="2278800"/>
            <a:ext cx="309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前期：抽屜開關與返回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67" name=""/>
          <p:cNvSpPr/>
          <p:nvPr/>
        </p:nvSpPr>
        <p:spPr>
          <a:xfrm>
            <a:off x="3690000" y="2196000"/>
            <a:ext cx="4032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762000" y="2278800"/>
            <a:ext cx="388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W-GMPC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與完整抽屜流程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69" name=""/>
          <p:cNvSpPr/>
          <p:nvPr/>
        </p:nvSpPr>
        <p:spPr>
          <a:xfrm>
            <a:off x="7722000" y="2196000"/>
            <a:ext cx="3996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794000" y="2278800"/>
            <a:ext cx="3852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既有成果，不重複算本期新增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71" name=""/>
          <p:cNvSpPr/>
          <p:nvPr/>
        </p:nvSpPr>
        <p:spPr>
          <a:xfrm>
            <a:off x="450000" y="2988000"/>
            <a:ext cx="3240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22000" y="3070800"/>
            <a:ext cx="309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拉門開啟與暫停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73" name=""/>
          <p:cNvSpPr/>
          <p:nvPr/>
        </p:nvSpPr>
        <p:spPr>
          <a:xfrm>
            <a:off x="3690000" y="2988000"/>
            <a:ext cx="4032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762000" y="3070800"/>
            <a:ext cx="388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約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60°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，單趟判定通過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75" name=""/>
          <p:cNvSpPr/>
          <p:nvPr/>
        </p:nvSpPr>
        <p:spPr>
          <a:xfrm>
            <a:off x="7722000" y="2988000"/>
            <a:ext cx="3996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794000" y="3070800"/>
            <a:ext cx="3852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非穿門；主動保持條件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77" name=""/>
          <p:cNvSpPr/>
          <p:nvPr/>
        </p:nvSpPr>
        <p:spPr>
          <a:xfrm>
            <a:off x="450000" y="3780000"/>
            <a:ext cx="3240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522000" y="3862800"/>
            <a:ext cx="309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開門同期底盤繞行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79" name=""/>
          <p:cNvSpPr/>
          <p:nvPr/>
        </p:nvSpPr>
        <p:spPr>
          <a:xfrm>
            <a:off x="3690000" y="3780000"/>
            <a:ext cx="4032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762000" y="3862800"/>
            <a:ext cx="388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約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47.74°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，接觸模擬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81" name=""/>
          <p:cNvSpPr/>
          <p:nvPr/>
        </p:nvSpPr>
        <p:spPr>
          <a:xfrm>
            <a:off x="7722000" y="3780000"/>
            <a:ext cx="3996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7794000" y="3862800"/>
            <a:ext cx="3852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整體判定未通過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83" name=""/>
          <p:cNvSpPr/>
          <p:nvPr/>
        </p:nvSpPr>
        <p:spPr>
          <a:xfrm>
            <a:off x="450000" y="4572000"/>
            <a:ext cx="3240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22000" y="4654800"/>
            <a:ext cx="309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換抓、通過中拉關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85" name=""/>
          <p:cNvSpPr/>
          <p:nvPr/>
        </p:nvSpPr>
        <p:spPr>
          <a:xfrm>
            <a:off x="3690000" y="4572000"/>
            <a:ext cx="4032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762000" y="4654800"/>
            <a:ext cx="388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名目模型推得門角至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2.20°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87" name=""/>
          <p:cNvSpPr/>
          <p:nvPr/>
        </p:nvSpPr>
        <p:spPr>
          <a:xfrm>
            <a:off x="7722000" y="4572000"/>
            <a:ext cx="3996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794000" y="4654800"/>
            <a:ext cx="3852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離線；尚非物理接觸成果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89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17365d"/>
                </a:solidFill>
                <a:latin typeface="Noto Sans CJK TC"/>
              </a:rPr>
              <a:t>本期研究問題：旋轉機構與接觸切換下，全身預測控制如何持續執行任務？</a:t>
            </a:r>
            <a:endParaRPr b="1" lang="en-US" sz="16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02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方法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控制方法：參考、全身預測與接觸保護分工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93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4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96" name=""/>
          <p:cNvSpPr/>
          <p:nvPr/>
        </p:nvSpPr>
        <p:spPr>
          <a:xfrm>
            <a:off x="450000" y="1512000"/>
            <a:ext cx="3276000" cy="16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450000" y="1512000"/>
            <a:ext cx="46800" cy="169200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76000" y="1620000"/>
            <a:ext cx="3042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任務與參考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76000" y="2005200"/>
            <a:ext cx="3042000" cy="1134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門鉸鏈／把手座標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TCP 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目標＋底盤引導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依任務相位切換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816000" y="2016000"/>
            <a:ext cx="396000" cy="662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→</a:t>
            </a:r>
            <a:endParaRPr b="1" lang="en-US" sz="32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01" name=""/>
          <p:cNvSpPr/>
          <p:nvPr/>
        </p:nvSpPr>
        <p:spPr>
          <a:xfrm>
            <a:off x="4320000" y="1512000"/>
            <a:ext cx="3780000" cy="16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4320000" y="1512000"/>
            <a:ext cx="46800" cy="169200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446000" y="1620000"/>
            <a:ext cx="354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f75b5"/>
                </a:solidFill>
                <a:latin typeface="Noto Sans CJK TC"/>
              </a:rPr>
              <a:t>W-GMPC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446000" y="2005200"/>
            <a:ext cx="3546000" cy="1134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底盤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3 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＋手臂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6 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聯合解算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設定點增廣模型＋延遲補償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速度／加速度／關節限制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8172000" y="2016000"/>
            <a:ext cx="396000" cy="662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→</a:t>
            </a:r>
            <a:endParaRPr b="1" lang="en-US" sz="32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06" name=""/>
          <p:cNvSpPr/>
          <p:nvPr/>
        </p:nvSpPr>
        <p:spPr>
          <a:xfrm>
            <a:off x="8676000" y="1512000"/>
            <a:ext cx="3060000" cy="16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676000" y="1512000"/>
            <a:ext cx="46800" cy="169200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802000" y="1620000"/>
            <a:ext cx="282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執行與回授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802000" y="2005200"/>
            <a:ext cx="2826000" cy="1134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命令來源核對與模式權威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逐步套用、實測狀態回授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設定點與偏移估計承接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10" name=""/>
          <p:cNvSpPr/>
          <p:nvPr/>
        </p:nvSpPr>
        <p:spPr>
          <a:xfrm>
            <a:off x="450000" y="3636000"/>
            <a:ext cx="11268000" cy="1404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594000" y="3744000"/>
            <a:ext cx="10440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ed7d31"/>
                </a:solidFill>
                <a:latin typeface="Noto Sans CJK TC"/>
              </a:rPr>
              <a:t>幾何／接觸保護（獨立於主要任務追蹤）</a:t>
            </a:r>
            <a:endParaRPr b="1" lang="en-US" sz="21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94000" y="4212000"/>
            <a:ext cx="10440000" cy="734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800" spc="-1" strike="noStrike">
                <a:solidFill>
                  <a:srgbClr val="222222"/>
                </a:solidFill>
                <a:latin typeface="Noto Sans CJK TC"/>
              </a:rPr>
              <a:t>淨空預測、指定接觸、資料新鮮度、持握漂移與失接觸</a:t>
            </a:r>
            <a:endParaRPr b="0" lang="en-US" sz="18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800" spc="-1" strike="noStrike">
                <a:solidFill>
                  <a:srgbClr val="222222"/>
                </a:solidFill>
                <a:latin typeface="Noto Sans CJK TC"/>
              </a:rPr>
              <a:t>違規時拒絕模式提交或閂鎖中止；不等同全身 </a:t>
            </a:r>
            <a:r>
              <a:rPr b="0" lang="en-US" sz="1800" spc="-1" strike="noStrike">
                <a:solidFill>
                  <a:srgbClr val="222222"/>
                </a:solidFill>
                <a:latin typeface="Noto Sans CJK TC"/>
              </a:rPr>
              <a:t>CBF </a:t>
            </a:r>
            <a:r>
              <a:rPr b="0" lang="zh-CN" sz="1800" spc="-1" strike="noStrike">
                <a:solidFill>
                  <a:srgbClr val="222222"/>
                </a:solidFill>
                <a:latin typeface="Noto Sans CJK TC"/>
              </a:rPr>
              <a:t>安全保證</a:t>
            </a:r>
            <a:endParaRPr b="0" lang="en-US" sz="18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13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600" spc="-1" strike="noStrike">
                <a:solidFill>
                  <a:srgbClr val="17365d"/>
                </a:solidFill>
                <a:latin typeface="Noto Sans CJK TC"/>
              </a:rPr>
              <a:t>GMPC </a:t>
            </a:r>
            <a:r>
              <a:rPr b="1" lang="zh-CN" sz="1600" spc="-1" strike="noStrike">
                <a:solidFill>
                  <a:srgbClr val="17365d"/>
                </a:solidFill>
                <a:latin typeface="Noto Sans CJK TC"/>
              </a:rPr>
              <a:t>算的是回授控制命令；</a:t>
            </a:r>
            <a:r>
              <a:rPr b="1" lang="en-US" sz="1600" spc="-1" strike="noStrike">
                <a:solidFill>
                  <a:srgbClr val="17365d"/>
                </a:solidFill>
                <a:latin typeface="Noto Sans CJK TC"/>
              </a:rPr>
              <a:t>IK</a:t>
            </a:r>
            <a:r>
              <a:rPr b="1" lang="zh-CN" sz="1600" spc="-1" strike="noStrike">
                <a:solidFill>
                  <a:srgbClr val="17365d"/>
                </a:solidFill>
                <a:latin typeface="Noto Sans CJK TC"/>
              </a:rPr>
              <a:t>／路徑搜尋只提供可行參考，不代替控制器。</a:t>
            </a:r>
            <a:endParaRPr b="1" lang="en-US" sz="16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02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方法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模型修正：開門時更新偏移，暫停時凍結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117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5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04000" y="1296000"/>
            <a:ext cx="10440000" cy="49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300" spc="-1" strike="noStrike">
                <a:solidFill>
                  <a:srgbClr val="17365d"/>
                </a:solidFill>
                <a:latin typeface="Noto Sans CJK TC"/>
              </a:rPr>
              <a:t>手臂逐物理步模型</a:t>
            </a:r>
            <a:endParaRPr b="1" lang="en-US" sz="23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84000" y="1818000"/>
            <a:ext cx="10512000" cy="540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500" spc="-1" strike="noStrike">
                <a:solidFill>
                  <a:srgbClr val="2f75b5"/>
                </a:solidFill>
                <a:latin typeface="Noto Sans CJK TC"/>
              </a:rPr>
              <a:t>qₐ,k+1 = qₐ,k + α ⊙ (sₖ − qₐ,k) + α ⊙ d̂ₖ</a:t>
            </a:r>
            <a:endParaRPr b="1" lang="en-US" sz="25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84000" y="2484000"/>
            <a:ext cx="10512000" cy="3866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700" spc="-1" strike="noStrike">
                <a:solidFill>
                  <a:srgbClr val="666666"/>
                </a:solidFill>
                <a:latin typeface="Noto Sans CJK TC"/>
              </a:rPr>
              <a:t>sₖ</a:t>
            </a:r>
            <a:r>
              <a:rPr b="0" lang="zh-CN" sz="1700" spc="-1" strike="noStrike">
                <a:solidFill>
                  <a:srgbClr val="666666"/>
                </a:solidFill>
                <a:latin typeface="Noto Sans CJK TC"/>
              </a:rPr>
              <a:t>：位置設定點　　</a:t>
            </a:r>
            <a:r>
              <a:rPr b="0" lang="en-US" sz="1700" spc="-1" strike="noStrike">
                <a:solidFill>
                  <a:srgbClr val="666666"/>
                </a:solidFill>
                <a:latin typeface="Noto Sans CJK TC"/>
              </a:rPr>
              <a:t>α</a:t>
            </a:r>
            <a:r>
              <a:rPr b="0" lang="zh-CN" sz="1700" spc="-1" strike="noStrike">
                <a:solidFill>
                  <a:srgbClr val="666666"/>
                </a:solidFill>
                <a:latin typeface="Noto Sans CJK TC"/>
              </a:rPr>
              <a:t>：辨識追蹤係數　　</a:t>
            </a:r>
            <a:r>
              <a:rPr b="0" lang="en-US" sz="1700" spc="-1" strike="noStrike">
                <a:solidFill>
                  <a:srgbClr val="666666"/>
                </a:solidFill>
                <a:latin typeface="Noto Sans CJK TC"/>
              </a:rPr>
              <a:t>d̂ₖ</a:t>
            </a:r>
            <a:r>
              <a:rPr b="0" lang="zh-CN" sz="1700" spc="-1" strike="noStrike">
                <a:solidFill>
                  <a:srgbClr val="666666"/>
                </a:solidFill>
                <a:latin typeface="Noto Sans CJK TC"/>
              </a:rPr>
              <a:t>：區間偏移估計</a:t>
            </a:r>
            <a:endParaRPr b="0" lang="en-US" sz="17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23" name=""/>
          <p:cNvSpPr/>
          <p:nvPr/>
        </p:nvSpPr>
        <p:spPr>
          <a:xfrm>
            <a:off x="504000" y="3240000"/>
            <a:ext cx="5364000" cy="1440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504000" y="3240000"/>
            <a:ext cx="46800" cy="144000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30000" y="3348000"/>
            <a:ext cx="5130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開門／收斂期間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30000" y="3733200"/>
            <a:ext cx="5130000" cy="882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有效實測區間更新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d̂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延遲預推與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QP 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使用同一偏移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27" name=""/>
          <p:cNvSpPr/>
          <p:nvPr/>
        </p:nvSpPr>
        <p:spPr>
          <a:xfrm>
            <a:off x="6192000" y="3240000"/>
            <a:ext cx="5364000" cy="1440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6192000" y="3240000"/>
            <a:ext cx="46800" cy="1440000"/>
          </a:xfrm>
          <a:prstGeom prst="rect">
            <a:avLst/>
          </a:prstGeom>
          <a:solidFill>
            <a:srgbClr val="ed7d31"/>
          </a:solidFill>
          <a:ln w="7200">
            <a:solidFill>
              <a:srgbClr val="ed7d31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318000" y="3348000"/>
            <a:ext cx="5130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ed7d31"/>
                </a:solidFill>
                <a:latin typeface="Noto Sans CJK TC"/>
              </a:rPr>
              <a:t>暫停生效後</a:t>
            </a:r>
            <a:endParaRPr b="1" lang="en-US" sz="21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318000" y="3733200"/>
            <a:ext cx="5130000" cy="882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凍結估計，不繼續學習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停止／失效處置仍優先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540000" y="5040000"/>
            <a:ext cx="10800000" cy="4762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200" spc="-1" strike="noStrike">
                <a:solidFill>
                  <a:srgbClr val="287766"/>
                </a:solidFill>
                <a:latin typeface="Noto Sans CJK TC"/>
              </a:rPr>
              <a:t>因果影子重播：鉛直一區間殘差 </a:t>
            </a:r>
            <a:r>
              <a:rPr b="1" lang="en-US" sz="2200" spc="-1" strike="noStrike">
                <a:solidFill>
                  <a:srgbClr val="287766"/>
                </a:solidFill>
                <a:latin typeface="Noto Sans CJK TC"/>
              </a:rPr>
              <a:t>RMS  0.776 → 0.045 mm</a:t>
            </a:r>
            <a:endParaRPr b="1" lang="en-US" sz="2200" spc="-1" strike="noStrike">
              <a:solidFill>
                <a:srgbClr val="287766"/>
              </a:solidFill>
              <a:latin typeface="Noto Sans CJK TC"/>
              <a:ea typeface="Noto Sans CJK TC"/>
            </a:endParaRPr>
          </a:p>
        </p:txBody>
      </p:sp>
      <p:sp>
        <p:nvSpPr>
          <p:cNvPr id="132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影子重播是預測核對，非閉迴路與接觸穩定證明；負載學入風險尚未排除。</a:t>
            </a:r>
            <a:endParaRPr b="1" lang="en-US" sz="16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03 / Isaac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接觸模擬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成果一：</a:t>
            </a:r>
            <a:r>
              <a:rPr b="1" lang="en-US" sz="2800" spc="-1" strike="noStrike">
                <a:solidFill>
                  <a:srgbClr val="17365d"/>
                </a:solidFill>
                <a:latin typeface="Noto Sans CJK TC"/>
              </a:rPr>
              <a:t>60° </a:t>
            </a: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開門與受控暫停，單趟通過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136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6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849960" y="1242000"/>
            <a:ext cx="6399720" cy="3600000"/>
          </a:xfrm>
          <a:prstGeom prst="rect">
            <a:avLst/>
          </a:prstGeom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2"/>
          <a:stretch/>
        </p:blipFill>
        <p:spPr>
          <a:xfrm>
            <a:off x="7884000" y="1320480"/>
            <a:ext cx="3816000" cy="214632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 txBox="1"/>
          <p:nvPr/>
        </p:nvSpPr>
        <p:spPr>
          <a:xfrm>
            <a:off x="7848000" y="3888000"/>
            <a:ext cx="3888000" cy="662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1" lang="en-US" sz="3200" spc="-1" strike="noStrike">
                <a:solidFill>
                  <a:srgbClr val="287766"/>
                </a:solidFill>
                <a:latin typeface="Noto Sans CJK TC"/>
              </a:rPr>
              <a:t>60.005°</a:t>
            </a:r>
            <a:endParaRPr b="1" lang="en-US" sz="3200" spc="-1" strike="noStrike">
              <a:solidFill>
                <a:srgbClr val="287766"/>
              </a:solidFill>
              <a:latin typeface="Noto Sans CJK TC"/>
              <a:ea typeface="Noto Sans CJK TC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848000" y="4392000"/>
            <a:ext cx="3888000" cy="57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進入暫停時的實測門角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40000" y="5040000"/>
            <a:ext cx="10440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287766"/>
                </a:solidFill>
                <a:latin typeface="Noto Sans CJK TC"/>
              </a:rPr>
              <a:t>事前判定器通過｜主動保持停止觀察 </a:t>
            </a:r>
            <a:r>
              <a:rPr b="1" lang="en-US" sz="2100" spc="-1" strike="noStrike">
                <a:solidFill>
                  <a:srgbClr val="287766"/>
                </a:solidFill>
                <a:latin typeface="Noto Sans CJK TC"/>
              </a:rPr>
              <a:t>10.06 s</a:t>
            </a:r>
            <a:endParaRPr b="1" lang="en-US" sz="2100" spc="-1" strike="noStrike">
              <a:solidFill>
                <a:srgbClr val="287766"/>
              </a:solidFill>
              <a:latin typeface="Noto Sans CJK TC"/>
              <a:ea typeface="Noto Sans CJK TC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504000" y="5544000"/>
            <a:ext cx="7380000" cy="3315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  <a:hlinkClick r:id="rId3"/>
              </a:rPr>
              <a:t>播放：側視實錄重播（需保持素材路徑）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8316000" y="5544000"/>
            <a:ext cx="3060000" cy="3315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  <a:hlinkClick r:id="rId4"/>
              </a:rPr>
              <a:t>近景重播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666666"/>
                </a:solidFill>
                <a:latin typeface="Noto Sans CJK TC"/>
              </a:rPr>
              <a:t>單趟、已知場景；非穿門成果。暫停期手指上限 </a:t>
            </a:r>
            <a:r>
              <a:rPr b="1" lang="en-US" sz="1600" spc="-1" strike="noStrike">
                <a:solidFill>
                  <a:srgbClr val="666666"/>
                </a:solidFill>
                <a:latin typeface="Noto Sans CJK TC"/>
              </a:rPr>
              <a:t>20 N</a:t>
            </a:r>
            <a:r>
              <a:rPr b="1" lang="zh-CN" sz="1600" spc="-1" strike="noStrike">
                <a:solidFill>
                  <a:srgbClr val="666666"/>
                </a:solidFill>
                <a:latin typeface="Noto Sans CJK TC"/>
              </a:rPr>
              <a:t>；不代表撤除保持後仍停住。</a:t>
            </a:r>
            <a:endParaRPr b="1" lang="en-US" sz="16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03 / Isaac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接觸模擬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成果二：持握開門時，底盤同步往出口繞行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150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7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799920" y="1260000"/>
            <a:ext cx="7039800" cy="3960000"/>
          </a:xfrm>
          <a:prstGeom prst="rect">
            <a:avLst/>
          </a:prstGeom>
          <a:ln w="0">
            <a:noFill/>
          </a:ln>
        </p:spPr>
      </p:pic>
      <p:sp>
        <p:nvSpPr>
          <p:cNvPr id="154" name=""/>
          <p:cNvSpPr txBox="1"/>
          <p:nvPr/>
        </p:nvSpPr>
        <p:spPr>
          <a:xfrm>
            <a:off x="8280000" y="1332000"/>
            <a:ext cx="3348000" cy="662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47.74°</a:t>
            </a:r>
            <a:endParaRPr b="1" lang="en-US" sz="32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8280000" y="1836000"/>
            <a:ext cx="3348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OPEN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實測最大門角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pPr algn="r"/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參考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48°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8280000" y="2952000"/>
            <a:ext cx="3348000" cy="662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0.176 m</a:t>
            </a:r>
            <a:endParaRPr b="1" lang="en-US" sz="32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8280000" y="3456000"/>
            <a:ext cx="3348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出口距離指標下降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pPr algn="r"/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不是已穿越距離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504000" y="5256000"/>
            <a:ext cx="10440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800" spc="-1" strike="noStrike">
                <a:solidFill>
                  <a:srgbClr val="666666"/>
                </a:solidFill>
                <a:latin typeface="Noto Sans CJK TC"/>
              </a:rPr>
              <a:t>指定初態＋實際閉爪取證；非自主接近</a:t>
            </a:r>
            <a:endParaRPr b="0" lang="en-US" sz="18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04000" y="5580000"/>
            <a:ext cx="10440000" cy="3315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  <a:hlinkClick r:id="rId2"/>
              </a:rPr>
              <a:t>播放：側視實錄重播（整體判定未通過）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cf1ed"/>
          </a:solidFill>
          <a:ln w="7200">
            <a:solidFill>
              <a:srgbClr val="fcf1ed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ac3c36"/>
                </a:solidFill>
                <a:latin typeface="Noto Sans CJK TC"/>
              </a:rPr>
              <a:t>整體判定未通過：</a:t>
            </a:r>
            <a:r>
              <a:rPr b="1" lang="en-US" sz="1600" spc="-1" strike="noStrike">
                <a:solidFill>
                  <a:srgbClr val="ac3c36"/>
                </a:solidFill>
                <a:latin typeface="Noto Sans CJK TC"/>
              </a:rPr>
              <a:t>29 </a:t>
            </a:r>
            <a:r>
              <a:rPr b="1" lang="zh-CN" sz="1600" spc="-1" strike="noStrike">
                <a:solidFill>
                  <a:srgbClr val="ac3c36"/>
                </a:solidFill>
                <a:latin typeface="Noto Sans CJK TC"/>
              </a:rPr>
              <a:t>個低承載物理步、停止十秒窗內 </a:t>
            </a:r>
            <a:r>
              <a:rPr b="1" lang="en-US" sz="1600" spc="-1" strike="noStrike">
                <a:solidFill>
                  <a:srgbClr val="ac3c36"/>
                </a:solidFill>
                <a:latin typeface="Noto Sans CJK TC"/>
              </a:rPr>
              <a:t>2 </a:t>
            </a:r>
            <a:r>
              <a:rPr b="1" lang="zh-CN" sz="1600" spc="-1" strike="noStrike">
                <a:solidFill>
                  <a:srgbClr val="ac3c36"/>
                </a:solidFill>
                <a:latin typeface="Noto Sans CJK TC"/>
              </a:rPr>
              <a:t>個手臂超標樣本。</a:t>
            </a:r>
            <a:endParaRPr b="1" lang="en-US" sz="1600" spc="-1" strike="noStrike">
              <a:solidFill>
                <a:srgbClr val="ac3c36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03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模型修正的實測證據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實測比較：共同門角區間的持握漂移較小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164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8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1045800" y="1296000"/>
            <a:ext cx="10076040" cy="3708000"/>
          </a:xfrm>
          <a:prstGeom prst="rect">
            <a:avLst/>
          </a:prstGeom>
          <a:ln w="0">
            <a:noFill/>
          </a:ln>
        </p:spPr>
      </p:pic>
      <p:sp>
        <p:nvSpPr>
          <p:cNvPr id="168" name=""/>
          <p:cNvSpPr txBox="1"/>
          <p:nvPr/>
        </p:nvSpPr>
        <p:spPr>
          <a:xfrm>
            <a:off x="540000" y="5040000"/>
            <a:ext cx="10800000" cy="49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300" spc="-1" strike="noStrike">
                <a:solidFill>
                  <a:srgbClr val="2f75b5"/>
                </a:solidFill>
                <a:latin typeface="Noto Sans CJK TC"/>
              </a:rPr>
              <a:t>40–43.7° </a:t>
            </a:r>
            <a:r>
              <a:rPr b="1" lang="zh-CN" sz="2300" spc="-1" strike="noStrike">
                <a:solidFill>
                  <a:srgbClr val="2f75b5"/>
                </a:solidFill>
                <a:latin typeface="Noto Sans CJK TC"/>
              </a:rPr>
              <a:t>平均漂移：</a:t>
            </a:r>
            <a:r>
              <a:rPr b="1" lang="en-US" sz="2300" spc="-1" strike="noStrike">
                <a:solidFill>
                  <a:srgbClr val="2f75b5"/>
                </a:solidFill>
                <a:latin typeface="Noto Sans CJK TC"/>
              </a:rPr>
              <a:t>4.48 → 1.33</a:t>
            </a:r>
            <a:r>
              <a:rPr b="1" lang="zh-CN" sz="2300" spc="-1" strike="noStrike">
                <a:solidFill>
                  <a:srgbClr val="2f75b5"/>
                </a:solidFill>
                <a:latin typeface="Noto Sans CJK TC"/>
              </a:rPr>
              <a:t>／</a:t>
            </a:r>
            <a:r>
              <a:rPr b="1" lang="en-US" sz="2300" spc="-1" strike="noStrike">
                <a:solidFill>
                  <a:srgbClr val="2f75b5"/>
                </a:solidFill>
                <a:latin typeface="Noto Sans CJK TC"/>
              </a:rPr>
              <a:t>1.32</a:t>
            </a:r>
            <a:r>
              <a:rPr b="1" lang="zh-CN" sz="2300" spc="-1" strike="noStrike">
                <a:solidFill>
                  <a:srgbClr val="2f75b5"/>
                </a:solidFill>
                <a:latin typeface="Noto Sans CJK TC"/>
              </a:rPr>
              <a:t>／</a:t>
            </a:r>
            <a:r>
              <a:rPr b="1" lang="en-US" sz="2300" spc="-1" strike="noStrike">
                <a:solidFill>
                  <a:srgbClr val="2f75b5"/>
                </a:solidFill>
                <a:latin typeface="Noto Sans CJK TC"/>
              </a:rPr>
              <a:t>1.35 mm</a:t>
            </a:r>
            <a:endParaRPr b="1" lang="en-US" sz="23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69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描述性重現，非嚴格單變因因果；末段最大 </a:t>
            </a:r>
            <a:r>
              <a:rPr b="1" lang="en-US" sz="1600" spc="-1" strike="noStrike">
                <a:solidFill>
                  <a:srgbClr val="ed7d31"/>
                </a:solidFill>
                <a:latin typeface="Noto Sans CJK TC"/>
              </a:rPr>
              <a:t>4.82 mm</a:t>
            </a: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，可靠性仍未通過。</a:t>
            </a:r>
            <a:endParaRPr b="1" lang="en-US" sz="16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04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通行與換抓方法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通過中關門：由外側把手切換到內側把手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173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9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176" name=""/>
          <p:cNvSpPr/>
          <p:nvPr/>
        </p:nvSpPr>
        <p:spPr>
          <a:xfrm>
            <a:off x="450000" y="1512000"/>
            <a:ext cx="2124000" cy="1944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450000" y="1512000"/>
            <a:ext cx="46800" cy="194400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576000" y="1620000"/>
            <a:ext cx="1890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f75b5"/>
                </a:solidFill>
                <a:latin typeface="Noto Sans CJK TC"/>
              </a:rPr>
              <a:t>1  </a:t>
            </a: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外側開門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76000" y="2005200"/>
            <a:ext cx="1890000" cy="138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先拉開門並受控保持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2574000" y="2196000"/>
            <a:ext cx="162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800" spc="-1" strike="noStrike">
                <a:solidFill>
                  <a:srgbClr val="2f75b5"/>
                </a:solidFill>
                <a:latin typeface="Noto Sans CJK TC"/>
              </a:rPr>
              <a:t>→</a:t>
            </a:r>
            <a:endParaRPr b="1" lang="en-US" sz="18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81" name=""/>
          <p:cNvSpPr/>
          <p:nvPr/>
        </p:nvSpPr>
        <p:spPr>
          <a:xfrm>
            <a:off x="2736000" y="1512000"/>
            <a:ext cx="2124000" cy="1944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2736000" y="1512000"/>
            <a:ext cx="46800" cy="194400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2862000" y="1620000"/>
            <a:ext cx="1890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f75b5"/>
                </a:solidFill>
                <a:latin typeface="Noto Sans CJK TC"/>
              </a:rPr>
              <a:t>2  </a:t>
            </a: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解除與退開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2862000" y="2005200"/>
            <a:ext cx="1890000" cy="138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張爪，離開外側橫桿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4860000" y="2196000"/>
            <a:ext cx="162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800" spc="-1" strike="noStrike">
                <a:solidFill>
                  <a:srgbClr val="2f75b5"/>
                </a:solidFill>
                <a:latin typeface="Noto Sans CJK TC"/>
              </a:rPr>
              <a:t>→</a:t>
            </a:r>
            <a:endParaRPr b="1" lang="en-US" sz="18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86" name=""/>
          <p:cNvSpPr/>
          <p:nvPr/>
        </p:nvSpPr>
        <p:spPr>
          <a:xfrm>
            <a:off x="5022000" y="1512000"/>
            <a:ext cx="2124000" cy="1944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5022000" y="1512000"/>
            <a:ext cx="46800" cy="1944000"/>
          </a:xfrm>
          <a:prstGeom prst="rect">
            <a:avLst/>
          </a:prstGeom>
          <a:solidFill>
            <a:srgbClr val="2f75b5"/>
          </a:solidFill>
          <a:ln w="7200">
            <a:solidFill>
              <a:srgbClr val="2f75b5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5148000" y="1620000"/>
            <a:ext cx="1890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2f75b5"/>
                </a:solidFill>
                <a:latin typeface="Noto Sans CJK TC"/>
              </a:rPr>
              <a:t>3  </a:t>
            </a:r>
            <a:r>
              <a:rPr b="1" lang="zh-CN" sz="2100" spc="-1" strike="noStrike">
                <a:solidFill>
                  <a:srgbClr val="2f75b5"/>
                </a:solidFill>
                <a:latin typeface="Noto Sans CJK TC"/>
              </a:rPr>
              <a:t>移到門洞</a:t>
            </a:r>
            <a:endParaRPr b="1" lang="en-US" sz="2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148000" y="2005200"/>
            <a:ext cx="1890000" cy="138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底盤與手臂共同退臂／移動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146000" y="2196000"/>
            <a:ext cx="162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800" spc="-1" strike="noStrike">
                <a:solidFill>
                  <a:srgbClr val="2f75b5"/>
                </a:solidFill>
                <a:latin typeface="Noto Sans CJK TC"/>
              </a:rPr>
              <a:t>→</a:t>
            </a:r>
            <a:endParaRPr b="1" lang="en-US" sz="18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91" name=""/>
          <p:cNvSpPr/>
          <p:nvPr/>
        </p:nvSpPr>
        <p:spPr>
          <a:xfrm>
            <a:off x="7308000" y="1512000"/>
            <a:ext cx="2124000" cy="1944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7308000" y="1512000"/>
            <a:ext cx="46800" cy="1944000"/>
          </a:xfrm>
          <a:prstGeom prst="rect">
            <a:avLst/>
          </a:prstGeom>
          <a:solidFill>
            <a:srgbClr val="ed7d31"/>
          </a:solidFill>
          <a:ln w="7200">
            <a:solidFill>
              <a:srgbClr val="ed7d31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7434000" y="1620000"/>
            <a:ext cx="1890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ed7d31"/>
                </a:solidFill>
                <a:latin typeface="Noto Sans CJK TC"/>
              </a:rPr>
              <a:t>4  </a:t>
            </a:r>
            <a:r>
              <a:rPr b="1" lang="zh-CN" sz="2100" spc="-1" strike="noStrike">
                <a:solidFill>
                  <a:srgbClr val="ed7d31"/>
                </a:solidFill>
                <a:latin typeface="Noto Sans CJK TC"/>
              </a:rPr>
              <a:t>抓內側把手</a:t>
            </a:r>
            <a:endParaRPr b="1" lang="en-US" sz="21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7434000" y="2005200"/>
            <a:ext cx="1890000" cy="138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到位准入後才閉爪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9432000" y="2196000"/>
            <a:ext cx="162000" cy="403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800" spc="-1" strike="noStrike">
                <a:solidFill>
                  <a:srgbClr val="2f75b5"/>
                </a:solidFill>
                <a:latin typeface="Noto Sans CJK TC"/>
              </a:rPr>
              <a:t>→</a:t>
            </a:r>
            <a:endParaRPr b="1" lang="en-US" sz="18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196" name=""/>
          <p:cNvSpPr/>
          <p:nvPr/>
        </p:nvSpPr>
        <p:spPr>
          <a:xfrm>
            <a:off x="9594000" y="1512000"/>
            <a:ext cx="2124000" cy="1944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9594000" y="1512000"/>
            <a:ext cx="46800" cy="1944000"/>
          </a:xfrm>
          <a:prstGeom prst="rect">
            <a:avLst/>
          </a:prstGeom>
          <a:solidFill>
            <a:srgbClr val="ed7d31"/>
          </a:solidFill>
          <a:ln w="7200">
            <a:solidFill>
              <a:srgbClr val="ed7d31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9720000" y="1620000"/>
            <a:ext cx="1890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2100" spc="-1" strike="noStrike">
                <a:solidFill>
                  <a:srgbClr val="ed7d31"/>
                </a:solidFill>
                <a:latin typeface="Noto Sans CJK TC"/>
              </a:rPr>
              <a:t>5  </a:t>
            </a:r>
            <a:r>
              <a:rPr b="1" lang="zh-CN" sz="2100" spc="-1" strike="noStrike">
                <a:solidFill>
                  <a:srgbClr val="ed7d31"/>
                </a:solidFill>
                <a:latin typeface="Noto Sans CJK TC"/>
              </a:rPr>
              <a:t>通過中拉關</a:t>
            </a:r>
            <a:endParaRPr b="1" lang="en-US" sz="21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9720000" y="2005200"/>
            <a:ext cx="1890000" cy="1386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整機清空前已有關門進展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522000" y="3888000"/>
            <a:ext cx="10440000" cy="49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300" spc="-1" strike="noStrike">
                <a:solidFill>
                  <a:srgbClr val="17365d"/>
                </a:solidFill>
                <a:latin typeface="Noto Sans CJK TC"/>
              </a:rPr>
              <a:t>換抓交接的三個必要條件</a:t>
            </a:r>
            <a:endParaRPr b="1" lang="en-US" sz="23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522000" y="4392000"/>
            <a:ext cx="10440000" cy="7707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900" spc="-1" strike="noStrike">
                <a:solidFill>
                  <a:srgbClr val="222222"/>
                </a:solidFill>
                <a:latin typeface="Noto Sans CJK TC"/>
              </a:rPr>
              <a:t>① </a:t>
            </a:r>
            <a:r>
              <a:rPr b="0" lang="zh-CN" sz="1900" spc="-1" strike="noStrike">
                <a:solidFill>
                  <a:srgbClr val="222222"/>
                </a:solidFill>
                <a:latin typeface="Noto Sans CJK TC"/>
              </a:rPr>
              <a:t>前段已確認停止　② 新模式有有效接觸／幾何證據</a:t>
            </a:r>
            <a:endParaRPr b="0" lang="en-US" sz="19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en-US" sz="1900" spc="-1" strike="noStrike">
                <a:solidFill>
                  <a:srgbClr val="222222"/>
                </a:solidFill>
                <a:latin typeface="Noto Sans CJK TC"/>
              </a:rPr>
              <a:t>③ </a:t>
            </a:r>
            <a:r>
              <a:rPr b="0" lang="zh-CN" sz="1900" spc="-1" strike="noStrike">
                <a:solidFill>
                  <a:srgbClr val="222222"/>
                </a:solidFill>
                <a:latin typeface="Noto Sans CJK TC"/>
              </a:rPr>
              <a:t>設定點、偏移估計與命令來源持續承接，不重新初始化</a:t>
            </a:r>
            <a:endParaRPr b="0" lang="en-US" sz="19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02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雙面把手為明示假設；新換抓與通過中關門尚未完成 </a:t>
            </a:r>
            <a:r>
              <a:rPr b="1" lang="en-US" sz="1600" spc="-1" strike="noStrike">
                <a:solidFill>
                  <a:srgbClr val="ed7d31"/>
                </a:solidFill>
                <a:latin typeface="Noto Sans CJK TC"/>
              </a:rPr>
              <a:t>Isaac </a:t>
            </a: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接觸實跑。</a:t>
            </a:r>
            <a:endParaRPr b="1" lang="en-US" sz="16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04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離線模型・不是接觸實跑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離線名目結果：通過途中已有約 </a:t>
            </a:r>
            <a:r>
              <a:rPr b="1" lang="en-US" sz="2800" spc="-1" strike="noStrike">
                <a:solidFill>
                  <a:srgbClr val="17365d"/>
                </a:solidFill>
                <a:latin typeface="Noto Sans CJK TC"/>
              </a:rPr>
              <a:t>45.7° </a:t>
            </a: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關門進展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206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10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450000" y="1628280"/>
            <a:ext cx="7560000" cy="2934720"/>
          </a:xfrm>
          <a:prstGeom prst="rect">
            <a:avLst/>
          </a:prstGeom>
          <a:ln w="0">
            <a:noFill/>
          </a:ln>
        </p:spPr>
      </p:pic>
      <p:sp>
        <p:nvSpPr>
          <p:cNvPr id="210" name=""/>
          <p:cNvSpPr txBox="1"/>
          <p:nvPr/>
        </p:nvSpPr>
        <p:spPr>
          <a:xfrm>
            <a:off x="8136000" y="1332000"/>
            <a:ext cx="3600000" cy="662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47.89° → 2.20°</a:t>
            </a:r>
            <a:endParaRPr b="1" lang="en-US" sz="32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8136000" y="1836000"/>
            <a:ext cx="3600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模型推得門角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pPr algn="r"/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不是門關節實測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8136000" y="3024000"/>
            <a:ext cx="3600000" cy="662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45.7°</a:t>
            </a:r>
            <a:endParaRPr b="1" lang="en-US" sz="32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8136000" y="3528000"/>
            <a:ext cx="3600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底盤圓盤清空前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pPr algn="r"/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已發生的關門進展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504000" y="5184000"/>
            <a:ext cx="10800000" cy="432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900" spc="-1" strike="noStrike">
                <a:solidFill>
                  <a:srgbClr val="2f75b5"/>
                </a:solidFill>
                <a:latin typeface="Noto Sans CJK TC"/>
              </a:rPr>
              <a:t>20 Hz </a:t>
            </a:r>
            <a:r>
              <a:rPr b="1" lang="zh-CN" sz="1900" spc="-1" strike="noStrike">
                <a:solidFill>
                  <a:srgbClr val="2f75b5"/>
                </a:solidFill>
                <a:latin typeface="Noto Sans CJK TC"/>
              </a:rPr>
              <a:t>取樣自檢無所列違規；自由段 </a:t>
            </a:r>
            <a:r>
              <a:rPr b="1" lang="en-US" sz="1900" spc="-1" strike="noStrike">
                <a:solidFill>
                  <a:srgbClr val="2f75b5"/>
                </a:solidFill>
                <a:latin typeface="Noto Sans CJK TC"/>
              </a:rPr>
              <a:t>TCP </a:t>
            </a:r>
            <a:r>
              <a:rPr b="1" lang="zh-CN" sz="1900" spc="-1" strike="noStrike">
                <a:solidFill>
                  <a:srgbClr val="2f75b5"/>
                </a:solidFill>
                <a:latin typeface="Noto Sans CJK TC"/>
              </a:rPr>
              <a:t>最大落後 </a:t>
            </a:r>
            <a:r>
              <a:rPr b="1" lang="en-US" sz="1900" spc="-1" strike="noStrike">
                <a:solidFill>
                  <a:srgbClr val="2f75b5"/>
                </a:solidFill>
                <a:latin typeface="Noto Sans CJK TC"/>
              </a:rPr>
              <a:t>120 mm</a:t>
            </a:r>
            <a:r>
              <a:rPr b="1" lang="zh-CN" sz="1900" spc="-1" strike="noStrike">
                <a:solidFill>
                  <a:srgbClr val="2f75b5"/>
                </a:solidFill>
                <a:latin typeface="Noto Sans CJK TC"/>
              </a:rPr>
              <a:t>。</a:t>
            </a:r>
            <a:endParaRPr b="1" lang="en-US" sz="19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15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理想名目初始化、無接觸力／門動力學／</a:t>
            </a:r>
            <a:r>
              <a:rPr b="1" lang="en-US" sz="1600" spc="-1" strike="noStrike">
                <a:solidFill>
                  <a:srgbClr val="ed7d31"/>
                </a:solidFill>
                <a:latin typeface="Noto Sans CJK TC"/>
              </a:rPr>
              <a:t>E2</a:t>
            </a: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；未驗最後 </a:t>
            </a:r>
            <a:r>
              <a:rPr b="1" lang="en-US" sz="1600" spc="-1" strike="noStrike">
                <a:solidFill>
                  <a:srgbClr val="ed7d31"/>
                </a:solidFill>
                <a:latin typeface="Noto Sans CJK TC"/>
              </a:rPr>
              <a:t>2.2°→0°</a:t>
            </a: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，不是完整通行實證。</a:t>
            </a:r>
            <a:endParaRPr b="1" lang="en-US" sz="16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04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最新換抓模型與待驗項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目前整合：真控制器承接實錄末態，完成換抓名目追蹤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219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11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22" name=""/>
          <p:cNvSpPr/>
          <p:nvPr/>
        </p:nvSpPr>
        <p:spPr>
          <a:xfrm>
            <a:off x="450000" y="1404000"/>
            <a:ext cx="3060000" cy="792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522000" y="1486800"/>
            <a:ext cx="291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驗證層級</a:t>
            </a:r>
            <a:endParaRPr b="1" lang="en-US" sz="16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224" name=""/>
          <p:cNvSpPr/>
          <p:nvPr/>
        </p:nvSpPr>
        <p:spPr>
          <a:xfrm>
            <a:off x="3510000" y="1404000"/>
            <a:ext cx="4176000" cy="792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3582000" y="1486800"/>
            <a:ext cx="4032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目前結果</a:t>
            </a:r>
            <a:endParaRPr b="1" lang="en-US" sz="16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226" name=""/>
          <p:cNvSpPr/>
          <p:nvPr/>
        </p:nvSpPr>
        <p:spPr>
          <a:xfrm>
            <a:off x="7686000" y="1404000"/>
            <a:ext cx="4032000" cy="792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758000" y="1486800"/>
            <a:ext cx="388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還缺什麼</a:t>
            </a:r>
            <a:endParaRPr b="1" lang="en-US" sz="16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228" name=""/>
          <p:cNvSpPr/>
          <p:nvPr/>
        </p:nvSpPr>
        <p:spPr>
          <a:xfrm>
            <a:off x="450000" y="2196000"/>
            <a:ext cx="3060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522000" y="2278800"/>
            <a:ext cx="291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新抓法與時間表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30" name=""/>
          <p:cNvSpPr/>
          <p:nvPr/>
        </p:nvSpPr>
        <p:spPr>
          <a:xfrm>
            <a:off x="3510000" y="2196000"/>
            <a:ext cx="4176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3582000" y="2278800"/>
            <a:ext cx="4032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φ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＋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30°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、三個門角參考核對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32" name=""/>
          <p:cNvSpPr/>
          <p:nvPr/>
        </p:nvSpPr>
        <p:spPr>
          <a:xfrm>
            <a:off x="7686000" y="2196000"/>
            <a:ext cx="4032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758000" y="2278800"/>
            <a:ext cx="388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有限取樣，不是連續安全證明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34" name=""/>
          <p:cNvSpPr/>
          <p:nvPr/>
        </p:nvSpPr>
        <p:spPr>
          <a:xfrm>
            <a:off x="450000" y="2988000"/>
            <a:ext cx="3060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522000" y="3070800"/>
            <a:ext cx="291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真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W-GMPC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名目追蹤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36" name=""/>
          <p:cNvSpPr/>
          <p:nvPr/>
        </p:nvSpPr>
        <p:spPr>
          <a:xfrm>
            <a:off x="3510000" y="2988000"/>
            <a:ext cx="4176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3582000" y="3070800"/>
            <a:ext cx="4032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走到內側保持；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stop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／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warn 0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38" name=""/>
          <p:cNvSpPr/>
          <p:nvPr/>
        </p:nvSpPr>
        <p:spPr>
          <a:xfrm>
            <a:off x="7686000" y="2988000"/>
            <a:ext cx="4032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7758000" y="3070800"/>
            <a:ext cx="388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無接觸力；部分關節飽和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40" name=""/>
          <p:cNvSpPr/>
          <p:nvPr/>
        </p:nvSpPr>
        <p:spPr>
          <a:xfrm>
            <a:off x="450000" y="3780000"/>
            <a:ext cx="3060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522000" y="3862800"/>
            <a:ext cx="291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ROS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與模式權威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42" name=""/>
          <p:cNvSpPr/>
          <p:nvPr/>
        </p:nvSpPr>
        <p:spPr>
          <a:xfrm>
            <a:off x="3510000" y="3780000"/>
            <a:ext cx="4176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3582000" y="3862800"/>
            <a:ext cx="4032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完整啟動與換抓聯測進行中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44" name=""/>
          <p:cNvSpPr/>
          <p:nvPr/>
        </p:nvSpPr>
        <p:spPr>
          <a:xfrm>
            <a:off x="7686000" y="3780000"/>
            <a:ext cx="4032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7758000" y="3862800"/>
            <a:ext cx="388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不得提前提交／放手／結束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46" name=""/>
          <p:cNvSpPr/>
          <p:nvPr/>
        </p:nvSpPr>
        <p:spPr>
          <a:xfrm>
            <a:off x="450000" y="4572000"/>
            <a:ext cx="3060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522000" y="4654800"/>
            <a:ext cx="2916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下一個實跑里程碑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48" name=""/>
          <p:cNvSpPr/>
          <p:nvPr/>
        </p:nvSpPr>
        <p:spPr>
          <a:xfrm>
            <a:off x="3510000" y="4572000"/>
            <a:ext cx="4176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3582000" y="4654800"/>
            <a:ext cx="4032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同趟：開門 → 解除 → 內側換抓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50" name=""/>
          <p:cNvSpPr/>
          <p:nvPr/>
        </p:nvSpPr>
        <p:spPr>
          <a:xfrm>
            <a:off x="7686000" y="4572000"/>
            <a:ext cx="4032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758000" y="4654800"/>
            <a:ext cx="388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實際閉爪、連續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2 s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保持取證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52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僅名目：收臂 </a:t>
            </a:r>
            <a:r>
              <a:rPr b="1" lang="en-US" sz="1600" spc="-1" strike="noStrike">
                <a:solidFill>
                  <a:srgbClr val="ed7d31"/>
                </a:solidFill>
                <a:latin typeface="Noto Sans CJK TC"/>
              </a:rPr>
              <a:t>TCP </a:t>
            </a: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落後達 </a:t>
            </a:r>
            <a:r>
              <a:rPr b="1" lang="en-US" sz="1600" spc="-1" strike="noStrike">
                <a:solidFill>
                  <a:srgbClr val="ed7d31"/>
                </a:solidFill>
                <a:latin typeface="Noto Sans CJK TC"/>
              </a:rPr>
              <a:t>120 mm</a:t>
            </a: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；</a:t>
            </a:r>
            <a:r>
              <a:rPr b="1" lang="en-US" sz="1600" spc="-1" strike="noStrike">
                <a:solidFill>
                  <a:srgbClr val="ed7d31"/>
                </a:solidFill>
                <a:latin typeface="Noto Sans CJK TC"/>
              </a:rPr>
              <a:t>0.29 s </a:t>
            </a: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壓力核對未過。新換抓不含拉關。</a:t>
            </a:r>
            <a:endParaRPr b="1" lang="en-US" sz="16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05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結論與後續工作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結論與下一步：先接成一趟，再完成往返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256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12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59" name=""/>
          <p:cNvSpPr/>
          <p:nvPr/>
        </p:nvSpPr>
        <p:spPr>
          <a:xfrm>
            <a:off x="450000" y="1368000"/>
            <a:ext cx="5400000" cy="2016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450000" y="1368000"/>
            <a:ext cx="46800" cy="2016000"/>
          </a:xfrm>
          <a:prstGeom prst="rect">
            <a:avLst/>
          </a:prstGeom>
          <a:solidFill>
            <a:srgbClr val="287766"/>
          </a:solidFill>
          <a:ln w="7200">
            <a:solidFill>
              <a:srgbClr val="287766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576000" y="1476000"/>
            <a:ext cx="516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287766"/>
                </a:solidFill>
                <a:latin typeface="Noto Sans CJK TC"/>
              </a:rPr>
              <a:t>已取得</a:t>
            </a:r>
            <a:endParaRPr b="1" lang="en-US" sz="2100" spc="-1" strike="noStrike">
              <a:solidFill>
                <a:srgbClr val="287766"/>
              </a:solidFill>
              <a:latin typeface="Noto Sans CJK TC"/>
              <a:ea typeface="Noto Sans CJK TC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576000" y="1861200"/>
            <a:ext cx="5166000" cy="145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60° 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開門單趟通過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約 </a:t>
            </a:r>
            <a:r>
              <a:rPr b="0" lang="en-US" sz="1700" spc="-1" strike="noStrike">
                <a:solidFill>
                  <a:srgbClr val="222222"/>
                </a:solidFill>
                <a:latin typeface="Noto Sans CJK TC"/>
              </a:rPr>
              <a:t>48° </a:t>
            </a:r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繞行開門接觸證據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換抓／拉關離線名目結果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63" name=""/>
          <p:cNvSpPr/>
          <p:nvPr/>
        </p:nvSpPr>
        <p:spPr>
          <a:xfrm>
            <a:off x="6228000" y="1368000"/>
            <a:ext cx="5400000" cy="2016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6228000" y="1368000"/>
            <a:ext cx="46800" cy="2016000"/>
          </a:xfrm>
          <a:prstGeom prst="rect">
            <a:avLst/>
          </a:prstGeom>
          <a:solidFill>
            <a:srgbClr val="ed7d31"/>
          </a:solidFill>
          <a:ln w="7200">
            <a:solidFill>
              <a:srgbClr val="ed7d31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6354000" y="1476000"/>
            <a:ext cx="5166000" cy="4579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100" spc="-1" strike="noStrike">
                <a:solidFill>
                  <a:srgbClr val="ed7d31"/>
                </a:solidFill>
                <a:latin typeface="Noto Sans CJK TC"/>
              </a:rPr>
              <a:t>尚未取得</a:t>
            </a:r>
            <a:endParaRPr b="1" lang="en-US" sz="21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354000" y="1861200"/>
            <a:ext cx="5166000" cy="145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同趟自主開門與內側換抓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物理通行、關門與退出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700" spc="-1" strike="noStrike">
                <a:solidFill>
                  <a:srgbClr val="222222"/>
                </a:solidFill>
                <a:latin typeface="Noto Sans CJK TC"/>
              </a:rPr>
              <a:t>導航＋抽屜＋返回完整串接</a:t>
            </a:r>
            <a:endParaRPr b="0" lang="en-US" sz="17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522000" y="3780000"/>
            <a:ext cx="10440000" cy="514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400" spc="-1" strike="noStrike">
                <a:solidFill>
                  <a:srgbClr val="17365d"/>
                </a:solidFill>
                <a:latin typeface="Noto Sans CJK TC"/>
              </a:rPr>
              <a:t>接下來的交付順序</a:t>
            </a:r>
            <a:endParaRPr b="1" lang="en-US" sz="24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522000" y="4284000"/>
            <a:ext cx="10800000" cy="1224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2000" spc="-1" strike="noStrike">
                <a:solidFill>
                  <a:srgbClr val="222222"/>
                </a:solidFill>
                <a:latin typeface="Noto Sans CJK TC"/>
              </a:rPr>
              <a:t>1  </a:t>
            </a:r>
            <a:r>
              <a:rPr b="0" lang="zh-CN" sz="2000" spc="-1" strike="noStrike">
                <a:solidFill>
                  <a:srgbClr val="222222"/>
                </a:solidFill>
                <a:latin typeface="Noto Sans CJK TC"/>
              </a:rPr>
              <a:t>同趟開門 → 內側換抓接觸驗證＋影片</a:t>
            </a:r>
            <a:endParaRPr b="0" lang="en-US" sz="20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en-US" sz="2000" spc="-1" strike="noStrike">
                <a:solidFill>
                  <a:srgbClr val="222222"/>
                </a:solidFill>
                <a:latin typeface="Noto Sans CJK TC"/>
              </a:rPr>
              <a:t>2  </a:t>
            </a:r>
            <a:r>
              <a:rPr b="0" lang="zh-CN" sz="2000" spc="-1" strike="noStrike">
                <a:solidFill>
                  <a:srgbClr val="222222"/>
                </a:solidFill>
                <a:latin typeface="Noto Sans CJK TC"/>
              </a:rPr>
              <a:t>通過中拉關 → 放手退出 → 控制交還導航</a:t>
            </a:r>
            <a:endParaRPr b="0" lang="en-US" sz="20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en-US" sz="2000" spc="-1" strike="noStrike">
                <a:solidFill>
                  <a:srgbClr val="222222"/>
                </a:solidFill>
                <a:latin typeface="Noto Sans CJK TC"/>
              </a:rPr>
              <a:t>3  </a:t>
            </a:r>
            <a:r>
              <a:rPr b="0" lang="zh-CN" sz="2000" spc="-1" strike="noStrike">
                <a:solidFill>
                  <a:srgbClr val="222222"/>
                </a:solidFill>
                <a:latin typeface="Noto Sans CJK TC"/>
              </a:rPr>
              <a:t>導航 </a:t>
            </a:r>
            <a:r>
              <a:rPr b="0" lang="en-US" sz="2000" spc="-1" strike="noStrike">
                <a:solidFill>
                  <a:srgbClr val="222222"/>
                </a:solidFill>
                <a:latin typeface="Noto Sans CJK TC"/>
              </a:rPr>
              <a:t>GMPC</a:t>
            </a:r>
            <a:r>
              <a:rPr b="0" lang="zh-CN" sz="2000" spc="-1" strike="noStrike">
                <a:solidFill>
                  <a:srgbClr val="222222"/>
                </a:solidFill>
                <a:latin typeface="Noto Sans CJK TC"/>
              </a:rPr>
              <a:t>＋導航 </a:t>
            </a:r>
            <a:r>
              <a:rPr b="0" lang="en-US" sz="2000" spc="-1" strike="noStrike">
                <a:solidFill>
                  <a:srgbClr val="222222"/>
                </a:solidFill>
                <a:latin typeface="Noto Sans CJK TC"/>
              </a:rPr>
              <a:t>CBF → </a:t>
            </a:r>
            <a:r>
              <a:rPr b="0" lang="zh-CN" sz="2000" spc="-1" strike="noStrike">
                <a:solidFill>
                  <a:srgbClr val="222222"/>
                </a:solidFill>
                <a:latin typeface="Noto Sans CJK TC"/>
              </a:rPr>
              <a:t>開關抽屜 → 返回起點</a:t>
            </a:r>
            <a:endParaRPr b="0" lang="en-US" sz="20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69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17365d"/>
                </a:solidFill>
                <a:latin typeface="Noto Sans CJK TC"/>
              </a:rPr>
              <a:t>目標是完整流程；正式成果只報已實際取得的層級，不把子段或不同趟拼成成功。</a:t>
            </a:r>
            <a:endParaRPr b="1" lang="en-US" sz="16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附錄 </a:t>
            </a: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A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本期其他進展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備用：視覺預抓取已接入，但不能直接放行閉爪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273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13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pic>
        <p:nvPicPr>
          <p:cNvPr id="276" name="" descr=""/>
          <p:cNvPicPr/>
          <p:nvPr/>
        </p:nvPicPr>
        <p:blipFill>
          <a:blip r:embed="rId1"/>
          <a:stretch/>
        </p:blipFill>
        <p:spPr>
          <a:xfrm>
            <a:off x="450000" y="1609560"/>
            <a:ext cx="7200000" cy="3260520"/>
          </a:xfrm>
          <a:prstGeom prst="rect">
            <a:avLst/>
          </a:prstGeom>
          <a:ln w="0">
            <a:noFill/>
          </a:ln>
        </p:spPr>
      </p:pic>
      <p:sp>
        <p:nvSpPr>
          <p:cNvPr id="277" name=""/>
          <p:cNvSpPr txBox="1"/>
          <p:nvPr/>
        </p:nvSpPr>
        <p:spPr>
          <a:xfrm>
            <a:off x="7920000" y="1404000"/>
            <a:ext cx="3600000" cy="662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1.83 mm</a:t>
            </a:r>
            <a:endParaRPr b="1" lang="en-US" sz="32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7920000" y="1908000"/>
            <a:ext cx="3600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相對視覺鎖定目標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pPr algn="r"/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預抓取到位誤差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7920000" y="3168000"/>
            <a:ext cx="3600000" cy="662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1" lang="en-US" sz="3200" spc="-1" strike="noStrike">
                <a:solidFill>
                  <a:srgbClr val="2f75b5"/>
                </a:solidFill>
                <a:latin typeface="Noto Sans CJK TC"/>
              </a:rPr>
              <a:t>1.36 → 0.97 mm</a:t>
            </a:r>
            <a:endParaRPr b="1" lang="en-US" sz="32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7920000" y="3672000"/>
            <a:ext cx="3600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r"/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82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格共同工具目標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pPr algn="r"/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接近軸絕對誤差中位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281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僅預抓取；未閉爪／操作。候選像素契約離線改善，不等於已有抓取誤差保證。</a:t>
            </a:r>
            <a:endParaRPr b="1" lang="en-US" sz="16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附錄 </a:t>
            </a: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B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離線名目模型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備用：通過中拉關的空間路線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285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14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pic>
        <p:nvPicPr>
          <p:cNvPr id="288" name="" descr=""/>
          <p:cNvPicPr/>
          <p:nvPr/>
        </p:nvPicPr>
        <p:blipFill>
          <a:blip r:embed="rId1"/>
          <a:stretch/>
        </p:blipFill>
        <p:spPr>
          <a:xfrm>
            <a:off x="3721320" y="1152000"/>
            <a:ext cx="4725000" cy="4500000"/>
          </a:xfrm>
          <a:prstGeom prst="rect">
            <a:avLst/>
          </a:prstGeom>
          <a:ln w="0">
            <a:noFill/>
          </a:ln>
        </p:spPr>
      </p:pic>
      <p:sp>
        <p:nvSpPr>
          <p:cNvPr id="289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舊版完整拉關模型：非 </a:t>
            </a:r>
            <a:r>
              <a:rPr b="1" lang="en-US" sz="1600" spc="-1" strike="noStrike">
                <a:solidFill>
                  <a:srgbClr val="ed7d31"/>
                </a:solidFill>
                <a:latin typeface="Noto Sans CJK TC"/>
              </a:rPr>
              <a:t>Isaac</a:t>
            </a:r>
            <a:r>
              <a:rPr b="1" lang="zh-CN" sz="1600" spc="-1" strike="noStrike">
                <a:solidFill>
                  <a:srgbClr val="ed7d31"/>
                </a:solidFill>
                <a:latin typeface="Noto Sans CJK TC"/>
              </a:rPr>
              <a:t>；非最新換抓參考。底盤過牆不等於整機清空。</a:t>
            </a:r>
            <a:endParaRPr b="1" lang="en-US" sz="1600" spc="-1" strike="noStrike">
              <a:solidFill>
                <a:srgbClr val="ed7d31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 txBox="1"/>
          <p:nvPr/>
        </p:nvSpPr>
        <p:spPr>
          <a:xfrm>
            <a:off x="450000" y="169200"/>
            <a:ext cx="1008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附錄 </a:t>
            </a:r>
            <a:r>
              <a:rPr b="1" lang="en-US" sz="1100" spc="-1" strike="noStrike">
                <a:solidFill>
                  <a:srgbClr val="2f75b5"/>
                </a:solidFill>
                <a:latin typeface="Noto Sans CJK TC"/>
              </a:rPr>
              <a:t>C / </a:t>
            </a:r>
            <a:r>
              <a:rPr b="1" lang="zh-CN" sz="1100" spc="-1" strike="noStrike">
                <a:solidFill>
                  <a:srgbClr val="2f75b5"/>
                </a:solidFill>
                <a:latin typeface="Noto Sans CJK TC"/>
              </a:rPr>
              <a:t>判定與證據界線</a:t>
            </a:r>
            <a:endParaRPr b="1" lang="en-US" sz="1100" spc="-1" strike="noStrike">
              <a:solidFill>
                <a:srgbClr val="2f75b5"/>
              </a:solidFill>
              <a:latin typeface="Noto Sans CJK TC"/>
              <a:ea typeface="Noto Sans CJK TC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450000" y="410400"/>
            <a:ext cx="11268000" cy="5860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備用：為什麼流程 </a:t>
            </a:r>
            <a:r>
              <a:rPr b="1" lang="en-US" sz="2800" spc="-1" strike="noStrike">
                <a:solidFill>
                  <a:srgbClr val="17365d"/>
                </a:solidFill>
                <a:latin typeface="Noto Sans CJK TC"/>
              </a:rPr>
              <a:t>DONE</a:t>
            </a:r>
            <a:r>
              <a:rPr b="1" lang="zh-CN" sz="2800" spc="-1" strike="noStrike">
                <a:solidFill>
                  <a:srgbClr val="17365d"/>
                </a:solidFill>
                <a:latin typeface="Noto Sans CJK TC"/>
              </a:rPr>
              <a:t>，仍可能判定不通過？</a:t>
            </a:r>
            <a:endParaRPr b="1" lang="en-US" sz="28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  <p:sp>
        <p:nvSpPr>
          <p:cNvPr id="293" name=""/>
          <p:cNvSpPr/>
          <p:nvPr/>
        </p:nvSpPr>
        <p:spPr>
          <a:xfrm>
            <a:off x="450000" y="1008000"/>
            <a:ext cx="11292120" cy="0"/>
          </a:xfrm>
          <a:prstGeom prst="line">
            <a:avLst/>
          </a:prstGeom>
          <a:ln w="108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-50400" bIns="-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450000" y="6480000"/>
            <a:ext cx="10440000" cy="238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第七次進度報告｜工作稿 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v1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｜</a:t>
            </a:r>
            <a:r>
              <a:rPr b="0" lang="en-US" sz="900" spc="-1" strike="noStrike">
                <a:solidFill>
                  <a:srgbClr val="666666"/>
                </a:solidFill>
                <a:latin typeface="Noto Sans CJK TC"/>
              </a:rPr>
              <a:t>2026/10/28 </a:t>
            </a:r>
            <a:r>
              <a:rPr b="0" lang="zh-CN" sz="900" spc="-1" strike="noStrike">
                <a:solidFill>
                  <a:srgbClr val="666666"/>
                </a:solidFill>
                <a:latin typeface="Noto Sans CJK TC"/>
              </a:rPr>
              <a:t>整理・報告日期待填</a:t>
            </a:r>
            <a:endParaRPr b="0" lang="en-US" sz="9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11328120" y="6480000"/>
            <a:ext cx="360000" cy="27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pPr algn="just"/>
            <a:r>
              <a:rPr b="0" lang="en-US" sz="1100" spc="-1" strike="noStrike">
                <a:solidFill>
                  <a:srgbClr val="666666"/>
                </a:solidFill>
                <a:latin typeface="Noto Sans CJK TC"/>
              </a:rPr>
              <a:t>15</a:t>
            </a:r>
            <a:endParaRPr b="0" lang="en-US" sz="1100" spc="-1" strike="noStrike">
              <a:solidFill>
                <a:srgbClr val="666666"/>
              </a:solidFill>
              <a:latin typeface="Noto Sans CJK TC"/>
              <a:ea typeface="Noto Sans CJK TC"/>
            </a:endParaRPr>
          </a:p>
        </p:txBody>
      </p:sp>
      <p:sp>
        <p:nvSpPr>
          <p:cNvPr id="296" name=""/>
          <p:cNvSpPr/>
          <p:nvPr/>
        </p:nvSpPr>
        <p:spPr>
          <a:xfrm>
            <a:off x="450000" y="1404000"/>
            <a:ext cx="2664000" cy="792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522000" y="1486800"/>
            <a:ext cx="2520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判定項目</a:t>
            </a:r>
            <a:endParaRPr b="1" lang="en-US" sz="16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298" name=""/>
          <p:cNvSpPr/>
          <p:nvPr/>
        </p:nvSpPr>
        <p:spPr>
          <a:xfrm>
            <a:off x="3114000" y="1404000"/>
            <a:ext cx="4752000" cy="792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3186000" y="1486800"/>
            <a:ext cx="460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en-US" sz="1600" spc="-1" strike="noStrike">
                <a:solidFill>
                  <a:srgbClr val="ffffff"/>
                </a:solidFill>
                <a:latin typeface="Noto Sans CJK TC"/>
              </a:rPr>
              <a:t>bench_6 </a:t>
            </a:r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實際紀錄</a:t>
            </a:r>
            <a:endParaRPr b="1" lang="en-US" sz="16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300" name=""/>
          <p:cNvSpPr/>
          <p:nvPr/>
        </p:nvSpPr>
        <p:spPr>
          <a:xfrm>
            <a:off x="7866000" y="1404000"/>
            <a:ext cx="3852000" cy="792000"/>
          </a:xfrm>
          <a:prstGeom prst="rect">
            <a:avLst/>
          </a:prstGeom>
          <a:solidFill>
            <a:srgbClr val="17365d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7938000" y="1486800"/>
            <a:ext cx="370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TC"/>
              </a:rPr>
              <a:t>解讀</a:t>
            </a:r>
            <a:endParaRPr b="1" lang="en-US" sz="1600" spc="-1" strike="noStrike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302" name=""/>
          <p:cNvSpPr/>
          <p:nvPr/>
        </p:nvSpPr>
        <p:spPr>
          <a:xfrm>
            <a:off x="450000" y="2196000"/>
            <a:ext cx="2664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522000" y="2278800"/>
            <a:ext cx="2520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低承載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04" name=""/>
          <p:cNvSpPr/>
          <p:nvPr/>
        </p:nvSpPr>
        <p:spPr>
          <a:xfrm>
            <a:off x="3114000" y="2196000"/>
            <a:ext cx="4752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3186000" y="2278800"/>
            <a:ext cx="4608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任一指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&lt; 0.5 N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：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29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物理步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最長連續事件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8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步（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0.08 s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）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06" name=""/>
          <p:cNvSpPr/>
          <p:nvPr/>
        </p:nvSpPr>
        <p:spPr>
          <a:xfrm>
            <a:off x="7866000" y="2196000"/>
            <a:ext cx="3852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7938000" y="2278800"/>
            <a:ext cx="3708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未達線上連續失接觸期限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但不能稱夾持穩定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08" name=""/>
          <p:cNvSpPr/>
          <p:nvPr/>
        </p:nvSpPr>
        <p:spPr>
          <a:xfrm>
            <a:off x="450000" y="2988000"/>
            <a:ext cx="2664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522000" y="3070800"/>
            <a:ext cx="2520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停止觀察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10" name=""/>
          <p:cNvSpPr/>
          <p:nvPr/>
        </p:nvSpPr>
        <p:spPr>
          <a:xfrm>
            <a:off x="3114000" y="2988000"/>
            <a:ext cx="4752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3186000" y="3070800"/>
            <a:ext cx="4608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十秒窗內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2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樣本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&gt; 0.001 rad/s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最大約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0.00109 rad/s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12" name=""/>
          <p:cNvSpPr/>
          <p:nvPr/>
        </p:nvSpPr>
        <p:spPr>
          <a:xfrm>
            <a:off x="7866000" y="2988000"/>
            <a:ext cx="3852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7938000" y="3070800"/>
            <a:ext cx="3708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線上與逐步核對結果不同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不降低取樣率、不放寬門檻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14" name=""/>
          <p:cNvSpPr/>
          <p:nvPr/>
        </p:nvSpPr>
        <p:spPr>
          <a:xfrm>
            <a:off x="450000" y="3780000"/>
            <a:ext cx="2664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522000" y="3862800"/>
            <a:ext cx="2520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末段持握漂移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16" name=""/>
          <p:cNvSpPr/>
          <p:nvPr/>
        </p:nvSpPr>
        <p:spPr>
          <a:xfrm>
            <a:off x="3114000" y="3780000"/>
            <a:ext cx="4752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3186000" y="3862800"/>
            <a:ext cx="460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最大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4.82 mm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／門檻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5 mm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18" name=""/>
          <p:cNvSpPr/>
          <p:nvPr/>
        </p:nvSpPr>
        <p:spPr>
          <a:xfrm>
            <a:off x="7866000" y="3780000"/>
            <a:ext cx="3852000" cy="792000"/>
          </a:xfrm>
          <a:prstGeom prst="rect">
            <a:avLst/>
          </a:prstGeom>
          <a:solidFill>
            <a:srgbClr val="f3f7fb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7938000" y="3862800"/>
            <a:ext cx="3708000" cy="657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0.18 mm 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是名目差額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不是已證明的抗擾動餘裕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20" name=""/>
          <p:cNvSpPr/>
          <p:nvPr/>
        </p:nvSpPr>
        <p:spPr>
          <a:xfrm>
            <a:off x="450000" y="4572000"/>
            <a:ext cx="2664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522000" y="4654800"/>
            <a:ext cx="2520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整體結論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22" name=""/>
          <p:cNvSpPr/>
          <p:nvPr/>
        </p:nvSpPr>
        <p:spPr>
          <a:xfrm>
            <a:off x="3114000" y="4572000"/>
            <a:ext cx="4752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3186000" y="4654800"/>
            <a:ext cx="460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任務流程 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DONE</a:t>
            </a:r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；</a:t>
            </a:r>
            <a:r>
              <a:rPr b="0" lang="en-US" sz="1600" spc="-1" strike="noStrike">
                <a:solidFill>
                  <a:srgbClr val="222222"/>
                </a:solidFill>
                <a:latin typeface="Noto Sans CJK TC"/>
              </a:rPr>
              <a:t>chain_pass False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24" name=""/>
          <p:cNvSpPr/>
          <p:nvPr/>
        </p:nvSpPr>
        <p:spPr>
          <a:xfrm>
            <a:off x="7866000" y="4572000"/>
            <a:ext cx="3852000" cy="79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be4ee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7938000" y="4654800"/>
            <a:ext cx="3708000" cy="6480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0" lang="zh-CN" sz="1600" spc="-1" strike="noStrike">
                <a:solidFill>
                  <a:srgbClr val="222222"/>
                </a:solidFill>
                <a:latin typeface="Noto Sans CJK TC"/>
              </a:rPr>
              <a:t>保留成果，也保留未通過</a:t>
            </a:r>
            <a:endParaRPr b="0" lang="en-US" sz="1600" spc="-1" strike="noStrike">
              <a:solidFill>
                <a:srgbClr val="222222"/>
              </a:solidFill>
              <a:latin typeface="Noto Sans CJK TC"/>
              <a:ea typeface="Noto Sans CJK TC"/>
            </a:endParaRPr>
          </a:p>
        </p:txBody>
      </p:sp>
      <p:sp>
        <p:nvSpPr>
          <p:cNvPr id="326" name=""/>
          <p:cNvSpPr/>
          <p:nvPr/>
        </p:nvSpPr>
        <p:spPr>
          <a:xfrm>
            <a:off x="450000" y="5832000"/>
            <a:ext cx="11292120" cy="414000"/>
          </a:xfrm>
          <a:prstGeom prst="rect">
            <a:avLst/>
          </a:prstGeom>
          <a:solidFill>
            <a:srgbClr val="f3f7fb"/>
          </a:solidFill>
          <a:ln w="7200">
            <a:solidFill>
              <a:srgbClr val="f3f7fb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558000" y="5875200"/>
            <a:ext cx="11076120" cy="365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36000" bIns="36000" anchor="t">
            <a:noAutofit/>
          </a:bodyPr>
          <a:p>
            <a:r>
              <a:rPr b="1" lang="zh-CN" sz="1600" spc="-1" strike="noStrike">
                <a:solidFill>
                  <a:srgbClr val="17365d"/>
                </a:solidFill>
                <a:latin typeface="Noto Sans CJK TC"/>
              </a:rPr>
              <a:t>研究結果以量測與判準為準，不以影片看起來完成或狀態機 </a:t>
            </a:r>
            <a:r>
              <a:rPr b="1" lang="en-US" sz="1600" spc="-1" strike="noStrike">
                <a:solidFill>
                  <a:srgbClr val="17365d"/>
                </a:solidFill>
                <a:latin typeface="Noto Sans CJK TC"/>
              </a:rPr>
              <a:t>DONE </a:t>
            </a:r>
            <a:r>
              <a:rPr b="1" lang="zh-CN" sz="1600" spc="-1" strike="noStrike">
                <a:solidFill>
                  <a:srgbClr val="17365d"/>
                </a:solidFill>
                <a:latin typeface="Noto Sans CJK TC"/>
              </a:rPr>
              <a:t>代替。</a:t>
            </a:r>
            <a:endParaRPr b="1" lang="en-US" sz="1600" spc="-1" strike="noStrike">
              <a:solidFill>
                <a:srgbClr val="17365d"/>
              </a:solidFill>
              <a:latin typeface="Noto Sans CJK TC"/>
              <a:ea typeface="Noto Sans CJK T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2026-10-28T16:11:36Z</dcterms:created>
  <dc:creator/>
  <dc:description/>
  <dc:language>en-US</dc:language>
  <cp:lastModifiedBy/>
  <dcterms:modified xsi:type="dcterms:W3CDTF">2026-10-28T16:11:36Z</dcterms:modified>
  <cp:revision>1</cp:revision>
  <dc:subject/>
  <dc:title/>
</cp:coreProperties>
</file>