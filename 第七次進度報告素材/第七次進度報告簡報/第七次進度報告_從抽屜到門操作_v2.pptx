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0"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B0983A2-ED53-4D65-80ED-363ABB64A5E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216000" y="812520"/>
            <a:ext cx="7127280" cy="4008960"/>
          </a:xfrm>
          <a:prstGeom prst="rect">
            <a:avLst/>
          </a:prstGeom>
          <a:ln w="0">
            <a:noFill/>
          </a:ln>
        </p:spPr>
      </p:sp>
      <p:sp>
        <p:nvSpPr>
          <p:cNvPr id="382" name="PlaceHolder 2"/>
          <p:cNvSpPr>
            <a:spLocks noGrp="1"/>
          </p:cNvSpPr>
          <p:nvPr>
            <p:ph type="body"/>
          </p:nvPr>
        </p:nvSpPr>
        <p:spPr>
          <a:xfrm>
            <a:off x="756000" y="5078520"/>
            <a:ext cx="6047640" cy="490536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老師好，我是陳文顥。上次我用 </a:t>
            </a:r>
            <a:r>
              <a:rPr b="0" lang="en-US" sz="2000" spc="-1" strike="noStrike">
                <a:solidFill>
                  <a:srgbClr val="000000"/>
                </a:solidFill>
                <a:latin typeface="Arial"/>
              </a:rPr>
              <a:t>W-GMPC </a:t>
            </a:r>
            <a:r>
              <a:rPr b="0" lang="zh-CN" sz="2000" spc="-1" strike="noStrike">
                <a:solidFill>
                  <a:srgbClr val="000000"/>
                </a:solidFill>
                <a:latin typeface="Arial"/>
              </a:rPr>
              <a:t>完成抽屜開啟、關閉與返回，並做整機協調和預測步數比較。這次不是只增加一個開門展示，而是研究同一套位置伺服型全身控制，在旋轉機構、構型變化及接觸切換下，如何維持預測和實際執行的一致性。報告會先從抽屜接續，再對照相關方法，最後用目前已有數字說明改善和限制。</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第六次講稿</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第六次進度報告素材</a:t>
            </a:r>
            <a:r>
              <a:rPr b="0" lang="en-US" sz="2000" spc="-1" strike="noStrike">
                <a:solidFill>
                  <a:srgbClr val="000000"/>
                </a:solidFill>
                <a:latin typeface="Arial"/>
              </a:rPr>
              <a:t>/</a:t>
            </a:r>
            <a:r>
              <a:rPr b="0" lang="zh-CN" sz="2000" spc="-1" strike="noStrike">
                <a:solidFill>
                  <a:srgbClr val="000000"/>
                </a:solidFill>
                <a:latin typeface="Arial"/>
              </a:rPr>
              <a:t>簡報用實驗比較表</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evaluation/results/motm_speed/park_hold_formal_summary.yaml</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第七次進度報告簡報</a:t>
            </a:r>
            <a:r>
              <a:rPr b="0" lang="en-US" sz="2000" spc="-1" strike="noStrike">
                <a:solidFill>
                  <a:srgbClr val="000000"/>
                </a:solidFill>
                <a:latin typeface="Arial"/>
              </a:rPr>
              <a:t>/</a:t>
            </a:r>
            <a:r>
              <a:rPr b="0" lang="zh-CN" sz="2000" spc="-1" strike="noStrike">
                <a:solidFill>
                  <a:srgbClr val="000000"/>
                </a:solidFill>
                <a:latin typeface="Arial"/>
              </a:rPr>
              <a:t>文獻差異與改善證據</a:t>
            </a:r>
            <a:r>
              <a:rPr b="0" lang="en-US" sz="2000" spc="-1" strike="noStrike">
                <a:solidFill>
                  <a:srgbClr val="000000"/>
                </a:solidFill>
                <a:latin typeface="Arial"/>
              </a:rPr>
              <a:t>_v2.md</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216000" y="812520"/>
            <a:ext cx="7127280" cy="4008960"/>
          </a:xfrm>
          <a:prstGeom prst="rect">
            <a:avLst/>
          </a:prstGeom>
          <a:ln w="0">
            <a:noFill/>
          </a:ln>
        </p:spPr>
      </p:sp>
      <p:sp>
        <p:nvSpPr>
          <p:cNvPr id="384" name="PlaceHolder 2"/>
          <p:cNvSpPr>
            <a:spLocks noGrp="1"/>
          </p:cNvSpPr>
          <p:nvPr>
            <p:ph type="body"/>
          </p:nvPr>
        </p:nvSpPr>
        <p:spPr>
          <a:xfrm>
            <a:off x="756000" y="5078520"/>
            <a:ext cx="6047640" cy="56426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先從上次已完成的地方開始。</a:t>
            </a:r>
            <a:r>
              <a:rPr b="0" lang="en-US" sz="2000" spc="-1" strike="noStrike">
                <a:solidFill>
                  <a:srgbClr val="000000"/>
                </a:solidFill>
                <a:latin typeface="Arial"/>
              </a:rPr>
              <a:t>W-GMPC </a:t>
            </a:r>
            <a:r>
              <a:rPr b="0" lang="zh-CN" sz="2000" spc="-1" strike="noStrike">
                <a:solidFill>
                  <a:srgbClr val="000000"/>
                </a:solidFill>
                <a:latin typeface="Arial"/>
              </a:rPr>
              <a:t>同時決定底盤和手臂命令，完成導航、把手夾持、開啟二百毫米、關閉、釋放與返回。在嚴格停車對照的三對實驗中，兩組皆通過，整機協調的平均完整時間由九十三點六二秒降到八十點七二秒。這是兩套完整策略比較，主要時間收益在入場與交棒，不能說所有收益都是底盤移動造成。本頁影片是既有流程展示，數據另來自正式配對批次。</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第六次講稿</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第六次進度報告素材</a:t>
            </a:r>
            <a:r>
              <a:rPr b="0" lang="en-US" sz="2000" spc="-1" strike="noStrike">
                <a:solidFill>
                  <a:srgbClr val="000000"/>
                </a:solidFill>
                <a:latin typeface="Arial"/>
              </a:rPr>
              <a:t>/</a:t>
            </a:r>
            <a:r>
              <a:rPr b="0" lang="zh-CN" sz="2000" spc="-1" strike="noStrike">
                <a:solidFill>
                  <a:srgbClr val="000000"/>
                </a:solidFill>
                <a:latin typeface="Arial"/>
              </a:rPr>
              <a:t>簡報用實驗比較表</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evaluation/results/motm_speed/park_hold_formal_summary.yaml</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第六次進度報告素材</a:t>
            </a:r>
            <a:r>
              <a:rPr b="0" lang="en-US" sz="2000" spc="-1" strike="noStrike">
                <a:solidFill>
                  <a:srgbClr val="000000"/>
                </a:solidFill>
                <a:latin typeface="Arial"/>
              </a:rPr>
              <a:t>/</a:t>
            </a:r>
            <a:r>
              <a:rPr b="0" lang="zh-CN" sz="2000" spc="-1" strike="noStrike">
                <a:solidFill>
                  <a:srgbClr val="000000"/>
                </a:solidFill>
                <a:latin typeface="Arial"/>
              </a:rPr>
              <a:t>影片</a:t>
            </a:r>
            <a:r>
              <a:rPr b="0" lang="en-US" sz="2000" spc="-1" strike="noStrike">
                <a:solidFill>
                  <a:srgbClr val="000000"/>
                </a:solidFill>
                <a:latin typeface="Arial"/>
              </a:rPr>
              <a:t>/05_MotM</a:t>
            </a:r>
            <a:r>
              <a:rPr b="0" lang="zh-CN" sz="2000" spc="-1" strike="noStrike">
                <a:solidFill>
                  <a:srgbClr val="000000"/>
                </a:solidFill>
                <a:latin typeface="Arial"/>
              </a:rPr>
              <a:t>抽屜開關</a:t>
            </a:r>
            <a:r>
              <a:rPr b="0" lang="en-US" sz="2000" spc="-1" strike="noStrike">
                <a:solidFill>
                  <a:srgbClr val="000000"/>
                </a:solidFill>
                <a:latin typeface="Arial"/>
              </a:rPr>
              <a:t>_</a:t>
            </a:r>
            <a:r>
              <a:rPr b="0" lang="zh-CN" sz="2000" spc="-1" strike="noStrike">
                <a:solidFill>
                  <a:srgbClr val="000000"/>
                </a:solidFill>
                <a:latin typeface="Arial"/>
              </a:rPr>
              <a:t>全景</a:t>
            </a:r>
            <a:r>
              <a:rPr b="0" lang="en-US" sz="2000" spc="-1" strike="noStrike">
                <a:solidFill>
                  <a:srgbClr val="000000"/>
                </a:solidFill>
                <a:latin typeface="Arial"/>
              </a:rPr>
              <a:t>_3</a:t>
            </a:r>
            <a:r>
              <a:rPr b="0" lang="zh-CN" sz="2000" spc="-1" strike="noStrike">
                <a:solidFill>
                  <a:srgbClr val="000000"/>
                </a:solidFill>
                <a:latin typeface="Arial"/>
              </a:rPr>
              <a:t>倍速</a:t>
            </a:r>
            <a:r>
              <a:rPr b="0" lang="en-US" sz="2000" spc="-1" strike="noStrike">
                <a:solidFill>
                  <a:srgbClr val="000000"/>
                </a:solidFill>
                <a:latin typeface="Arial"/>
              </a:rPr>
              <a:t>.mp4</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216000" y="812520"/>
            <a:ext cx="7127280" cy="4008960"/>
          </a:xfrm>
          <a:prstGeom prst="rect">
            <a:avLst/>
          </a:prstGeom>
          <a:ln w="0">
            <a:noFill/>
          </a:ln>
        </p:spPr>
      </p:sp>
      <p:sp>
        <p:nvSpPr>
          <p:cNvPr id="3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抽屜與門都只有一個機構自由度，但控制難度不同。抽屜沿固定方向，門的把手位置與姿態會隨門角改變。當底盤繞過門扇，手臂構型也持續變化，固定偏移模型可能不再準確。更重要的是，開到角度不代表能放手、換抓或通過。因此本期不只追求更大的門角，而是把問題放在預測一致性、可執行參考與接觸切換承接。</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第六次講稿</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開門實作</a:t>
            </a:r>
            <a:r>
              <a:rPr b="0" lang="en-US" sz="2000" spc="-1" strike="noStrike">
                <a:solidFill>
                  <a:srgbClr val="000000"/>
                </a:solidFill>
                <a:latin typeface="Arial"/>
              </a:rPr>
              <a:t>_</a:t>
            </a:r>
            <a:r>
              <a:rPr b="0" lang="zh-CN" sz="2000" spc="-1" strike="noStrike">
                <a:solidFill>
                  <a:srgbClr val="000000"/>
                </a:solidFill>
                <a:latin typeface="Arial"/>
              </a:rPr>
              <a:t>文獻參考與研究改善定位</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第七次進度報告簡報</a:t>
            </a:r>
            <a:r>
              <a:rPr b="0" lang="en-US" sz="2000" spc="-1" strike="noStrike">
                <a:solidFill>
                  <a:srgbClr val="000000"/>
                </a:solidFill>
                <a:latin typeface="Arial"/>
              </a:rPr>
              <a:t>/</a:t>
            </a:r>
            <a:r>
              <a:rPr b="0" lang="zh-CN" sz="2000" spc="-1" strike="noStrike">
                <a:solidFill>
                  <a:srgbClr val="000000"/>
                </a:solidFill>
                <a:latin typeface="Arial"/>
              </a:rPr>
              <a:t>文獻差異與改善證據</a:t>
            </a:r>
            <a:r>
              <a:rPr b="0" lang="en-US" sz="2000" spc="-1" strike="noStrike">
                <a:solidFill>
                  <a:srgbClr val="000000"/>
                </a:solidFill>
                <a:latin typeface="Arial"/>
              </a:rPr>
              <a:t>_v2.md</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216000" y="812520"/>
            <a:ext cx="7127280" cy="4008960"/>
          </a:xfrm>
          <a:prstGeom prst="rect">
            <a:avLst/>
          </a:prstGeom>
          <a:ln w="0">
            <a:noFill/>
          </a:ln>
        </p:spPr>
      </p:sp>
      <p:sp>
        <p:nvSpPr>
          <p:cNvPr id="388" name="PlaceHolder 2"/>
          <p:cNvSpPr>
            <a:spLocks noGrp="1"/>
          </p:cNvSpPr>
          <p:nvPr>
            <p:ph type="body"/>
          </p:nvPr>
        </p:nvSpPr>
        <p:spPr>
          <a:xfrm>
            <a:off x="756000" y="5078520"/>
            <a:ext cx="6047640" cy="555732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這裡選三個直接相關的方法。</a:t>
            </a:r>
            <a:r>
              <a:rPr b="0" lang="en-US" sz="2000" spc="-1" strike="noStrike">
                <a:solidFill>
                  <a:srgbClr val="000000"/>
                </a:solidFill>
                <a:latin typeface="Arial"/>
              </a:rPr>
              <a:t>Wang </a:t>
            </a:r>
            <a:r>
              <a:rPr b="0" lang="zh-CN" sz="2000" spc="-1" strike="noStrike">
                <a:solidFill>
                  <a:srgbClr val="000000"/>
                </a:solidFill>
                <a:latin typeface="Arial"/>
              </a:rPr>
              <a:t>等人的重點是全身 </a:t>
            </a:r>
            <a:r>
              <a:rPr b="0" lang="en-US" sz="2000" spc="-1" strike="noStrike">
                <a:solidFill>
                  <a:srgbClr val="000000"/>
                </a:solidFill>
                <a:latin typeface="Arial"/>
              </a:rPr>
              <a:t>MPC </a:t>
            </a:r>
            <a:r>
              <a:rPr b="0" lang="zh-CN" sz="2000" spc="-1" strike="noStrike">
                <a:solidFill>
                  <a:srgbClr val="000000"/>
                </a:solidFill>
                <a:latin typeface="Arial"/>
              </a:rPr>
              <a:t>的任務優先序轉換，已展示實機自動回關門的開啟與通過；不是只能停車操作。</a:t>
            </a:r>
            <a:r>
              <a:rPr b="0" lang="en-US" sz="2000" spc="-1" strike="noStrike">
                <a:solidFill>
                  <a:srgbClr val="000000"/>
                </a:solidFill>
                <a:latin typeface="Arial"/>
              </a:rPr>
              <a:t>Sinaei </a:t>
            </a:r>
            <a:r>
              <a:rPr b="0" lang="zh-CN" sz="2000" spc="-1" strike="noStrike">
                <a:solidFill>
                  <a:srgbClr val="000000"/>
                </a:solidFill>
                <a:latin typeface="Arial"/>
              </a:rPr>
              <a:t>等人在較低維的機器人與門耦合規劃中，以軟工作空間條件描述可達性，手臂交給 </a:t>
            </a:r>
            <a:r>
              <a:rPr b="0" lang="en-US" sz="2000" spc="-1" strike="noStrike">
                <a:solidFill>
                  <a:srgbClr val="000000"/>
                </a:solidFill>
                <a:latin typeface="Arial"/>
              </a:rPr>
              <a:t>IK</a:t>
            </a:r>
            <a:r>
              <a:rPr b="0" lang="zh-CN" sz="2000" spc="-1" strike="noStrike">
                <a:solidFill>
                  <a:srgbClr val="000000"/>
                </a:solidFill>
                <a:latin typeface="Arial"/>
              </a:rPr>
              <a:t>。</a:t>
            </a:r>
            <a:r>
              <a:rPr b="0" lang="en-US" sz="2000" spc="-1" strike="noStrike">
                <a:solidFill>
                  <a:srgbClr val="000000"/>
                </a:solidFill>
                <a:latin typeface="Arial"/>
              </a:rPr>
              <a:t>Du </a:t>
            </a:r>
            <a:r>
              <a:rPr b="0" lang="zh-CN" sz="2000" spc="-1" strike="noStrike">
                <a:solidFill>
                  <a:srgbClr val="000000"/>
                </a:solidFill>
                <a:latin typeface="Arial"/>
              </a:rPr>
              <a:t>等人已有混合位置與速度介面的雙層 </a:t>
            </a:r>
            <a:r>
              <a:rPr b="0" lang="en-US" sz="2000" spc="-1" strike="noStrike">
                <a:solidFill>
                  <a:srgbClr val="000000"/>
                </a:solidFill>
                <a:latin typeface="Arial"/>
              </a:rPr>
              <a:t>MPC</a:t>
            </a:r>
            <a:r>
              <a:rPr b="0" lang="zh-CN" sz="2000" spc="-1" strike="noStrike">
                <a:solidFill>
                  <a:srgbClr val="000000"/>
                </a:solidFill>
                <a:latin typeface="Arial"/>
              </a:rPr>
              <a:t>，所以我們也不能宣稱首次處理這種介面。我的切入點是這台全向底盤加單臂，明確預測位置設定點的執行，並在機構操作中研究模型更新與控制承接。這是方法與假設比較，不是已重現外部方法的效能排行榜。</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https://wbmpc.github.io/static/pdfs/paper.pdf</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https://arxiv.org/html/2608.00206v1</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https://arxiv.org/html/2410.22910v1</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第七次進度報告簡報</a:t>
            </a:r>
            <a:r>
              <a:rPr b="0" lang="en-US" sz="2000" spc="-1" strike="noStrike">
                <a:solidFill>
                  <a:srgbClr val="000000"/>
                </a:solidFill>
                <a:latin typeface="Arial"/>
              </a:rPr>
              <a:t>/</a:t>
            </a:r>
            <a:r>
              <a:rPr b="0" lang="zh-CN" sz="2000" spc="-1" strike="noStrike">
                <a:solidFill>
                  <a:srgbClr val="000000"/>
                </a:solidFill>
                <a:latin typeface="Arial"/>
              </a:rPr>
              <a:t>文獻差異與改善證據</a:t>
            </a:r>
            <a:r>
              <a:rPr b="0" lang="en-US" sz="2000" spc="-1" strike="noStrike">
                <a:solidFill>
                  <a:srgbClr val="000000"/>
                </a:solidFill>
                <a:latin typeface="Arial"/>
              </a:rPr>
              <a:t>_v2.md</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216000" y="812520"/>
            <a:ext cx="7127280" cy="4008960"/>
          </a:xfrm>
          <a:prstGeom prst="rect">
            <a:avLst/>
          </a:prstGeom>
          <a:ln w="0">
            <a:noFill/>
          </a:ln>
        </p:spPr>
      </p:sp>
      <p:sp>
        <p:nvSpPr>
          <p:cNvPr id="390" name="PlaceHolder 2"/>
          <p:cNvSpPr>
            <a:spLocks noGrp="1"/>
          </p:cNvSpPr>
          <p:nvPr>
            <p:ph type="body"/>
          </p:nvPr>
        </p:nvSpPr>
        <p:spPr>
          <a:xfrm>
            <a:off x="756000" y="5078520"/>
            <a:ext cx="6047640" cy="527400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我要處理的不是別人都不會開門，而是位置伺服平台上的執行一致性。控制命令先積分為位置設定點，實際角度再追它；模型若只看理想關節速率，會忽略已累積的設定點與追蹤落後。這部分模型上次已建立，本次沿著三個問題推進：開門時估計是否需要更新、幾何可行參考是否仍可被控制器追蹤，以及換抓時如何不重設控制狀態。設定點增廣與自適應本身不是新概念，本研究主張必須落在具體實作與對照證據。</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src/ammr_wholebody_mpc/ammr_wholebody_mpc/wgmpc_core_sp.py</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文獻對照</a:t>
            </a:r>
            <a:r>
              <a:rPr b="0" lang="en-US" sz="2000" spc="-1" strike="noStrike">
                <a:solidFill>
                  <a:srgbClr val="000000"/>
                </a:solidFill>
                <a:latin typeface="Arial"/>
              </a:rPr>
              <a:t>_</a:t>
            </a:r>
            <a:r>
              <a:rPr b="0" lang="zh-CN" sz="2000" spc="-1" strike="noStrike">
                <a:solidFill>
                  <a:srgbClr val="000000"/>
                </a:solidFill>
                <a:latin typeface="Arial"/>
              </a:rPr>
              <a:t>第二階段</a:t>
            </a:r>
            <a:r>
              <a:rPr b="0" lang="en-US" sz="2000" spc="-1" strike="noStrike">
                <a:solidFill>
                  <a:srgbClr val="000000"/>
                </a:solidFill>
                <a:latin typeface="Arial"/>
              </a:rPr>
              <a:t>_WGMPC.md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第七次進度報告簡報</a:t>
            </a:r>
            <a:r>
              <a:rPr b="0" lang="en-US" sz="2000" spc="-1" strike="noStrike">
                <a:solidFill>
                  <a:srgbClr val="000000"/>
                </a:solidFill>
                <a:latin typeface="Arial"/>
              </a:rPr>
              <a:t>/</a:t>
            </a:r>
            <a:r>
              <a:rPr b="0" lang="zh-CN" sz="2000" spc="-1" strike="noStrike">
                <a:solidFill>
                  <a:srgbClr val="000000"/>
                </a:solidFill>
                <a:latin typeface="Arial"/>
              </a:rPr>
              <a:t>文獻差異與改善證據</a:t>
            </a:r>
            <a:r>
              <a:rPr b="0" lang="en-US" sz="2000" spc="-1" strike="noStrike">
                <a:solidFill>
                  <a:srgbClr val="000000"/>
                </a:solidFill>
                <a:latin typeface="Arial"/>
              </a:rPr>
              <a:t>_v2.md</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216000" y="812520"/>
            <a:ext cx="7127280" cy="4008960"/>
          </a:xfrm>
          <a:prstGeom prst="rect">
            <a:avLst/>
          </a:prstGeom>
          <a:ln w="0">
            <a:noFill/>
          </a:ln>
        </p:spPr>
      </p:sp>
      <p:sp>
        <p:nvSpPr>
          <p:cNvPr id="392" name="PlaceHolder 2"/>
          <p:cNvSpPr>
            <a:spLocks noGrp="1"/>
          </p:cNvSpPr>
          <p:nvPr>
            <p:ph type="body"/>
          </p:nvPr>
        </p:nvSpPr>
        <p:spPr>
          <a:xfrm>
            <a:off x="756000" y="5078520"/>
            <a:ext cx="6047640" cy="555732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這頁只回顧必要模型，不重新講完整推導。底盤三維加手臂六維構成九維實際構型，再把六維設定點加入，得到十五維預測狀態，控制輸入仍是九維。每輪 </a:t>
            </a:r>
            <a:r>
              <a:rPr b="0" lang="en-US" sz="2000" spc="-1" strike="noStrike">
                <a:solidFill>
                  <a:srgbClr val="000000"/>
                </a:solidFill>
                <a:latin typeface="Arial"/>
              </a:rPr>
              <a:t>W-GMPC </a:t>
            </a:r>
            <a:r>
              <a:rPr b="0" lang="zh-CN" sz="2000" spc="-1" strike="noStrike">
                <a:solidFill>
                  <a:srgbClr val="000000"/>
                </a:solidFill>
                <a:latin typeface="Arial"/>
              </a:rPr>
              <a:t>聯合產生底盤與手臂命令，再由執行鏈套用。幾何監看位於外部，不能說所有避碰都已在 </a:t>
            </a:r>
            <a:r>
              <a:rPr b="0" lang="en-US" sz="2000" spc="-1" strike="noStrike">
                <a:solidFill>
                  <a:srgbClr val="000000"/>
                </a:solidFill>
                <a:latin typeface="Arial"/>
              </a:rPr>
              <a:t>QP </a:t>
            </a:r>
            <a:r>
              <a:rPr b="0" lang="zh-CN" sz="2000" spc="-1" strike="noStrike">
                <a:solidFill>
                  <a:srgbClr val="000000"/>
                </a:solidFill>
                <a:latin typeface="Arial"/>
              </a:rPr>
              <a:t>內。導航沿用 </a:t>
            </a:r>
            <a:r>
              <a:rPr b="0" lang="en-US" sz="2000" spc="-1" strike="noStrike">
                <a:solidFill>
                  <a:srgbClr val="000000"/>
                </a:solidFill>
                <a:latin typeface="Arial"/>
              </a:rPr>
              <a:t>GMPC </a:t>
            </a:r>
            <a:r>
              <a:rPr b="0" lang="zh-CN" sz="2000" spc="-1" strike="noStrike">
                <a:solidFill>
                  <a:srgbClr val="000000"/>
                </a:solidFill>
                <a:latin typeface="Arial"/>
              </a:rPr>
              <a:t>與導航 </a:t>
            </a:r>
            <a:r>
              <a:rPr b="0" lang="en-US" sz="2000" spc="-1" strike="noStrike">
                <a:solidFill>
                  <a:srgbClr val="000000"/>
                </a:solidFill>
                <a:latin typeface="Arial"/>
              </a:rPr>
              <a:t>CBF</a:t>
            </a:r>
            <a:r>
              <a:rPr b="0" lang="zh-CN" sz="2000" spc="-1" strike="noStrike">
                <a:solidFill>
                  <a:srgbClr val="000000"/>
                </a:solidFill>
                <a:latin typeface="Arial"/>
              </a:rPr>
              <a:t>，操作核心是目前實作的 </a:t>
            </a:r>
            <a:r>
              <a:rPr b="0" lang="en-US" sz="2000" spc="-1" strike="noStrike">
                <a:solidFill>
                  <a:srgbClr val="000000"/>
                </a:solidFill>
                <a:latin typeface="Arial"/>
              </a:rPr>
              <a:t>W-GMPC</a:t>
            </a:r>
            <a:r>
              <a:rPr b="0" lang="zh-CN" sz="2000" spc="-1" strike="noStrike">
                <a:solidFill>
                  <a:srgbClr val="000000"/>
                </a:solidFill>
                <a:latin typeface="Arial"/>
              </a:rPr>
              <a:t>；後者不能因名字相近就宣稱直接繼承 </a:t>
            </a:r>
            <a:r>
              <a:rPr b="0" lang="en-US" sz="2000" spc="-1" strike="noStrike">
                <a:solidFill>
                  <a:srgbClr val="000000"/>
                </a:solidFill>
                <a:latin typeface="Arial"/>
              </a:rPr>
              <a:t>Tang </a:t>
            </a:r>
            <a:r>
              <a:rPr b="0" lang="zh-CN" sz="2000" spc="-1" strike="noStrike">
                <a:solidFill>
                  <a:srgbClr val="000000"/>
                </a:solidFill>
                <a:latin typeface="Arial"/>
              </a:rPr>
              <a:t>的全部李群誤差狀態理論。</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第六次講稿</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src/ammr_wholebody_mpc/ammr_wholebody_mpc/wgmpc_core_sp.py</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文獻對照</a:t>
            </a:r>
            <a:r>
              <a:rPr b="0" lang="en-US" sz="2000" spc="-1" strike="noStrike">
                <a:solidFill>
                  <a:srgbClr val="000000"/>
                </a:solidFill>
                <a:latin typeface="Arial"/>
              </a:rPr>
              <a:t>_</a:t>
            </a:r>
            <a:r>
              <a:rPr b="0" lang="zh-CN" sz="2000" spc="-1" strike="noStrike">
                <a:solidFill>
                  <a:srgbClr val="000000"/>
                </a:solidFill>
                <a:latin typeface="Arial"/>
              </a:rPr>
              <a:t>第二階段</a:t>
            </a:r>
            <a:r>
              <a:rPr b="0" lang="en-US" sz="2000" spc="-1" strike="noStrike">
                <a:solidFill>
                  <a:srgbClr val="000000"/>
                </a:solidFill>
                <a:latin typeface="Arial"/>
              </a:rPr>
              <a:t>_WGMPC.md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https://arxiv.org/abs/2403.07317</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216000" y="812520"/>
            <a:ext cx="7127280" cy="4008960"/>
          </a:xfrm>
          <a:prstGeom prst="rect">
            <a:avLst/>
          </a:prstGeom>
          <a:ln w="0">
            <a:noFill/>
          </a:ln>
        </p:spPr>
      </p:sp>
      <p:sp>
        <p:nvSpPr>
          <p:cNvPr id="394" name="PlaceHolder 2"/>
          <p:cNvSpPr>
            <a:spLocks noGrp="1"/>
          </p:cNvSpPr>
          <p:nvPr>
            <p:ph type="body"/>
          </p:nvPr>
        </p:nvSpPr>
        <p:spPr>
          <a:xfrm>
            <a:off x="756000" y="5078520"/>
            <a:ext cx="6047640" cy="490536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初期開門結果在末段出現位置漂移，預測起點另有鉛直偏差。我沒有直接提高漂移門檻，而是對既有紀錄做因果影子重播：兩版本同一起點，每個區間先預測再更新，恢復更新後的一區間鉛直殘差 </a:t>
            </a:r>
            <a:r>
              <a:rPr b="0" lang="en-US" sz="2000" spc="-1" strike="noStrike">
                <a:solidFill>
                  <a:srgbClr val="000000"/>
                </a:solidFill>
                <a:latin typeface="Arial"/>
              </a:rPr>
              <a:t>RMS </a:t>
            </a:r>
            <a:r>
              <a:rPr b="0" lang="zh-CN" sz="2000" spc="-1" strike="noStrike">
                <a:solidFill>
                  <a:srgbClr val="000000"/>
                </a:solidFill>
                <a:latin typeface="Arial"/>
              </a:rPr>
              <a:t>從零點七七六降到零點零四五毫米。據此把既有估計規則延伸到開門與收斂期間，暫停生效才凍結。這是模型一致性的改善證據，不表示已分離所有接觸負載原因，也不是穩定性定理。</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/door_coopen_core_bench_3_offset_shadow.json</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規格</a:t>
            </a:r>
            <a:r>
              <a:rPr b="0" lang="en-US" sz="2000" spc="-1" strike="noStrike">
                <a:solidFill>
                  <a:srgbClr val="000000"/>
                </a:solidFill>
                <a:latin typeface="Arial"/>
              </a:rPr>
              <a:t>/COOPEN_core_spec_draft14.md</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216000" y="812520"/>
            <a:ext cx="7127280" cy="4008960"/>
          </a:xfrm>
          <a:prstGeom prst="rect">
            <a:avLst/>
          </a:prstGeom>
          <a:ln w="0">
            <a:noFill/>
          </a:ln>
        </p:spPr>
      </p:sp>
      <p:sp>
        <p:nvSpPr>
          <p:cNvPr id="39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接著看物理接觸模擬，而不只看影子重播。灰色為開門早期凍結，另外三條是開門更新的趟次。共同四十到四十三點七度，持握平均漂移由四點四八毫米變為一點三三、一點三二、一點三五毫米，曲線三趟相近。這是可報告的量測改善；但診斷、</a:t>
            </a:r>
            <a:r>
              <a:rPr b="0" lang="en-US" sz="2000" spc="-1" strike="noStrike">
                <a:solidFill>
                  <a:srgbClr val="000000"/>
                </a:solidFill>
                <a:latin typeface="Arial"/>
              </a:rPr>
              <a:t>GC </a:t>
            </a:r>
            <a:r>
              <a:rPr b="0" lang="zh-CN" sz="2000" spc="-1" strike="noStrike">
                <a:solidFill>
                  <a:srgbClr val="000000"/>
                </a:solidFill>
                <a:latin typeface="Arial"/>
              </a:rPr>
              <a:t>與暫停設定不完全相同，不稱嚴格單變因因果。末段仍回升至四點八二毫米，尚有薄弱處。</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圖表</a:t>
            </a:r>
            <a:r>
              <a:rPr b="0" lang="en-US" sz="2000" spc="-1" strike="noStrike">
                <a:solidFill>
                  <a:srgbClr val="000000"/>
                </a:solidFill>
                <a:latin typeface="Arial"/>
              </a:rPr>
              <a:t>/29_coopen_</a:t>
            </a:r>
            <a:r>
              <a:rPr b="0" lang="zh-CN" sz="2000" spc="-1" strike="noStrike">
                <a:solidFill>
                  <a:srgbClr val="000000"/>
                </a:solidFill>
                <a:latin typeface="Arial"/>
              </a:rPr>
              <a:t>核心段接觸模擬</a:t>
            </a:r>
            <a:r>
              <a:rPr b="0" lang="en-US" sz="2000" spc="-1" strike="noStrike">
                <a:solidFill>
                  <a:srgbClr val="000000"/>
                </a:solidFill>
                <a:latin typeface="Arial"/>
              </a:rPr>
              <a:t>_</a:t>
            </a:r>
            <a:r>
              <a:rPr b="0" lang="zh-CN" sz="2000" spc="-1" strike="noStrike">
                <a:solidFill>
                  <a:srgbClr val="000000"/>
                </a:solidFill>
                <a:latin typeface="Arial"/>
              </a:rPr>
              <a:t>漂移四趟比較</a:t>
            </a:r>
            <a:r>
              <a:rPr b="0" lang="en-US" sz="2000" spc="-1" strike="noStrike">
                <a:solidFill>
                  <a:srgbClr val="000000"/>
                </a:solidFill>
                <a:latin typeface="Arial"/>
              </a:rPr>
              <a:t>.png</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/door_coopen_core_bench_6_compare.json</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216000" y="812520"/>
            <a:ext cx="7127280" cy="4008960"/>
          </a:xfrm>
          <a:prstGeom prst="rect">
            <a:avLst/>
          </a:prstGeom>
          <a:ln w="0">
            <a:noFill/>
          </a:ln>
        </p:spPr>
      </p:sp>
      <p:sp>
        <p:nvSpPr>
          <p:cNvPr id="39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從抽屜延伸到門，已有一項可清楚展示的接觸模擬成果：實際夾持把手開門至約六十度，完成收斂、受控暫停與十點零六秒主動保持停止觀察，事前判定器通過。這是一趟功能成果，不是可和論文跨平台比較的成功率，也不是穿門。畫面為既有實錄姿態重播，並未重跑控制。</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/NOTE_door_wide_w1f_60_3.md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影片</a:t>
            </a:r>
            <a:r>
              <a:rPr b="0" lang="en-US" sz="2000" spc="-1" strike="noStrike">
                <a:solidFill>
                  <a:srgbClr val="000000"/>
                </a:solidFill>
                <a:latin typeface="Arial"/>
              </a:rPr>
              <a:t>/door_wide_w1f_60_3_</a:t>
            </a:r>
            <a:r>
              <a:rPr b="0" lang="zh-CN" sz="2000" spc="-1" strike="noStrike">
                <a:solidFill>
                  <a:srgbClr val="000000"/>
                </a:solidFill>
                <a:latin typeface="Arial"/>
              </a:rPr>
              <a:t>大角度協同開門</a:t>
            </a:r>
            <a:r>
              <a:rPr b="0" lang="en-US" sz="2000" spc="-1" strike="noStrike">
                <a:solidFill>
                  <a:srgbClr val="000000"/>
                </a:solidFill>
                <a:latin typeface="Arial"/>
              </a:rPr>
              <a:t>60</a:t>
            </a:r>
            <a:r>
              <a:rPr b="0" lang="zh-CN" sz="2000" spc="-1" strike="noStrike">
                <a:solidFill>
                  <a:srgbClr val="000000"/>
                </a:solidFill>
                <a:latin typeface="Arial"/>
              </a:rPr>
              <a:t>度紀錄修正驗證</a:t>
            </a:r>
            <a:r>
              <a:rPr b="0" lang="en-US" sz="2000" spc="-1" strike="noStrike">
                <a:solidFill>
                  <a:srgbClr val="000000"/>
                </a:solidFill>
                <a:latin typeface="Arial"/>
              </a:rPr>
              <a:t>_</a:t>
            </a:r>
            <a:r>
              <a:rPr b="0" lang="zh-CN" sz="2000" spc="-1" strike="noStrike">
                <a:solidFill>
                  <a:srgbClr val="000000"/>
                </a:solidFill>
                <a:latin typeface="Arial"/>
              </a:rPr>
              <a:t>開至約</a:t>
            </a:r>
            <a:r>
              <a:rPr b="0" lang="en-US" sz="2000" spc="-1" strike="noStrike">
                <a:solidFill>
                  <a:srgbClr val="000000"/>
                </a:solidFill>
                <a:latin typeface="Arial"/>
              </a:rPr>
              <a:t>60</a:t>
            </a:r>
            <a:r>
              <a:rPr b="0" lang="zh-CN" sz="2000" spc="-1" strike="noStrike">
                <a:solidFill>
                  <a:srgbClr val="000000"/>
                </a:solidFill>
                <a:latin typeface="Arial"/>
              </a:rPr>
              <a:t>度並完成受控暫停</a:t>
            </a:r>
            <a:r>
              <a:rPr b="0" lang="en-US" sz="2000" spc="-1" strike="noStrike">
                <a:solidFill>
                  <a:srgbClr val="000000"/>
                </a:solidFill>
                <a:latin typeface="Arial"/>
              </a:rPr>
              <a:t>_</a:t>
            </a:r>
            <a:r>
              <a:rPr b="0" lang="zh-CN" sz="2000" spc="-1" strike="noStrike">
                <a:solidFill>
                  <a:srgbClr val="000000"/>
                </a:solidFill>
                <a:latin typeface="Arial"/>
              </a:rPr>
              <a:t>成功</a:t>
            </a:r>
            <a:r>
              <a:rPr b="0" lang="en-US" sz="2000" spc="-1" strike="noStrike">
                <a:solidFill>
                  <a:srgbClr val="000000"/>
                </a:solidFill>
                <a:latin typeface="Arial"/>
              </a:rPr>
              <a:t>_</a:t>
            </a:r>
            <a:r>
              <a:rPr b="0" lang="zh-CN" sz="2000" spc="-1" strike="noStrike">
                <a:solidFill>
                  <a:srgbClr val="000000"/>
                </a:solidFill>
                <a:latin typeface="Arial"/>
              </a:rPr>
              <a:t>側視</a:t>
            </a:r>
            <a:r>
              <a:rPr b="0" lang="en-US" sz="2000" spc="-1" strike="noStrike">
                <a:solidFill>
                  <a:srgbClr val="000000"/>
                </a:solidFill>
                <a:latin typeface="Arial"/>
              </a:rPr>
              <a:t>_</a:t>
            </a:r>
            <a:r>
              <a:rPr b="0" lang="zh-CN" sz="2000" spc="-1" strike="noStrike">
                <a:solidFill>
                  <a:srgbClr val="000000"/>
                </a:solidFill>
                <a:latin typeface="Arial"/>
              </a:rPr>
              <a:t>實錄重播</a:t>
            </a:r>
            <a:r>
              <a:rPr b="0" lang="en-US" sz="2000" spc="-1" strike="noStrike">
                <a:solidFill>
                  <a:srgbClr val="000000"/>
                </a:solidFill>
                <a:latin typeface="Arial"/>
              </a:rPr>
              <a:t>.mp4</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216000" y="812520"/>
            <a:ext cx="7127280" cy="4008960"/>
          </a:xfrm>
          <a:prstGeom prst="rect">
            <a:avLst/>
          </a:prstGeom>
          <a:ln w="0">
            <a:noFill/>
          </a:ln>
        </p:spPr>
      </p:sp>
      <p:sp>
        <p:nvSpPr>
          <p:cNvPr id="400" name="PlaceHolder 2"/>
          <p:cNvSpPr>
            <a:spLocks noGrp="1"/>
          </p:cNvSpPr>
          <p:nvPr>
            <p:ph type="body"/>
          </p:nvPr>
        </p:nvSpPr>
        <p:spPr>
          <a:xfrm>
            <a:off x="756000" y="5078520"/>
            <a:ext cx="6047640" cy="609660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另一個繞緣抓法的指定初態實驗，實際開門至四十七點七四度，出口距離指標下降零點一七六公尺，顯示底盤與手臂共同執行開門及繞行。不過整體判定仍未通過，原因是低承載物理步與獨立停止窗超標。這裡強調的是新增核心動作證據，不把流程 </a:t>
            </a:r>
            <a:r>
              <a:rPr b="0" lang="en-US" sz="2000" spc="-1" strike="noStrike">
                <a:solidFill>
                  <a:srgbClr val="000000"/>
                </a:solidFill>
                <a:latin typeface="Arial"/>
              </a:rPr>
              <a:t>DONE </a:t>
            </a:r>
            <a:r>
              <a:rPr b="0" lang="zh-CN" sz="2000" spc="-1" strike="noStrike">
                <a:solidFill>
                  <a:srgbClr val="000000"/>
                </a:solidFill>
                <a:latin typeface="Arial"/>
              </a:rPr>
              <a:t>說成可靠成功；本趟也不是自主接近，且和六十度成功趟並非同一抓法配置。</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規格</a:t>
            </a:r>
            <a:r>
              <a:rPr b="0" lang="en-US" sz="2000" spc="-1" strike="noStrike">
                <a:solidFill>
                  <a:srgbClr val="000000"/>
                </a:solidFill>
                <a:latin typeface="Arial"/>
              </a:rPr>
              <a:t>/COOPEN_</a:t>
            </a:r>
            <a:r>
              <a:rPr b="0" lang="zh-CN" sz="2000" spc="-1" strike="noStrike">
                <a:solidFill>
                  <a:srgbClr val="000000"/>
                </a:solidFill>
                <a:latin typeface="Arial"/>
              </a:rPr>
              <a:t>核心段接觸模擬</a:t>
            </a:r>
            <a:r>
              <a:rPr b="0" lang="en-US" sz="2000" spc="-1" strike="noStrike">
                <a:solidFill>
                  <a:srgbClr val="000000"/>
                </a:solidFill>
                <a:latin typeface="Arial"/>
              </a:rPr>
              <a:t>_</a:t>
            </a:r>
            <a:r>
              <a:rPr b="0" lang="zh-CN" sz="2000" spc="-1" strike="noStrike">
                <a:solidFill>
                  <a:srgbClr val="000000"/>
                </a:solidFill>
                <a:latin typeface="Arial"/>
              </a:rPr>
              <a:t>成果與限制</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/bench_6_door_coopen_check_core12.json</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影片</a:t>
            </a:r>
            <a:r>
              <a:rPr b="0" lang="en-US" sz="2000" spc="-1" strike="noStrike">
                <a:solidFill>
                  <a:srgbClr val="000000"/>
                </a:solidFill>
                <a:latin typeface="Arial"/>
              </a:rPr>
              <a:t>/door_coopen_core_bench_6_</a:t>
            </a:r>
            <a:r>
              <a:rPr b="0" lang="zh-CN" sz="2000" spc="-1" strike="noStrike">
                <a:solidFill>
                  <a:srgbClr val="000000"/>
                </a:solidFill>
                <a:latin typeface="Arial"/>
              </a:rPr>
              <a:t>繞緣持握邊開門邊往出口繞</a:t>
            </a:r>
            <a:r>
              <a:rPr b="0" lang="en-US" sz="2000" spc="-1" strike="noStrike">
                <a:solidFill>
                  <a:srgbClr val="000000"/>
                </a:solidFill>
                <a:latin typeface="Arial"/>
              </a:rPr>
              <a:t>_</a:t>
            </a:r>
            <a:r>
              <a:rPr b="0" lang="zh-CN" sz="2000" spc="-1" strike="noStrike">
                <a:solidFill>
                  <a:srgbClr val="000000"/>
                </a:solidFill>
                <a:latin typeface="Arial"/>
              </a:rPr>
              <a:t>聯合配置開至約</a:t>
            </a:r>
            <a:r>
              <a:rPr b="0" lang="en-US" sz="2000" spc="-1" strike="noStrike">
                <a:solidFill>
                  <a:srgbClr val="000000"/>
                </a:solidFill>
                <a:latin typeface="Arial"/>
              </a:rPr>
              <a:t>48</a:t>
            </a:r>
            <a:r>
              <a:rPr b="0" lang="zh-CN" sz="2000" spc="-1" strike="noStrike">
                <a:solidFill>
                  <a:srgbClr val="000000"/>
                </a:solidFill>
                <a:latin typeface="Arial"/>
              </a:rPr>
              <a:t>度並走完暫停與停止觀察</a:t>
            </a:r>
            <a:r>
              <a:rPr b="0" lang="en-US" sz="2000" spc="-1" strike="noStrike">
                <a:solidFill>
                  <a:srgbClr val="000000"/>
                </a:solidFill>
                <a:latin typeface="Arial"/>
              </a:rPr>
              <a:t>_</a:t>
            </a:r>
            <a:r>
              <a:rPr b="0" lang="zh-CN" sz="2000" spc="-1" strike="noStrike">
                <a:solidFill>
                  <a:srgbClr val="000000"/>
                </a:solidFill>
                <a:latin typeface="Arial"/>
              </a:rPr>
              <a:t>判定器不通過</a:t>
            </a:r>
            <a:r>
              <a:rPr b="0" lang="en-US" sz="2000" spc="-1" strike="noStrike">
                <a:solidFill>
                  <a:srgbClr val="000000"/>
                </a:solidFill>
                <a:latin typeface="Arial"/>
              </a:rPr>
              <a:t>_</a:t>
            </a:r>
            <a:r>
              <a:rPr b="0" lang="zh-CN" sz="2000" spc="-1" strike="noStrike">
                <a:solidFill>
                  <a:srgbClr val="000000"/>
                </a:solidFill>
                <a:latin typeface="Arial"/>
              </a:rPr>
              <a:t>失敗</a:t>
            </a:r>
            <a:r>
              <a:rPr b="0" lang="en-US" sz="2000" spc="-1" strike="noStrike">
                <a:solidFill>
                  <a:srgbClr val="000000"/>
                </a:solidFill>
                <a:latin typeface="Arial"/>
              </a:rPr>
              <a:t>_</a:t>
            </a:r>
            <a:r>
              <a:rPr b="0" lang="zh-CN" sz="2000" spc="-1" strike="noStrike">
                <a:solidFill>
                  <a:srgbClr val="000000"/>
                </a:solidFill>
                <a:latin typeface="Arial"/>
              </a:rPr>
              <a:t>側視</a:t>
            </a:r>
            <a:r>
              <a:rPr b="0" lang="en-US" sz="2000" spc="-1" strike="noStrike">
                <a:solidFill>
                  <a:srgbClr val="000000"/>
                </a:solidFill>
                <a:latin typeface="Arial"/>
              </a:rPr>
              <a:t>_</a:t>
            </a:r>
            <a:r>
              <a:rPr b="0" lang="zh-CN" sz="2000" spc="-1" strike="noStrike">
                <a:solidFill>
                  <a:srgbClr val="000000"/>
                </a:solidFill>
                <a:latin typeface="Arial"/>
              </a:rPr>
              <a:t>實錄重播</a:t>
            </a:r>
            <a:r>
              <a:rPr b="0" lang="en-US" sz="2000" spc="-1" strike="noStrike">
                <a:solidFill>
                  <a:srgbClr val="000000"/>
                </a:solidFill>
                <a:latin typeface="Arial"/>
              </a:rPr>
              <a:t>.mp4</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216000" y="812520"/>
            <a:ext cx="7127280" cy="4008960"/>
          </a:xfrm>
          <a:prstGeom prst="rect">
            <a:avLst/>
          </a:prstGeom>
          <a:ln w="0">
            <a:noFill/>
          </a:ln>
        </p:spPr>
      </p:sp>
      <p:sp>
        <p:nvSpPr>
          <p:cNvPr id="402" name="PlaceHolder 2"/>
          <p:cNvSpPr>
            <a:spLocks noGrp="1"/>
          </p:cNvSpPr>
          <p:nvPr>
            <p:ph type="body"/>
          </p:nvPr>
        </p:nvSpPr>
        <p:spPr>
          <a:xfrm>
            <a:off x="756000" y="5078520"/>
            <a:ext cx="6047640" cy="575532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第二項工作是參考和控制執行的一致性。離線幾何可行並不保證位置伺服加延遲的 </a:t>
            </a:r>
            <a:r>
              <a:rPr b="0" lang="en-US" sz="2000" spc="-1" strike="noStrike">
                <a:solidFill>
                  <a:srgbClr val="000000"/>
                </a:solidFill>
                <a:latin typeface="Arial"/>
              </a:rPr>
              <a:t>W-GMPC </a:t>
            </a:r>
            <a:r>
              <a:rPr b="0" lang="zh-CN" sz="2000" spc="-1" strike="noStrike">
                <a:solidFill>
                  <a:srgbClr val="000000"/>
                </a:solidFill>
                <a:latin typeface="Arial"/>
              </a:rPr>
              <a:t>能追上。我們在同一名目設定下比較兩種自由段速度參考：較快參考在實際模型的退臂移動段出現自碰淨空不足；降低速度的版本完成取樣自檢。這只有兩組，不是最適速度搜尋，也不證明一半速度是必要條件。後續換抓規劃再把監看所需扣減納入參考時間化，使幾何門檻與預測監看一致；不靠放寬門檻去湊通過。</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evaluation/results/door/door_coopen_inner_wgmpc_v1_static.json</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/coopen_inner_wgmpc_v2_summary.json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evaluation/results/door/door_regrasp_ref_v4_monitor_check_v4.json</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216000" y="812520"/>
            <a:ext cx="7127280" cy="4008960"/>
          </a:xfrm>
          <a:prstGeom prst="rect">
            <a:avLst/>
          </a:prstGeom>
          <a:ln w="0">
            <a:noFill/>
          </a:ln>
        </p:spPr>
      </p:sp>
      <p:sp>
        <p:nvSpPr>
          <p:cNvPr id="404" name="PlaceHolder 2"/>
          <p:cNvSpPr>
            <a:spLocks noGrp="1"/>
          </p:cNvSpPr>
          <p:nvPr>
            <p:ph type="body"/>
          </p:nvPr>
        </p:nvSpPr>
        <p:spPr>
          <a:xfrm>
            <a:off x="756000" y="5078520"/>
            <a:ext cx="6047640" cy="535932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早期完整拉關模型由保存的開門末態開始，包含放手、退臂、移動、內側幾何准入、通過中拉關與退出。模型推得門角由四十七點八九度降到二點二度；在底盤圓盤清空前已有約四十五點七度的關門進展，整機之後也清空。這支持路線在所列名目模型下有執行候選，並非完成物理關門。門角由 </a:t>
            </a:r>
            <a:r>
              <a:rPr b="0" lang="en-US" sz="2000" spc="-1" strike="noStrike">
                <a:solidFill>
                  <a:srgbClr val="000000"/>
                </a:solidFill>
                <a:latin typeface="Arial"/>
              </a:rPr>
              <a:t>TCP </a:t>
            </a:r>
            <a:r>
              <a:rPr b="0" lang="zh-CN" sz="2000" spc="-1" strike="noStrike">
                <a:solidFill>
                  <a:srgbClr val="000000"/>
                </a:solidFill>
                <a:latin typeface="Arial"/>
              </a:rPr>
              <a:t>推得，未驗接觸力、門動力學、</a:t>
            </a:r>
            <a:r>
              <a:rPr b="0" lang="en-US" sz="2000" spc="-1" strike="noStrike">
                <a:solidFill>
                  <a:srgbClr val="000000"/>
                </a:solidFill>
                <a:latin typeface="Arial"/>
              </a:rPr>
              <a:t>E2</a:t>
            </a:r>
            <a:r>
              <a:rPr b="0" lang="zh-CN" sz="2000" spc="-1" strike="noStrike">
                <a:solidFill>
                  <a:srgbClr val="000000"/>
                </a:solidFill>
                <a:latin typeface="Arial"/>
              </a:rPr>
              <a:t>、安全層或最後二點二度。最新換抓已改抓法與參考，不能和這組拼成同趟成功。</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/coopen_inner_wgmpc_v2_summary.json</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圖表</a:t>
            </a:r>
            <a:r>
              <a:rPr b="0" lang="en-US" sz="2000" spc="-1" strike="noStrike">
                <a:solidFill>
                  <a:srgbClr val="000000"/>
                </a:solidFill>
                <a:latin typeface="Arial"/>
              </a:rPr>
              <a:t>/31_coopen_</a:t>
            </a:r>
            <a:r>
              <a:rPr b="0" lang="zh-CN" sz="2000" spc="-1" strike="noStrike">
                <a:solidFill>
                  <a:srgbClr val="000000"/>
                </a:solidFill>
                <a:latin typeface="Arial"/>
              </a:rPr>
              <a:t>內側把手串接</a:t>
            </a:r>
            <a:r>
              <a:rPr b="0" lang="en-US" sz="2000" spc="-1" strike="noStrike">
                <a:solidFill>
                  <a:srgbClr val="000000"/>
                </a:solidFill>
                <a:latin typeface="Arial"/>
              </a:rPr>
              <a:t>_</a:t>
            </a:r>
            <a:r>
              <a:rPr b="0" lang="zh-CN" sz="2000" spc="-1" strike="noStrike">
                <a:solidFill>
                  <a:srgbClr val="000000"/>
                </a:solidFill>
                <a:latin typeface="Arial"/>
              </a:rPr>
              <a:t>名目閉迴路</a:t>
            </a:r>
            <a:r>
              <a:rPr b="0" lang="en-US" sz="2000" spc="-1" strike="noStrike">
                <a:solidFill>
                  <a:srgbClr val="000000"/>
                </a:solidFill>
                <a:latin typeface="Arial"/>
              </a:rPr>
              <a:t>_</a:t>
            </a:r>
            <a:r>
              <a:rPr b="0" lang="zh-CN" sz="2000" spc="-1" strike="noStrike">
                <a:solidFill>
                  <a:srgbClr val="000000"/>
                </a:solidFill>
                <a:latin typeface="Arial"/>
              </a:rPr>
              <a:t>時間軸</a:t>
            </a:r>
            <a:r>
              <a:rPr b="0" lang="en-US" sz="2000" spc="-1" strike="noStrike">
                <a:solidFill>
                  <a:srgbClr val="000000"/>
                </a:solidFill>
                <a:latin typeface="Arial"/>
              </a:rPr>
              <a:t>.png</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216000" y="812520"/>
            <a:ext cx="7127280" cy="4008960"/>
          </a:xfrm>
          <a:prstGeom prst="rect">
            <a:avLst/>
          </a:prstGeom>
          <a:ln w="0">
            <a:noFill/>
          </a:ln>
        </p:spPr>
      </p:sp>
      <p:sp>
        <p:nvSpPr>
          <p:cNvPr id="406" name="PlaceHolder 2"/>
          <p:cNvSpPr>
            <a:spLocks noGrp="1"/>
          </p:cNvSpPr>
          <p:nvPr>
            <p:ph type="body"/>
          </p:nvPr>
        </p:nvSpPr>
        <p:spPr>
          <a:xfrm>
            <a:off x="756000" y="5078520"/>
            <a:ext cx="6047640" cy="722988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這張把改善分成三個層次。前期完整抽屜策略時間較短，前期五步設定的追蹤和命令反轉率較好；本期影子更新的預測殘差較小，接觸模擬共同門角區間的持握漂移也較小。這些都是相對於本平台的基線，不是對外部論文的直接優越證明。我的方法定位是面向位置伺服型移動機械臂的執行一致性設計與分層實證。設定點模型與更新機制可說清楚，但目前不能直接宣稱顯式設定點模型比所有理想速度模型更好，因為還缺那個直接對照。</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第六次講稿</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第六次進度報告素材</a:t>
            </a:r>
            <a:r>
              <a:rPr b="0" lang="en-US" sz="2000" spc="-1" strike="noStrike">
                <a:solidFill>
                  <a:srgbClr val="000000"/>
                </a:solidFill>
                <a:latin typeface="Arial"/>
              </a:rPr>
              <a:t>/</a:t>
            </a:r>
            <a:r>
              <a:rPr b="0" lang="zh-CN" sz="2000" spc="-1" strike="noStrike">
                <a:solidFill>
                  <a:srgbClr val="000000"/>
                </a:solidFill>
                <a:latin typeface="Arial"/>
              </a:rPr>
              <a:t>簡報用實驗比較表</a:t>
            </a:r>
            <a:r>
              <a:rPr b="0" lang="en-US" sz="2000" spc="-1" strike="noStrike">
                <a:solidFill>
                  <a:srgbClr val="000000"/>
                </a:solidFill>
                <a:latin typeface="Arial"/>
              </a:rPr>
              <a:t>.md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evaluation/results/motm_speed/park_hold_formal_summary.yaml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evaluation/results/horizon_ablation/c0b1_results.yaml</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/door_coopen_core_bench_3_offset_shadow.json</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資料</a:t>
            </a:r>
            <a:r>
              <a:rPr b="0" lang="en-US" sz="2000" spc="-1" strike="noStrike">
                <a:solidFill>
                  <a:srgbClr val="000000"/>
                </a:solidFill>
                <a:latin typeface="Arial"/>
              </a:rPr>
              <a:t>/door_coopen_core_bench_6_compare.json</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第七次進度報告簡報</a:t>
            </a:r>
            <a:r>
              <a:rPr b="0" lang="en-US" sz="2000" spc="-1" strike="noStrike">
                <a:solidFill>
                  <a:srgbClr val="000000"/>
                </a:solidFill>
                <a:latin typeface="Arial"/>
              </a:rPr>
              <a:t>/</a:t>
            </a:r>
            <a:r>
              <a:rPr b="0" lang="zh-CN" sz="2000" spc="-1" strike="noStrike">
                <a:solidFill>
                  <a:srgbClr val="000000"/>
                </a:solidFill>
                <a:latin typeface="Arial"/>
              </a:rPr>
              <a:t>文獻差異與改善證據</a:t>
            </a:r>
            <a:r>
              <a:rPr b="0" lang="en-US" sz="2000" spc="-1" strike="noStrike">
                <a:solidFill>
                  <a:srgbClr val="000000"/>
                </a:solidFill>
                <a:latin typeface="Arial"/>
              </a:rPr>
              <a:t>_v2.md</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216000" y="812520"/>
            <a:ext cx="7127280" cy="4008960"/>
          </a:xfrm>
          <a:prstGeom prst="rect">
            <a:avLst/>
          </a:prstGeom>
          <a:ln w="0">
            <a:noFill/>
          </a:ln>
        </p:spPr>
      </p:sp>
      <p:sp>
        <p:nvSpPr>
          <p:cNvPr id="40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最後回到上次抽屜的基礎。近期先取得同一趟開門到內側換抓的接觸驗證與影片，再接通過中拉關和退出，最後串接既有抽屜開關及返回。導航段沿用 </a:t>
            </a:r>
            <a:r>
              <a:rPr b="0" lang="en-US" sz="2000" spc="-1" strike="noStrike">
                <a:solidFill>
                  <a:srgbClr val="000000"/>
                </a:solidFill>
                <a:latin typeface="Arial"/>
              </a:rPr>
              <a:t>GMPC </a:t>
            </a:r>
            <a:r>
              <a:rPr b="0" lang="zh-CN" sz="2000" spc="-1" strike="noStrike">
                <a:solidFill>
                  <a:srgbClr val="000000"/>
                </a:solidFill>
                <a:latin typeface="Arial"/>
              </a:rPr>
              <a:t>加導航 </a:t>
            </a:r>
            <a:r>
              <a:rPr b="0" lang="en-US" sz="2000" spc="-1" strike="noStrike">
                <a:solidFill>
                  <a:srgbClr val="000000"/>
                </a:solidFill>
                <a:latin typeface="Arial"/>
              </a:rPr>
              <a:t>CBF</a:t>
            </a:r>
            <a:r>
              <a:rPr b="0" lang="zh-CN" sz="2000" spc="-1" strike="noStrike">
                <a:solidFill>
                  <a:srgbClr val="000000"/>
                </a:solidFill>
                <a:latin typeface="Arial"/>
              </a:rPr>
              <a:t>，不把導航的保護外推成手臂全身 </a:t>
            </a:r>
            <a:r>
              <a:rPr b="0" lang="en-US" sz="2000" spc="-1" strike="noStrike">
                <a:solidFill>
                  <a:srgbClr val="000000"/>
                </a:solidFill>
                <a:latin typeface="Arial"/>
              </a:rPr>
              <a:t>CBF</a:t>
            </a:r>
            <a:r>
              <a:rPr b="0" lang="zh-CN" sz="2000" spc="-1" strike="noStrike">
                <a:solidFill>
                  <a:srgbClr val="000000"/>
                </a:solidFill>
                <a:latin typeface="Arial"/>
              </a:rPr>
              <a:t>。成功子段要留影片，完整流程另外用同一趟連續紀錄驗證，不拼接不同版本。對外部文獻的同平台效能比較若要主張優越，還需另外設計；這是論文定稿證據缺口，不作為現在整趟整合的額外前置。</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reviews/20261027_howard_confirmed_plan.md</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第七次進度報告簡報</a:t>
            </a:r>
            <a:r>
              <a:rPr b="0" lang="en-US" sz="2000" spc="-1" strike="noStrike">
                <a:solidFill>
                  <a:srgbClr val="000000"/>
                </a:solidFill>
                <a:latin typeface="Arial"/>
              </a:rPr>
              <a:t>/</a:t>
            </a:r>
            <a:r>
              <a:rPr b="0" lang="zh-CN" sz="2000" spc="-1" strike="noStrike">
                <a:solidFill>
                  <a:srgbClr val="000000"/>
                </a:solidFill>
                <a:latin typeface="Arial"/>
              </a:rPr>
              <a:t>文獻差異與改善證據</a:t>
            </a:r>
            <a:r>
              <a:rPr b="0" lang="en-US" sz="2000" spc="-1" strike="noStrike">
                <a:solidFill>
                  <a:srgbClr val="000000"/>
                </a:solidFill>
                <a:latin typeface="Arial"/>
              </a:rPr>
              <a:t>_v2.md</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216000" y="812520"/>
            <a:ext cx="7127280" cy="4008960"/>
          </a:xfrm>
          <a:prstGeom prst="rect">
            <a:avLst/>
          </a:prstGeom>
          <a:ln w="0">
            <a:noFill/>
          </a:ln>
        </p:spPr>
      </p:sp>
      <p:sp>
        <p:nvSpPr>
          <p:cNvPr id="4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最新換抓名目模型承接實錄的實測關節、設定點、套用命令和偏移。新抓法沿內側橫桿軸轉三十度；參考與控制同時修訂後，走到內側保持，實際模型狀態的取樣 </a:t>
            </a:r>
            <a:r>
              <a:rPr b="0" lang="en-US" sz="2000" spc="-1" strike="noStrike">
                <a:solidFill>
                  <a:srgbClr val="000000"/>
                </a:solidFill>
                <a:latin typeface="Arial"/>
              </a:rPr>
              <a:t>stop </a:t>
            </a:r>
            <a:r>
              <a:rPr b="0" lang="zh-CN" sz="2000" spc="-1" strike="noStrike">
                <a:solidFill>
                  <a:srgbClr val="000000"/>
                </a:solidFill>
                <a:latin typeface="Arial"/>
              </a:rPr>
              <a:t>和 </a:t>
            </a:r>
            <a:r>
              <a:rPr b="0" lang="en-US" sz="2000" spc="-1" strike="noStrike">
                <a:solidFill>
                  <a:srgbClr val="000000"/>
                </a:solidFill>
                <a:latin typeface="Arial"/>
              </a:rPr>
              <a:t>warn </a:t>
            </a:r>
            <a:r>
              <a:rPr b="0" lang="zh-CN" sz="2000" spc="-1" strike="noStrike">
                <a:solidFill>
                  <a:srgbClr val="000000"/>
                </a:solidFill>
                <a:latin typeface="Arial"/>
              </a:rPr>
              <a:t>為零。收臂仍有一百二十毫米 </a:t>
            </a:r>
            <a:r>
              <a:rPr b="0" lang="en-US" sz="2000" spc="-1" strike="noStrike">
                <a:solidFill>
                  <a:srgbClr val="000000"/>
                </a:solidFill>
                <a:latin typeface="Arial"/>
              </a:rPr>
              <a:t>TCP </a:t>
            </a:r>
            <a:r>
              <a:rPr b="0" lang="zh-CN" sz="2000" spc="-1" strike="noStrike">
                <a:solidFill>
                  <a:srgbClr val="000000"/>
                </a:solidFill>
                <a:latin typeface="Arial"/>
              </a:rPr>
              <a:t>落後及關節飽和，固定零點二九秒規劃壓力的自碰診斷未過。這不是力確認，也不包含通過拉關。整合進度以 </a:t>
            </a:r>
            <a:r>
              <a:rPr b="0" lang="en-US" sz="2000" spc="-1" strike="noStrike">
                <a:solidFill>
                  <a:srgbClr val="000000"/>
                </a:solidFill>
                <a:latin typeface="Arial"/>
              </a:rPr>
              <a:t>r66 </a:t>
            </a:r>
            <a:r>
              <a:rPr b="0" lang="zh-CN" sz="2000" spc="-1" strike="noStrike">
                <a:solidFill>
                  <a:srgbClr val="000000"/>
                </a:solidFill>
                <a:latin typeface="Arial"/>
              </a:rPr>
              <a:t>為快照，不以未完成的真節點聯測冒充實跑。</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evaluation/results/door/door_regrasp_ref_v4_wgmpc_v2.json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evaluation/results/door/door_regrasp_ref_v4.json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reviews/20261028_152918_request.md</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216000" y="812520"/>
            <a:ext cx="7127280" cy="4008960"/>
          </a:xfrm>
          <a:prstGeom prst="rect">
            <a:avLst/>
          </a:prstGeom>
          <a:ln w="0">
            <a:noFill/>
          </a:ln>
        </p:spPr>
      </p:sp>
      <p:sp>
        <p:nvSpPr>
          <p:cNvPr id="41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視覺支線先做到限定預抓取。相對鎖定目標到位誤差一點八三毫米，保持零點五一秒；但對真值的 </a:t>
            </a:r>
            <a:r>
              <a:rPr b="0" lang="en-US" sz="2000" spc="-1" strike="noStrike">
                <a:solidFill>
                  <a:srgbClr val="000000"/>
                </a:solidFill>
                <a:latin typeface="Arial"/>
              </a:rPr>
              <a:t>TCP </a:t>
            </a:r>
            <a:r>
              <a:rPr b="0" lang="zh-CN" sz="2000" spc="-1" strike="noStrike">
                <a:solidFill>
                  <a:srgbClr val="000000"/>
                </a:solidFill>
                <a:latin typeface="Arial"/>
              </a:rPr>
              <a:t>誤差約三點九九毫米。這說明控制到位不能代替目標幾何正確。像素中心契約的候選版，在八十二格共同工具目標上，接近軸絕對誤差中位由一點三六降到零點九七毫米，但仍有變差影格，抓取放行誤差界尚未建立。這不是本期已做完視覺抓取或泛化的證據。</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規格</a:t>
            </a:r>
            <a:r>
              <a:rPr b="0" lang="en-US" sz="2000" spc="-1" strike="noStrike">
                <a:solidFill>
                  <a:srgbClr val="000000"/>
                </a:solidFill>
                <a:latin typeface="Arial"/>
              </a:rPr>
              <a:t>/DL3_run_result.yaml</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第七次進度報告素材</a:t>
            </a:r>
            <a:r>
              <a:rPr b="0" lang="en-US" sz="2000" spc="-1" strike="noStrike">
                <a:solidFill>
                  <a:srgbClr val="000000"/>
                </a:solidFill>
                <a:latin typeface="Arial"/>
              </a:rPr>
              <a:t>/</a:t>
            </a:r>
            <a:r>
              <a:rPr b="0" lang="zh-CN" sz="2000" spc="-1" strike="noStrike">
                <a:solidFill>
                  <a:srgbClr val="000000"/>
                </a:solidFill>
                <a:latin typeface="Arial"/>
              </a:rPr>
              <a:t>規格</a:t>
            </a:r>
            <a:r>
              <a:rPr b="0" lang="en-US" sz="2000" spc="-1" strike="noStrike">
                <a:solidFill>
                  <a:srgbClr val="000000"/>
                </a:solidFill>
                <a:latin typeface="Arial"/>
              </a:rPr>
              <a:t>/PC2_result.yaml</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216000" y="812520"/>
            <a:ext cx="7127280" cy="4008960"/>
          </a:xfrm>
          <a:prstGeom prst="rect">
            <a:avLst/>
          </a:prstGeom>
          <a:ln w="0">
            <a:noFill/>
          </a:ln>
        </p:spPr>
      </p:sp>
      <p:sp>
        <p:nvSpPr>
          <p:cNvPr id="414" name="PlaceHolder 2"/>
          <p:cNvSpPr>
            <a:spLocks noGrp="1"/>
          </p:cNvSpPr>
          <p:nvPr>
            <p:ph type="body"/>
          </p:nvPr>
        </p:nvSpPr>
        <p:spPr>
          <a:xfrm>
            <a:off x="756000" y="5078520"/>
            <a:ext cx="6047640" cy="6236640"/>
          </a:xfrm>
          <a:prstGeom prst="rect">
            <a:avLst/>
          </a:prstGeom>
          <a:noFill/>
          <a:ln w="0">
            <a:noFill/>
          </a:ln>
        </p:spPr>
        <p:txBody>
          <a:bodyPr lIns="0" rIns="0" tIns="0" bIns="0" anchor="t">
            <a:noAutofit/>
          </a:bodyPr>
          <a:p>
            <a:pPr marL="216000" indent="-216000">
              <a:buNone/>
            </a:pPr>
            <a:r>
              <a:rPr b="0" lang="zh-CN" sz="2000" spc="-1" strike="noStrike">
                <a:solidFill>
                  <a:srgbClr val="000000"/>
                </a:solidFill>
                <a:latin typeface="Arial"/>
              </a:rPr>
              <a:t>文獻表用來定位問題與方法，不是用不同平台報告的成功率作比較。主要三篇為 </a:t>
            </a:r>
            <a:r>
              <a:rPr b="0" lang="en-US" sz="2000" spc="-1" strike="noStrike">
                <a:solidFill>
                  <a:srgbClr val="000000"/>
                </a:solidFill>
                <a:latin typeface="Arial"/>
              </a:rPr>
              <a:t>Wang </a:t>
            </a:r>
            <a:r>
              <a:rPr b="0" lang="zh-CN" sz="2000" spc="-1" strike="noStrike">
                <a:solidFill>
                  <a:srgbClr val="000000"/>
                </a:solidFill>
                <a:latin typeface="Arial"/>
              </a:rPr>
              <a:t>的全身優先序轉換、</a:t>
            </a:r>
            <a:r>
              <a:rPr b="0" lang="en-US" sz="2000" spc="-1" strike="noStrike">
                <a:solidFill>
                  <a:srgbClr val="000000"/>
                </a:solidFill>
                <a:latin typeface="Arial"/>
              </a:rPr>
              <a:t>Sinaei </a:t>
            </a:r>
            <a:r>
              <a:rPr b="0" lang="zh-CN" sz="2000" spc="-1" strike="noStrike">
                <a:solidFill>
                  <a:srgbClr val="000000"/>
                </a:solidFill>
                <a:latin typeface="Arial"/>
              </a:rPr>
              <a:t>的耦合門通行規劃、</a:t>
            </a:r>
            <a:r>
              <a:rPr b="0" lang="en-US" sz="2000" spc="-1" strike="noStrike">
                <a:solidFill>
                  <a:srgbClr val="000000"/>
                </a:solidFill>
                <a:latin typeface="Arial"/>
              </a:rPr>
              <a:t>Du </a:t>
            </a:r>
            <a:r>
              <a:rPr b="0" lang="zh-CN" sz="2000" spc="-1" strike="noStrike">
                <a:solidFill>
                  <a:srgbClr val="000000"/>
                </a:solidFill>
                <a:latin typeface="Arial"/>
              </a:rPr>
              <a:t>的混合介面雙層 </a:t>
            </a:r>
            <a:r>
              <a:rPr b="0" lang="en-US" sz="2000" spc="-1" strike="noStrike">
                <a:solidFill>
                  <a:srgbClr val="000000"/>
                </a:solidFill>
                <a:latin typeface="Arial"/>
              </a:rPr>
              <a:t>MPC</a:t>
            </a:r>
            <a:r>
              <a:rPr b="0" lang="zh-CN" sz="2000" spc="-1" strike="noStrike">
                <a:solidFill>
                  <a:srgbClr val="000000"/>
                </a:solidFill>
                <a:latin typeface="Arial"/>
              </a:rPr>
              <a:t>。</a:t>
            </a:r>
            <a:r>
              <a:rPr b="0" lang="en-US" sz="2000" spc="-1" strike="noStrike">
                <a:solidFill>
                  <a:srgbClr val="000000"/>
                </a:solidFill>
                <a:latin typeface="Arial"/>
              </a:rPr>
              <a:t>Jang </a:t>
            </a:r>
            <a:r>
              <a:rPr b="0" lang="zh-CN" sz="2000" spc="-1" strike="noStrike">
                <a:solidFill>
                  <a:srgbClr val="000000"/>
                </a:solidFill>
                <a:latin typeface="Arial"/>
              </a:rPr>
              <a:t>用來確認門開關通行已有人做，</a:t>
            </a:r>
            <a:r>
              <a:rPr b="0" lang="en-US" sz="2000" spc="-1" strike="noStrike">
                <a:solidFill>
                  <a:srgbClr val="000000"/>
                </a:solidFill>
                <a:latin typeface="Arial"/>
              </a:rPr>
              <a:t>Minniti </a:t>
            </a:r>
            <a:r>
              <a:rPr b="0" lang="zh-CN" sz="2000" spc="-1" strike="noStrike">
                <a:solidFill>
                  <a:srgbClr val="000000"/>
                </a:solidFill>
                <a:latin typeface="Arial"/>
              </a:rPr>
              <a:t>說明互動模型自適應不是新概念，</a:t>
            </a:r>
            <a:r>
              <a:rPr b="0" lang="en-US" sz="2000" spc="-1" strike="noStrike">
                <a:solidFill>
                  <a:srgbClr val="000000"/>
                </a:solidFill>
                <a:latin typeface="Arial"/>
              </a:rPr>
              <a:t>Tang </a:t>
            </a:r>
            <a:r>
              <a:rPr b="0" lang="zh-CN" sz="2000" spc="-1" strike="noStrike">
                <a:solidFill>
                  <a:srgbClr val="000000"/>
                </a:solidFill>
                <a:latin typeface="Arial"/>
              </a:rPr>
              <a:t>則是導航 </a:t>
            </a:r>
            <a:r>
              <a:rPr b="0" lang="en-US" sz="2000" spc="-1" strike="noStrike">
                <a:solidFill>
                  <a:srgbClr val="000000"/>
                </a:solidFill>
                <a:latin typeface="Arial"/>
              </a:rPr>
              <a:t>GMPC </a:t>
            </a:r>
            <a:r>
              <a:rPr b="0" lang="zh-CN" sz="2000" spc="-1" strike="noStrike">
                <a:solidFill>
                  <a:srgbClr val="000000"/>
                </a:solidFill>
                <a:latin typeface="Arial"/>
              </a:rPr>
              <a:t>的方法來源。</a:t>
            </a:r>
            <a:r>
              <a:rPr b="0" lang="en-US" sz="2000" spc="-1" strike="noStrike">
                <a:solidFill>
                  <a:srgbClr val="000000"/>
                </a:solidFill>
                <a:latin typeface="Arial"/>
              </a:rPr>
              <a:t>Du </a:t>
            </a:r>
            <a:r>
              <a:rPr b="0" lang="zh-CN" sz="2000" spc="-1" strike="noStrike">
                <a:solidFill>
                  <a:srgbClr val="000000"/>
                </a:solidFill>
                <a:latin typeface="Arial"/>
              </a:rPr>
              <a:t>這裡比較二零二四年 </a:t>
            </a:r>
            <a:r>
              <a:rPr b="0" lang="en-US" sz="2000" spc="-1" strike="noStrike">
                <a:solidFill>
                  <a:srgbClr val="000000"/>
                </a:solidFill>
                <a:latin typeface="Arial"/>
              </a:rPr>
              <a:t>v1</a:t>
            </a:r>
            <a:r>
              <a:rPr b="0" lang="zh-CN" sz="2000" spc="-1" strike="noStrike">
                <a:solidFill>
                  <a:srgbClr val="000000"/>
                </a:solidFill>
                <a:latin typeface="Arial"/>
              </a:rPr>
              <a:t>，已知另有二零二六年期刊版本，不混用其數字。</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來源：</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https://wbmpc.github.io/static/pdfs/paper.pdf</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https://arxiv.org/html/2608.00206v1</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https://arxiv.org/html/2410.22910v1</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https://khu.elsevierpure.com/en/publications/motion-planning-of-mobile-manipulator-for-navigation-including-do/</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https://arxiv.org/abs/2106.04202</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https://arxiv.org/abs/2403.07317</a:t>
            </a:r>
            <a:endParaRPr b="0" lang="en-US" sz="2000" spc="-1" strike="noStrike">
              <a:solidFill>
                <a:srgbClr val="000000"/>
              </a:solidFill>
              <a:latin typeface="Arial"/>
            </a:endParaRPr>
          </a:p>
          <a:p>
            <a:pPr marL="216000" indent="-216000">
              <a:buNone/>
            </a:pPr>
            <a:r>
              <a:rPr b="0" lang="zh-CN" sz="2000" spc="-1" strike="noStrike">
                <a:solidFill>
                  <a:srgbClr val="000000"/>
                </a:solidFill>
                <a:latin typeface="Arial"/>
              </a:rPr>
              <a:t>第七次進度報告簡報</a:t>
            </a:r>
            <a:r>
              <a:rPr b="0" lang="en-US" sz="2000" spc="-1" strike="noStrike">
                <a:solidFill>
                  <a:srgbClr val="000000"/>
                </a:solidFill>
                <a:latin typeface="Arial"/>
              </a:rPr>
              <a:t>/</a:t>
            </a:r>
            <a:r>
              <a:rPr b="0" lang="zh-CN" sz="2000" spc="-1" strike="noStrike">
                <a:solidFill>
                  <a:srgbClr val="000000"/>
                </a:solidFill>
                <a:latin typeface="Arial"/>
              </a:rPr>
              <a:t>文獻差異與改善證據</a:t>
            </a:r>
            <a:r>
              <a:rPr b="0" lang="en-US" sz="2000" spc="-1" strike="noStrike">
                <a:solidFill>
                  <a:srgbClr val="000000"/>
                </a:solidFill>
                <a:latin typeface="Arial"/>
              </a:rPr>
              <a:t>_v2.md</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70CD0E1-7C32-4C45-BEE0-0195A8EFFBA3}"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AF1B7D8-62E9-43DE-B6B3-AD68E8F6F84F}"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fld id="{2C73A42D-EA45-439D-8B72-6067E5EBACC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file:///home/howardchen/masterthesis/&#31532;&#20845;&#27425;&#36914;&#24230;&#22577;&#21578;&#32032;&#26448;/&#24433;&#29255;/05_MotM&#25277;&#23644;&#38283;&#38364;_&#20840;&#26223;_3&#20493;&#36895;.mp4" TargetMode="External"/><Relationship Id="rId3" Type="http://schemas.openxmlformats.org/officeDocument/2006/relationships/slideLayout" Target="../slideLayouts/slideLayout1.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hyperlink" Target="file:///home/howardchen/masterthesis/&#31532;&#19971;&#27425;&#36914;&#24230;&#22577;&#21578;&#32032;&#26448;/&#24433;&#29255;/door_wide_w1f_60_3_&#22823;&#35282;&#24230;&#21332;&#21516;&#38283;&#38272;60&#24230;&#32000;&#37636;&#20462;&#27491;&#39511;&#35657;_&#38283;&#33267;&#32004;60&#24230;&#20006;&#23436;&#25104;&#21463;&#25511;&#26283;&#20572;_&#25104;&#21151;_&#20596;&#35222;_&#23526;&#37636;&#37325;&#25773;.mp4" TargetMode="External"/><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hyperlink" Target="file:///home/howardchen/masterthesis/&#31532;&#19971;&#27425;&#36914;&#24230;&#22577;&#21578;&#32032;&#26448;/&#24433;&#29255;/door_coopen_core_bench_6_&#32350;&#32227;&#25345;&#25569;&#37002;&#38283;&#38272;&#37002;&#24448;&#20986;&#21475;&#32350;_&#32879;&#21512;&#37197;&#32622;&#38283;&#33267;&#32004;48&#24230;&#20006;&#36208;&#23436;&#26283;&#20572;&#33287;&#20572;&#27490;&#35264;&#23519;_&#21028;&#23450;&#22120;&#19981;&#36890;&#36942;_&#22833;&#25943;_&#20596;&#35222;_&#23526;&#37636;&#37325;&#25773;.mp4" TargetMode="External"/><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hyperlink" Target="https://wbmpc.github.io/static/pdfs/paper.pdf" TargetMode="External"/><Relationship Id="rId2" Type="http://schemas.openxmlformats.org/officeDocument/2006/relationships/hyperlink" Target="https://arxiv.org/html/2608.00206v1" TargetMode="External"/><Relationship Id="rId3" Type="http://schemas.openxmlformats.org/officeDocument/2006/relationships/hyperlink" Target="https://arxiv.org/html/2410.22910v1" TargetMode="External"/><Relationship Id="rId4" Type="http://schemas.openxmlformats.org/officeDocument/2006/relationships/hyperlink" Target="https://khu.elsevierpure.com/en/publications/motion-planning-of-mobile-manipulator-for-navigation-including-do/" TargetMode="External"/><Relationship Id="rId5" Type="http://schemas.openxmlformats.org/officeDocument/2006/relationships/hyperlink" Target="https://arxiv.org/abs/2106.04202" TargetMode="External"/><Relationship Id="rId6" Type="http://schemas.openxmlformats.org/officeDocument/2006/relationships/hyperlink" Target="https://arxiv.org/abs/2403.07317" TargetMode="External"/><Relationship Id="rId7" Type="http://schemas.openxmlformats.org/officeDocument/2006/relationships/slideLayout" Target="../slideLayouts/slideLayout1.xml"/><Relationship Id="rId8"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
          <p:cNvSpPr txBox="1"/>
          <p:nvPr/>
        </p:nvSpPr>
        <p:spPr>
          <a:xfrm>
            <a:off x="450000" y="169200"/>
            <a:ext cx="10080000" cy="275040"/>
          </a:xfrm>
          <a:prstGeom prst="rect">
            <a:avLst/>
          </a:prstGeom>
          <a:noFill/>
          <a:ln w="0">
            <a:noFill/>
          </a:ln>
        </p:spPr>
        <p:txBody>
          <a:bodyPr lIns="43200" rIns="43200" tIns="36000" bIns="36000" anchor="t">
            <a:noAutofit/>
          </a:bodyPr>
          <a:p>
            <a:r>
              <a:rPr b="1" lang="zh-CN" sz="1100" spc="-1" strike="noStrike">
                <a:solidFill>
                  <a:srgbClr val="2f75b5"/>
                </a:solidFill>
                <a:latin typeface="Noto Sans CJK TC"/>
              </a:rPr>
              <a:t>第七次進度報告 </a:t>
            </a:r>
            <a:r>
              <a:rPr b="1" lang="en-US" sz="1100" spc="-1" strike="noStrike">
                <a:solidFill>
                  <a:srgbClr val="2f75b5"/>
                </a:solidFill>
                <a:latin typeface="Noto Sans CJK TC"/>
              </a:rPr>
              <a:t>/ </a:t>
            </a:r>
            <a:r>
              <a:rPr b="1" lang="zh-CN" sz="1100" spc="-1" strike="noStrike">
                <a:solidFill>
                  <a:srgbClr val="2f75b5"/>
                </a:solidFill>
                <a:latin typeface="Noto Sans CJK TC"/>
              </a:rPr>
              <a:t>研究進展</a:t>
            </a:r>
            <a:endParaRPr b="1" lang="en-US" sz="1100" spc="-1" strike="noStrike">
              <a:solidFill>
                <a:srgbClr val="2f75b5"/>
              </a:solidFill>
              <a:latin typeface="Noto Sans CJK TC"/>
              <a:ea typeface="Noto Sans CJK TC"/>
            </a:endParaRPr>
          </a:p>
        </p:txBody>
      </p:sp>
      <p:sp>
        <p:nvSpPr>
          <p:cNvPr id="14" name=""/>
          <p:cNvSpPr txBox="1"/>
          <p:nvPr/>
        </p:nvSpPr>
        <p:spPr>
          <a:xfrm>
            <a:off x="450000" y="410400"/>
            <a:ext cx="11268000" cy="109980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由抽屜操作到門通行：</a:t>
            </a:r>
            <a:endParaRPr b="1" lang="en-US" sz="2800" spc="-1" strike="noStrike">
              <a:solidFill>
                <a:srgbClr val="17365d"/>
              </a:solidFill>
              <a:latin typeface="Noto Sans CJK TC"/>
              <a:ea typeface="Noto Sans CJK TC"/>
            </a:endParaRPr>
          </a:p>
          <a:p>
            <a:r>
              <a:rPr b="1" lang="zh-CN" sz="2800" spc="-1" strike="noStrike">
                <a:solidFill>
                  <a:srgbClr val="17365d"/>
                </a:solidFill>
                <a:latin typeface="Noto Sans CJK TC"/>
              </a:rPr>
              <a:t>面向位置伺服介面的全身預測控制</a:t>
            </a:r>
            <a:endParaRPr b="1" lang="en-US" sz="2800" spc="-1" strike="noStrike">
              <a:solidFill>
                <a:srgbClr val="17365d"/>
              </a:solidFill>
              <a:latin typeface="Noto Sans CJK TC"/>
              <a:ea typeface="Noto Sans CJK TC"/>
            </a:endParaRPr>
          </a:p>
        </p:txBody>
      </p:sp>
      <p:sp>
        <p:nvSpPr>
          <p:cNvPr id="15" name=""/>
          <p:cNvSpPr/>
          <p:nvPr/>
        </p:nvSpPr>
        <p:spPr>
          <a:xfrm>
            <a:off x="450000" y="1440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16"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17"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a:t>
            </a:r>
            <a:endParaRPr b="0" lang="en-US" sz="1100" spc="-1" strike="noStrike">
              <a:solidFill>
                <a:srgbClr val="666666"/>
              </a:solidFill>
              <a:latin typeface="Noto Sans CJK TC"/>
              <a:ea typeface="Noto Sans CJK TC"/>
            </a:endParaRPr>
          </a:p>
        </p:txBody>
      </p:sp>
      <p:sp>
        <p:nvSpPr>
          <p:cNvPr id="18" name=""/>
          <p:cNvSpPr txBox="1"/>
          <p:nvPr/>
        </p:nvSpPr>
        <p:spPr>
          <a:xfrm>
            <a:off x="504000" y="1710000"/>
            <a:ext cx="10800000" cy="457920"/>
          </a:xfrm>
          <a:prstGeom prst="rect">
            <a:avLst/>
          </a:prstGeom>
          <a:noFill/>
          <a:ln w="0">
            <a:noFill/>
          </a:ln>
        </p:spPr>
        <p:txBody>
          <a:bodyPr lIns="43200" rIns="43200" tIns="36000" bIns="36000" anchor="t">
            <a:noAutofit/>
          </a:bodyPr>
          <a:p>
            <a:r>
              <a:rPr b="0" lang="zh-CN" sz="2100" spc="-1" strike="noStrike">
                <a:solidFill>
                  <a:srgbClr val="2f75b5"/>
                </a:solidFill>
                <a:latin typeface="Noto Sans CJK TC"/>
              </a:rPr>
              <a:t>動態環境下移動機械臂預測導航與受約束操作</a:t>
            </a:r>
            <a:endParaRPr b="0" lang="en-US" sz="2100" spc="-1" strike="noStrike">
              <a:solidFill>
                <a:srgbClr val="2f75b5"/>
              </a:solidFill>
              <a:latin typeface="Noto Sans CJK TC"/>
              <a:ea typeface="Noto Sans CJK TC"/>
            </a:endParaRPr>
          </a:p>
        </p:txBody>
      </p:sp>
      <p:sp>
        <p:nvSpPr>
          <p:cNvPr id="19" name=""/>
          <p:cNvSpPr txBox="1"/>
          <p:nvPr/>
        </p:nvSpPr>
        <p:spPr>
          <a:xfrm>
            <a:off x="504000" y="2466000"/>
            <a:ext cx="10692000" cy="1116000"/>
          </a:xfrm>
          <a:prstGeom prst="rect">
            <a:avLst/>
          </a:prstGeom>
          <a:noFill/>
          <a:ln w="0">
            <a:noFill/>
          </a:ln>
        </p:spPr>
        <p:txBody>
          <a:bodyPr lIns="43200" rIns="43200" tIns="36000" bIns="36000" anchor="t">
            <a:noAutofit/>
          </a:bodyPr>
          <a:p>
            <a:r>
              <a:rPr b="1" lang="zh-CN" sz="2600" spc="-1" strike="noStrike">
                <a:solidFill>
                  <a:srgbClr val="17365d"/>
                </a:solidFill>
                <a:latin typeface="Noto Sans CJK TC"/>
              </a:rPr>
              <a:t>上次：協同開關抽屜</a:t>
            </a:r>
            <a:endParaRPr b="1" lang="en-US" sz="2600" spc="-1" strike="noStrike">
              <a:solidFill>
                <a:srgbClr val="17365d"/>
              </a:solidFill>
              <a:latin typeface="Noto Sans CJK TC"/>
              <a:ea typeface="Noto Sans CJK TC"/>
            </a:endParaRPr>
          </a:p>
          <a:p>
            <a:r>
              <a:rPr b="1" lang="zh-CN" sz="2600" spc="-1" strike="noStrike">
                <a:solidFill>
                  <a:srgbClr val="17365d"/>
                </a:solidFill>
                <a:latin typeface="Noto Sans CJK TC"/>
              </a:rPr>
              <a:t>本次：模型更新、鉸鏈操作與換抓承接</a:t>
            </a:r>
            <a:endParaRPr b="1" lang="en-US" sz="2600" spc="-1" strike="noStrike">
              <a:solidFill>
                <a:srgbClr val="17365d"/>
              </a:solidFill>
              <a:latin typeface="Noto Sans CJK TC"/>
              <a:ea typeface="Noto Sans CJK TC"/>
            </a:endParaRPr>
          </a:p>
        </p:txBody>
      </p:sp>
      <p:sp>
        <p:nvSpPr>
          <p:cNvPr id="20" name=""/>
          <p:cNvSpPr txBox="1"/>
          <p:nvPr/>
        </p:nvSpPr>
        <p:spPr>
          <a:xfrm>
            <a:off x="504000" y="4104000"/>
            <a:ext cx="7560000" cy="828000"/>
          </a:xfrm>
          <a:prstGeom prst="rect">
            <a:avLst/>
          </a:prstGeom>
          <a:noFill/>
          <a:ln w="0">
            <a:noFill/>
          </a:ln>
        </p:spPr>
        <p:txBody>
          <a:bodyPr lIns="43200" rIns="43200" tIns="36000" bIns="36000" anchor="t">
            <a:noAutofit/>
          </a:bodyPr>
          <a:p>
            <a:r>
              <a:rPr b="0" lang="zh-CN" sz="2000" spc="-1" strike="noStrike">
                <a:solidFill>
                  <a:srgbClr val="222222"/>
                </a:solidFill>
                <a:latin typeface="Noto Sans CJK TC"/>
              </a:rPr>
              <a:t>報告者：陳文顥</a:t>
            </a:r>
            <a:endParaRPr b="0" lang="en-US" sz="2000" spc="-1" strike="noStrike">
              <a:solidFill>
                <a:srgbClr val="222222"/>
              </a:solidFill>
              <a:latin typeface="Noto Sans CJK TC"/>
              <a:ea typeface="Noto Sans CJK TC"/>
            </a:endParaRPr>
          </a:p>
          <a:p>
            <a:r>
              <a:rPr b="0" lang="zh-CN" sz="2000" spc="-1" strike="noStrike">
                <a:solidFill>
                  <a:srgbClr val="222222"/>
                </a:solidFill>
                <a:latin typeface="Noto Sans CJK TC"/>
              </a:rPr>
              <a:t>指導教授：陳榮順 教授</a:t>
            </a:r>
            <a:endParaRPr b="0" lang="en-US" sz="2000" spc="-1" strike="noStrike">
              <a:solidFill>
                <a:srgbClr val="222222"/>
              </a:solidFill>
              <a:latin typeface="Noto Sans CJK TC"/>
              <a:ea typeface="Noto Sans CJK TC"/>
            </a:endParaRPr>
          </a:p>
        </p:txBody>
      </p:sp>
      <p:sp>
        <p:nvSpPr>
          <p:cNvPr id="21"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2"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17365d"/>
                </a:solidFill>
                <a:latin typeface="Noto Sans CJK TC"/>
              </a:rPr>
              <a:t>報告主軸：解決什麼執行問題 → 和既有方法有何不同 → 目前證據改善了什麼。</a:t>
            </a:r>
            <a:endParaRPr b="1" lang="en-US" sz="1600" spc="-1" strike="noStrike">
              <a:solidFill>
                <a:srgbClr val="17365d"/>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01 / </a:t>
            </a:r>
            <a:r>
              <a:rPr b="1" lang="zh-CN" sz="1100" spc="-1" strike="noStrike">
                <a:solidFill>
                  <a:srgbClr val="2f75b5"/>
                </a:solidFill>
                <a:latin typeface="Noto Sans CJK TC"/>
              </a:rPr>
              <a:t>從第六次成果接續</a:t>
            </a:r>
            <a:endParaRPr b="1" lang="en-US" sz="1100" spc="-1" strike="noStrike">
              <a:solidFill>
                <a:srgbClr val="2f75b5"/>
              </a:solidFill>
              <a:latin typeface="Noto Sans CJK TC"/>
              <a:ea typeface="Noto Sans CJK TC"/>
            </a:endParaRPr>
          </a:p>
        </p:txBody>
      </p:sp>
      <p:sp>
        <p:nvSpPr>
          <p:cNvPr id="24"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上次已完成：</a:t>
            </a:r>
            <a:r>
              <a:rPr b="1" lang="en-US" sz="2800" spc="-1" strike="noStrike">
                <a:solidFill>
                  <a:srgbClr val="17365d"/>
                </a:solidFill>
                <a:latin typeface="Noto Sans CJK TC"/>
              </a:rPr>
              <a:t>W-GMPC </a:t>
            </a:r>
            <a:r>
              <a:rPr b="1" lang="zh-CN" sz="2800" spc="-1" strike="noStrike">
                <a:solidFill>
                  <a:srgbClr val="17365d"/>
                </a:solidFill>
                <a:latin typeface="Noto Sans CJK TC"/>
              </a:rPr>
              <a:t>協同開關抽屜並返回</a:t>
            </a:r>
            <a:endParaRPr b="1" lang="en-US" sz="2800" spc="-1" strike="noStrike">
              <a:solidFill>
                <a:srgbClr val="17365d"/>
              </a:solidFill>
              <a:latin typeface="Noto Sans CJK TC"/>
              <a:ea typeface="Noto Sans CJK TC"/>
            </a:endParaRPr>
          </a:p>
        </p:txBody>
      </p:sp>
      <p:sp>
        <p:nvSpPr>
          <p:cNvPr id="25"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26"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27"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2</a:t>
            </a:r>
            <a:endParaRPr b="0" lang="en-US" sz="1100" spc="-1" strike="noStrike">
              <a:solidFill>
                <a:srgbClr val="666666"/>
              </a:solidFill>
              <a:latin typeface="Noto Sans CJK TC"/>
              <a:ea typeface="Noto Sans CJK TC"/>
            </a:endParaRPr>
          </a:p>
        </p:txBody>
      </p:sp>
      <p:pic>
        <p:nvPicPr>
          <p:cNvPr id="28" name="" descr=""/>
          <p:cNvPicPr/>
          <p:nvPr/>
        </p:nvPicPr>
        <p:blipFill>
          <a:blip r:embed="rId1"/>
          <a:stretch/>
        </p:blipFill>
        <p:spPr>
          <a:xfrm>
            <a:off x="747720" y="1242000"/>
            <a:ext cx="6783840" cy="3816000"/>
          </a:xfrm>
          <a:prstGeom prst="rect">
            <a:avLst/>
          </a:prstGeom>
          <a:ln w="0">
            <a:noFill/>
          </a:ln>
        </p:spPr>
      </p:pic>
      <p:sp>
        <p:nvSpPr>
          <p:cNvPr id="29" name=""/>
          <p:cNvSpPr txBox="1"/>
          <p:nvPr/>
        </p:nvSpPr>
        <p:spPr>
          <a:xfrm>
            <a:off x="8028000" y="1368000"/>
            <a:ext cx="3600000" cy="662040"/>
          </a:xfrm>
          <a:prstGeom prst="rect">
            <a:avLst/>
          </a:prstGeom>
          <a:noFill/>
          <a:ln w="0">
            <a:noFill/>
          </a:ln>
        </p:spPr>
        <p:txBody>
          <a:bodyPr lIns="43200" rIns="43200" tIns="36000" bIns="36000" anchor="t">
            <a:noAutofit/>
          </a:bodyPr>
          <a:p>
            <a:pPr algn="r"/>
            <a:r>
              <a:rPr b="1" lang="en-US" sz="3200" spc="-1" strike="noStrike">
                <a:solidFill>
                  <a:srgbClr val="2f75b5"/>
                </a:solidFill>
                <a:latin typeface="Noto Sans CJK TC"/>
              </a:rPr>
              <a:t>200 mm</a:t>
            </a:r>
            <a:endParaRPr b="1" lang="en-US" sz="3200" spc="-1" strike="noStrike">
              <a:solidFill>
                <a:srgbClr val="2f75b5"/>
              </a:solidFill>
              <a:latin typeface="Noto Sans CJK TC"/>
              <a:ea typeface="Noto Sans CJK TC"/>
            </a:endParaRPr>
          </a:p>
        </p:txBody>
      </p:sp>
      <p:sp>
        <p:nvSpPr>
          <p:cNvPr id="30" name=""/>
          <p:cNvSpPr txBox="1"/>
          <p:nvPr/>
        </p:nvSpPr>
        <p:spPr>
          <a:xfrm>
            <a:off x="8028000" y="1872000"/>
            <a:ext cx="3600000" cy="65772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開啟 → 保持 → 關閉</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解除 → 返回起點</a:t>
            </a:r>
            <a:endParaRPr b="0" lang="en-US" sz="1600" spc="-1" strike="noStrike">
              <a:solidFill>
                <a:srgbClr val="222222"/>
              </a:solidFill>
              <a:latin typeface="Noto Sans CJK TC"/>
              <a:ea typeface="Noto Sans CJK TC"/>
            </a:endParaRPr>
          </a:p>
        </p:txBody>
      </p:sp>
      <p:sp>
        <p:nvSpPr>
          <p:cNvPr id="31" name=""/>
          <p:cNvSpPr txBox="1"/>
          <p:nvPr/>
        </p:nvSpPr>
        <p:spPr>
          <a:xfrm>
            <a:off x="7920000" y="3060000"/>
            <a:ext cx="3744000" cy="662040"/>
          </a:xfrm>
          <a:prstGeom prst="rect">
            <a:avLst/>
          </a:prstGeom>
          <a:noFill/>
          <a:ln w="0">
            <a:noFill/>
          </a:ln>
        </p:spPr>
        <p:txBody>
          <a:bodyPr lIns="43200" rIns="43200" tIns="36000" bIns="36000" anchor="t">
            <a:noAutofit/>
          </a:bodyPr>
          <a:p>
            <a:pPr algn="r"/>
            <a:r>
              <a:rPr b="1" lang="en-US" sz="3200" spc="-1" strike="noStrike">
                <a:solidFill>
                  <a:srgbClr val="287766"/>
                </a:solidFill>
                <a:latin typeface="Noto Sans CJK TC"/>
              </a:rPr>
              <a:t>93.62 → 80.72 s</a:t>
            </a:r>
            <a:endParaRPr b="1" lang="en-US" sz="3200" spc="-1" strike="noStrike">
              <a:solidFill>
                <a:srgbClr val="287766"/>
              </a:solidFill>
              <a:latin typeface="Noto Sans CJK TC"/>
              <a:ea typeface="Noto Sans CJK TC"/>
            </a:endParaRPr>
          </a:p>
        </p:txBody>
      </p:sp>
      <p:sp>
        <p:nvSpPr>
          <p:cNvPr id="32" name=""/>
          <p:cNvSpPr txBox="1"/>
          <p:nvPr/>
        </p:nvSpPr>
        <p:spPr>
          <a:xfrm>
            <a:off x="7920000" y="3564000"/>
            <a:ext cx="3744000" cy="65772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平均完整任務時間</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三對策略比較</a:t>
            </a:r>
            <a:endParaRPr b="0" lang="en-US" sz="1600" spc="-1" strike="noStrike">
              <a:solidFill>
                <a:srgbClr val="222222"/>
              </a:solidFill>
              <a:latin typeface="Noto Sans CJK TC"/>
              <a:ea typeface="Noto Sans CJK TC"/>
            </a:endParaRPr>
          </a:p>
        </p:txBody>
      </p:sp>
      <p:sp>
        <p:nvSpPr>
          <p:cNvPr id="33" name=""/>
          <p:cNvSpPr txBox="1"/>
          <p:nvPr/>
        </p:nvSpPr>
        <p:spPr>
          <a:xfrm>
            <a:off x="522000" y="5112000"/>
            <a:ext cx="10800000" cy="441000"/>
          </a:xfrm>
          <a:prstGeom prst="rect">
            <a:avLst/>
          </a:prstGeom>
          <a:noFill/>
          <a:ln w="0">
            <a:noFill/>
          </a:ln>
        </p:spPr>
        <p:txBody>
          <a:bodyPr lIns="43200" rIns="43200" tIns="36000" bIns="36000" anchor="t">
            <a:noAutofit/>
          </a:bodyPr>
          <a:p>
            <a:r>
              <a:rPr b="1" lang="zh-CN" sz="2000" spc="-1" strike="noStrike">
                <a:solidFill>
                  <a:srgbClr val="287766"/>
                </a:solidFill>
                <a:latin typeface="Noto Sans CJK TC"/>
              </a:rPr>
              <a:t>兩組皆 </a:t>
            </a:r>
            <a:r>
              <a:rPr b="1" lang="en-US" sz="2000" spc="-1" strike="noStrike">
                <a:solidFill>
                  <a:srgbClr val="287766"/>
                </a:solidFill>
                <a:latin typeface="Noto Sans CJK TC"/>
              </a:rPr>
              <a:t>3/3 </a:t>
            </a:r>
            <a:r>
              <a:rPr b="1" lang="zh-CN" sz="2000" spc="-1" strike="noStrike">
                <a:solidFill>
                  <a:srgbClr val="287766"/>
                </a:solidFill>
                <a:latin typeface="Noto Sans CJK TC"/>
              </a:rPr>
              <a:t>通過；逐對時間縮短 </a:t>
            </a:r>
            <a:r>
              <a:rPr b="1" lang="en-US" sz="2000" spc="-1" strike="noStrike">
                <a:solidFill>
                  <a:srgbClr val="287766"/>
                </a:solidFill>
                <a:latin typeface="Noto Sans CJK TC"/>
              </a:rPr>
              <a:t>13.38–14.05%</a:t>
            </a:r>
            <a:r>
              <a:rPr b="1" lang="zh-CN" sz="2000" spc="-1" strike="noStrike">
                <a:solidFill>
                  <a:srgbClr val="287766"/>
                </a:solidFill>
                <a:latin typeface="Noto Sans CJK TC"/>
              </a:rPr>
              <a:t>。</a:t>
            </a:r>
            <a:endParaRPr b="1" lang="en-US" sz="2000" spc="-1" strike="noStrike">
              <a:solidFill>
                <a:srgbClr val="287766"/>
              </a:solidFill>
              <a:latin typeface="Noto Sans CJK TC"/>
              <a:ea typeface="Noto Sans CJK TC"/>
            </a:endParaRPr>
          </a:p>
        </p:txBody>
      </p:sp>
      <p:sp>
        <p:nvSpPr>
          <p:cNvPr id="34" name=""/>
          <p:cNvSpPr txBox="1"/>
          <p:nvPr/>
        </p:nvSpPr>
        <p:spPr>
          <a:xfrm>
            <a:off x="522000" y="5544000"/>
            <a:ext cx="10800000" cy="331560"/>
          </a:xfrm>
          <a:prstGeom prst="rect">
            <a:avLst/>
          </a:prstGeom>
          <a:noFill/>
          <a:ln w="0">
            <a:noFill/>
          </a:ln>
        </p:spPr>
        <p:txBody>
          <a:bodyPr lIns="43200" rIns="43200" tIns="36000" bIns="36000" anchor="t">
            <a:noAutofit/>
          </a:bodyPr>
          <a:p>
            <a:r>
              <a:rPr b="0" lang="zh-CN" sz="1800" spc="-1" strike="noStrike">
                <a:solidFill>
                  <a:srgbClr val="000000"/>
                </a:solidFill>
                <a:latin typeface="Arial"/>
                <a:hlinkClick r:id="rId2"/>
              </a:rPr>
              <a:t>播放上次抽屜流程（3 倍速；示範影片與正式配對批次分開）</a:t>
            </a:r>
            <a:endParaRPr b="0" lang="en-US" sz="1800" spc="-1" strike="noStrike">
              <a:solidFill>
                <a:srgbClr val="000000"/>
              </a:solidFill>
              <a:latin typeface="Arial"/>
            </a:endParaRPr>
          </a:p>
        </p:txBody>
      </p:sp>
      <p:sp>
        <p:nvSpPr>
          <p:cNvPr id="35"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6"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666666"/>
                </a:solidFill>
                <a:latin typeface="Noto Sans CJK TC"/>
              </a:rPr>
              <a:t>前期已證據化的改善：完整策略較快；不是本期新實驗，也不是對外部論文的勝負。</a:t>
            </a:r>
            <a:endParaRPr b="1" lang="en-US" sz="1600" spc="-1" strike="noStrike">
              <a:solidFill>
                <a:srgbClr val="666666"/>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01 / </a:t>
            </a:r>
            <a:r>
              <a:rPr b="1" lang="zh-CN" sz="1100" spc="-1" strike="noStrike">
                <a:solidFill>
                  <a:srgbClr val="2f75b5"/>
                </a:solidFill>
                <a:latin typeface="Noto Sans CJK TC"/>
              </a:rPr>
              <a:t>本期要解決的問題</a:t>
            </a:r>
            <a:endParaRPr b="1" lang="en-US" sz="1100" spc="-1" strike="noStrike">
              <a:solidFill>
                <a:srgbClr val="2f75b5"/>
              </a:solidFill>
              <a:latin typeface="Noto Sans CJK TC"/>
              <a:ea typeface="Noto Sans CJK TC"/>
            </a:endParaRPr>
          </a:p>
        </p:txBody>
      </p:sp>
      <p:sp>
        <p:nvSpPr>
          <p:cNvPr id="38"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接下來的問題：抽屜追得住，不代表門也能操作</a:t>
            </a:r>
            <a:endParaRPr b="1" lang="en-US" sz="2800" spc="-1" strike="noStrike">
              <a:solidFill>
                <a:srgbClr val="17365d"/>
              </a:solidFill>
              <a:latin typeface="Noto Sans CJK TC"/>
              <a:ea typeface="Noto Sans CJK TC"/>
            </a:endParaRPr>
          </a:p>
        </p:txBody>
      </p:sp>
      <p:sp>
        <p:nvSpPr>
          <p:cNvPr id="39"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40"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41"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3</a:t>
            </a:r>
            <a:endParaRPr b="0" lang="en-US" sz="1100" spc="-1" strike="noStrike">
              <a:solidFill>
                <a:srgbClr val="666666"/>
              </a:solidFill>
              <a:latin typeface="Noto Sans CJK TC"/>
              <a:ea typeface="Noto Sans CJK TC"/>
            </a:endParaRPr>
          </a:p>
        </p:txBody>
      </p:sp>
      <p:sp>
        <p:nvSpPr>
          <p:cNvPr id="42" name=""/>
          <p:cNvSpPr/>
          <p:nvPr/>
        </p:nvSpPr>
        <p:spPr>
          <a:xfrm>
            <a:off x="450000" y="1404000"/>
            <a:ext cx="1980000" cy="792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43" name=""/>
          <p:cNvSpPr txBox="1"/>
          <p:nvPr/>
        </p:nvSpPr>
        <p:spPr>
          <a:xfrm>
            <a:off x="522000" y="1486800"/>
            <a:ext cx="1836000" cy="648000"/>
          </a:xfrm>
          <a:prstGeom prst="rect">
            <a:avLst/>
          </a:prstGeom>
          <a:noFill/>
          <a:ln w="0">
            <a:noFill/>
          </a:ln>
        </p:spPr>
        <p:txBody>
          <a:bodyPr lIns="43200" rIns="43200" tIns="36000" bIns="36000" anchor="t">
            <a:noAutofit/>
          </a:bodyPr>
          <a:p>
            <a:endParaRPr b="1" lang="en-US" sz="1700" spc="-1" strike="noStrike">
              <a:solidFill>
                <a:srgbClr val="ffffff"/>
              </a:solidFill>
              <a:latin typeface="Noto Sans CJK TC"/>
              <a:ea typeface="Noto Sans CJK TC"/>
            </a:endParaRPr>
          </a:p>
        </p:txBody>
      </p:sp>
      <p:sp>
        <p:nvSpPr>
          <p:cNvPr id="44" name=""/>
          <p:cNvSpPr/>
          <p:nvPr/>
        </p:nvSpPr>
        <p:spPr>
          <a:xfrm>
            <a:off x="2430000" y="1404000"/>
            <a:ext cx="4212000" cy="792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45" name=""/>
          <p:cNvSpPr txBox="1"/>
          <p:nvPr/>
        </p:nvSpPr>
        <p:spPr>
          <a:xfrm>
            <a:off x="2502000" y="1486800"/>
            <a:ext cx="4068000" cy="648000"/>
          </a:xfrm>
          <a:prstGeom prst="rect">
            <a:avLst/>
          </a:prstGeom>
          <a:noFill/>
          <a:ln w="0">
            <a:noFill/>
          </a:ln>
        </p:spPr>
        <p:txBody>
          <a:bodyPr lIns="43200" rIns="43200" tIns="36000" bIns="36000" anchor="t">
            <a:noAutofit/>
          </a:bodyPr>
          <a:p>
            <a:r>
              <a:rPr b="1" lang="zh-CN" sz="1700" spc="-1" strike="noStrike">
                <a:solidFill>
                  <a:srgbClr val="ffffff"/>
                </a:solidFill>
                <a:latin typeface="Noto Sans CJK TC"/>
              </a:rPr>
              <a:t>抽屜：前期已完成</a:t>
            </a:r>
            <a:endParaRPr b="1" lang="en-US" sz="1700" spc="-1" strike="noStrike">
              <a:solidFill>
                <a:srgbClr val="ffffff"/>
              </a:solidFill>
              <a:latin typeface="Noto Sans CJK TC"/>
              <a:ea typeface="Noto Sans CJK TC"/>
            </a:endParaRPr>
          </a:p>
        </p:txBody>
      </p:sp>
      <p:sp>
        <p:nvSpPr>
          <p:cNvPr id="46" name=""/>
          <p:cNvSpPr/>
          <p:nvPr/>
        </p:nvSpPr>
        <p:spPr>
          <a:xfrm>
            <a:off x="6642000" y="1404000"/>
            <a:ext cx="5076000" cy="792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47" name=""/>
          <p:cNvSpPr txBox="1"/>
          <p:nvPr/>
        </p:nvSpPr>
        <p:spPr>
          <a:xfrm>
            <a:off x="6714000" y="1486800"/>
            <a:ext cx="4932000" cy="648000"/>
          </a:xfrm>
          <a:prstGeom prst="rect">
            <a:avLst/>
          </a:prstGeom>
          <a:noFill/>
          <a:ln w="0">
            <a:noFill/>
          </a:ln>
        </p:spPr>
        <p:txBody>
          <a:bodyPr lIns="43200" rIns="43200" tIns="36000" bIns="36000" anchor="t">
            <a:noAutofit/>
          </a:bodyPr>
          <a:p>
            <a:r>
              <a:rPr b="1" lang="zh-CN" sz="1700" spc="-1" strike="noStrike">
                <a:solidFill>
                  <a:srgbClr val="ffffff"/>
                </a:solidFill>
                <a:latin typeface="Noto Sans CJK TC"/>
              </a:rPr>
              <a:t>門：本期新增問題</a:t>
            </a:r>
            <a:endParaRPr b="1" lang="en-US" sz="1700" spc="-1" strike="noStrike">
              <a:solidFill>
                <a:srgbClr val="ffffff"/>
              </a:solidFill>
              <a:latin typeface="Noto Sans CJK TC"/>
              <a:ea typeface="Noto Sans CJK TC"/>
            </a:endParaRPr>
          </a:p>
        </p:txBody>
      </p:sp>
      <p:sp>
        <p:nvSpPr>
          <p:cNvPr id="48" name=""/>
          <p:cNvSpPr/>
          <p:nvPr/>
        </p:nvSpPr>
        <p:spPr>
          <a:xfrm>
            <a:off x="450000" y="2196000"/>
            <a:ext cx="1980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49" name=""/>
          <p:cNvSpPr txBox="1"/>
          <p:nvPr/>
        </p:nvSpPr>
        <p:spPr>
          <a:xfrm>
            <a:off x="522000" y="2278800"/>
            <a:ext cx="1836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機構與目標</a:t>
            </a:r>
            <a:endParaRPr b="0" lang="en-US" sz="1700" spc="-1" strike="noStrike">
              <a:solidFill>
                <a:srgbClr val="222222"/>
              </a:solidFill>
              <a:latin typeface="Noto Sans CJK TC"/>
              <a:ea typeface="Noto Sans CJK TC"/>
            </a:endParaRPr>
          </a:p>
        </p:txBody>
      </p:sp>
      <p:sp>
        <p:nvSpPr>
          <p:cNvPr id="50" name=""/>
          <p:cNvSpPr/>
          <p:nvPr/>
        </p:nvSpPr>
        <p:spPr>
          <a:xfrm>
            <a:off x="2430000" y="2196000"/>
            <a:ext cx="4212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51" name=""/>
          <p:cNvSpPr txBox="1"/>
          <p:nvPr/>
        </p:nvSpPr>
        <p:spPr>
          <a:xfrm>
            <a:off x="2502000" y="2278800"/>
            <a:ext cx="4068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沿滑軌平移；方向較固定</a:t>
            </a:r>
            <a:endParaRPr b="0" lang="en-US" sz="1700" spc="-1" strike="noStrike">
              <a:solidFill>
                <a:srgbClr val="222222"/>
              </a:solidFill>
              <a:latin typeface="Noto Sans CJK TC"/>
              <a:ea typeface="Noto Sans CJK TC"/>
            </a:endParaRPr>
          </a:p>
        </p:txBody>
      </p:sp>
      <p:sp>
        <p:nvSpPr>
          <p:cNvPr id="52" name=""/>
          <p:cNvSpPr/>
          <p:nvPr/>
        </p:nvSpPr>
        <p:spPr>
          <a:xfrm>
            <a:off x="6642000" y="2196000"/>
            <a:ext cx="5076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53" name=""/>
          <p:cNvSpPr txBox="1"/>
          <p:nvPr/>
        </p:nvSpPr>
        <p:spPr>
          <a:xfrm>
            <a:off x="6714000" y="2278800"/>
            <a:ext cx="4932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鉸鏈旋轉；位置與姿態一起改變</a:t>
            </a:r>
            <a:endParaRPr b="0" lang="en-US" sz="1700" spc="-1" strike="noStrike">
              <a:solidFill>
                <a:srgbClr val="222222"/>
              </a:solidFill>
              <a:latin typeface="Noto Sans CJK TC"/>
              <a:ea typeface="Noto Sans CJK TC"/>
            </a:endParaRPr>
          </a:p>
        </p:txBody>
      </p:sp>
      <p:sp>
        <p:nvSpPr>
          <p:cNvPr id="54" name=""/>
          <p:cNvSpPr/>
          <p:nvPr/>
        </p:nvSpPr>
        <p:spPr>
          <a:xfrm>
            <a:off x="450000" y="2988000"/>
            <a:ext cx="1980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55" name=""/>
          <p:cNvSpPr txBox="1"/>
          <p:nvPr/>
        </p:nvSpPr>
        <p:spPr>
          <a:xfrm>
            <a:off x="522000" y="3070800"/>
            <a:ext cx="1836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全身構型</a:t>
            </a:r>
            <a:endParaRPr b="0" lang="en-US" sz="1700" spc="-1" strike="noStrike">
              <a:solidFill>
                <a:srgbClr val="222222"/>
              </a:solidFill>
              <a:latin typeface="Noto Sans CJK TC"/>
              <a:ea typeface="Noto Sans CJK TC"/>
            </a:endParaRPr>
          </a:p>
        </p:txBody>
      </p:sp>
      <p:sp>
        <p:nvSpPr>
          <p:cNvPr id="56" name=""/>
          <p:cNvSpPr/>
          <p:nvPr/>
        </p:nvSpPr>
        <p:spPr>
          <a:xfrm>
            <a:off x="2430000" y="2988000"/>
            <a:ext cx="4212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57" name=""/>
          <p:cNvSpPr txBox="1"/>
          <p:nvPr/>
        </p:nvSpPr>
        <p:spPr>
          <a:xfrm>
            <a:off x="2502000" y="3070800"/>
            <a:ext cx="4068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在既定操作區協同開關</a:t>
            </a:r>
            <a:endParaRPr b="0" lang="en-US" sz="1700" spc="-1" strike="noStrike">
              <a:solidFill>
                <a:srgbClr val="222222"/>
              </a:solidFill>
              <a:latin typeface="Noto Sans CJK TC"/>
              <a:ea typeface="Noto Sans CJK TC"/>
            </a:endParaRPr>
          </a:p>
        </p:txBody>
      </p:sp>
      <p:sp>
        <p:nvSpPr>
          <p:cNvPr id="58" name=""/>
          <p:cNvSpPr/>
          <p:nvPr/>
        </p:nvSpPr>
        <p:spPr>
          <a:xfrm>
            <a:off x="6642000" y="2988000"/>
            <a:ext cx="5076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59" name=""/>
          <p:cNvSpPr txBox="1"/>
          <p:nvPr/>
        </p:nvSpPr>
        <p:spPr>
          <a:xfrm>
            <a:off x="6714000" y="3070800"/>
            <a:ext cx="4932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底盤繞門，手臂可達與自碰更敏感</a:t>
            </a:r>
            <a:endParaRPr b="0" lang="en-US" sz="1700" spc="-1" strike="noStrike">
              <a:solidFill>
                <a:srgbClr val="222222"/>
              </a:solidFill>
              <a:latin typeface="Noto Sans CJK TC"/>
              <a:ea typeface="Noto Sans CJK TC"/>
            </a:endParaRPr>
          </a:p>
        </p:txBody>
      </p:sp>
      <p:sp>
        <p:nvSpPr>
          <p:cNvPr id="60" name=""/>
          <p:cNvSpPr/>
          <p:nvPr/>
        </p:nvSpPr>
        <p:spPr>
          <a:xfrm>
            <a:off x="450000" y="3780000"/>
            <a:ext cx="1980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61" name=""/>
          <p:cNvSpPr txBox="1"/>
          <p:nvPr/>
        </p:nvSpPr>
        <p:spPr>
          <a:xfrm>
            <a:off x="522000" y="3862800"/>
            <a:ext cx="1836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模型落差</a:t>
            </a:r>
            <a:endParaRPr b="0" lang="en-US" sz="1700" spc="-1" strike="noStrike">
              <a:solidFill>
                <a:srgbClr val="222222"/>
              </a:solidFill>
              <a:latin typeface="Noto Sans CJK TC"/>
              <a:ea typeface="Noto Sans CJK TC"/>
            </a:endParaRPr>
          </a:p>
        </p:txBody>
      </p:sp>
      <p:sp>
        <p:nvSpPr>
          <p:cNvPr id="62" name=""/>
          <p:cNvSpPr/>
          <p:nvPr/>
        </p:nvSpPr>
        <p:spPr>
          <a:xfrm>
            <a:off x="2430000" y="3780000"/>
            <a:ext cx="4212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63" name=""/>
          <p:cNvSpPr txBox="1"/>
          <p:nvPr/>
        </p:nvSpPr>
        <p:spPr>
          <a:xfrm>
            <a:off x="2502000" y="3862800"/>
            <a:ext cx="4068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設定點追蹤與偏移補償</a:t>
            </a:r>
            <a:endParaRPr b="0" lang="en-US" sz="1700" spc="-1" strike="noStrike">
              <a:solidFill>
                <a:srgbClr val="222222"/>
              </a:solidFill>
              <a:latin typeface="Noto Sans CJK TC"/>
              <a:ea typeface="Noto Sans CJK TC"/>
            </a:endParaRPr>
          </a:p>
        </p:txBody>
      </p:sp>
      <p:sp>
        <p:nvSpPr>
          <p:cNvPr id="64" name=""/>
          <p:cNvSpPr/>
          <p:nvPr/>
        </p:nvSpPr>
        <p:spPr>
          <a:xfrm>
            <a:off x="6642000" y="3780000"/>
            <a:ext cx="5076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65" name=""/>
          <p:cNvSpPr txBox="1"/>
          <p:nvPr/>
        </p:nvSpPr>
        <p:spPr>
          <a:xfrm>
            <a:off x="6714000" y="3862800"/>
            <a:ext cx="4932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構型／接觸改變後，固定估計是否仍有效？</a:t>
            </a:r>
            <a:endParaRPr b="0" lang="en-US" sz="1700" spc="-1" strike="noStrike">
              <a:solidFill>
                <a:srgbClr val="222222"/>
              </a:solidFill>
              <a:latin typeface="Noto Sans CJK TC"/>
              <a:ea typeface="Noto Sans CJK TC"/>
            </a:endParaRPr>
          </a:p>
        </p:txBody>
      </p:sp>
      <p:sp>
        <p:nvSpPr>
          <p:cNvPr id="66" name=""/>
          <p:cNvSpPr/>
          <p:nvPr/>
        </p:nvSpPr>
        <p:spPr>
          <a:xfrm>
            <a:off x="450000" y="4572000"/>
            <a:ext cx="1980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67" name=""/>
          <p:cNvSpPr txBox="1"/>
          <p:nvPr/>
        </p:nvSpPr>
        <p:spPr>
          <a:xfrm>
            <a:off x="522000" y="4654800"/>
            <a:ext cx="1836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完成條件</a:t>
            </a:r>
            <a:endParaRPr b="0" lang="en-US" sz="1700" spc="-1" strike="noStrike">
              <a:solidFill>
                <a:srgbClr val="222222"/>
              </a:solidFill>
              <a:latin typeface="Noto Sans CJK TC"/>
              <a:ea typeface="Noto Sans CJK TC"/>
            </a:endParaRPr>
          </a:p>
        </p:txBody>
      </p:sp>
      <p:sp>
        <p:nvSpPr>
          <p:cNvPr id="68" name=""/>
          <p:cNvSpPr/>
          <p:nvPr/>
        </p:nvSpPr>
        <p:spPr>
          <a:xfrm>
            <a:off x="2430000" y="4572000"/>
            <a:ext cx="4212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69" name=""/>
          <p:cNvSpPr txBox="1"/>
          <p:nvPr/>
        </p:nvSpPr>
        <p:spPr>
          <a:xfrm>
            <a:off x="2502000" y="4654800"/>
            <a:ext cx="4068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關回、放開、退出、返回</a:t>
            </a:r>
            <a:endParaRPr b="0" lang="en-US" sz="1700" spc="-1" strike="noStrike">
              <a:solidFill>
                <a:srgbClr val="222222"/>
              </a:solidFill>
              <a:latin typeface="Noto Sans CJK TC"/>
              <a:ea typeface="Noto Sans CJK TC"/>
            </a:endParaRPr>
          </a:p>
        </p:txBody>
      </p:sp>
      <p:sp>
        <p:nvSpPr>
          <p:cNvPr id="70" name=""/>
          <p:cNvSpPr/>
          <p:nvPr/>
        </p:nvSpPr>
        <p:spPr>
          <a:xfrm>
            <a:off x="6642000" y="4572000"/>
            <a:ext cx="5076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71" name=""/>
          <p:cNvSpPr txBox="1"/>
          <p:nvPr/>
        </p:nvSpPr>
        <p:spPr>
          <a:xfrm>
            <a:off x="6714000" y="4654800"/>
            <a:ext cx="4932000" cy="64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開門之外，還要換抓、通過與拉關</a:t>
            </a:r>
            <a:endParaRPr b="0" lang="en-US" sz="1700" spc="-1" strike="noStrike">
              <a:solidFill>
                <a:srgbClr val="222222"/>
              </a:solidFill>
              <a:latin typeface="Noto Sans CJK TC"/>
              <a:ea typeface="Noto Sans CJK TC"/>
            </a:endParaRPr>
          </a:p>
        </p:txBody>
      </p:sp>
      <p:sp>
        <p:nvSpPr>
          <p:cNvPr id="72"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73"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17365d"/>
                </a:solidFill>
                <a:latin typeface="Noto Sans CJK TC"/>
              </a:rPr>
              <a:t>研究問題：如何讓同一套 </a:t>
            </a:r>
            <a:r>
              <a:rPr b="1" lang="en-US" sz="1600" spc="-1" strike="noStrike">
                <a:solidFill>
                  <a:srgbClr val="17365d"/>
                </a:solidFill>
                <a:latin typeface="Noto Sans CJK TC"/>
              </a:rPr>
              <a:t>W-GMPC</a:t>
            </a:r>
            <a:r>
              <a:rPr b="1" lang="zh-CN" sz="1600" spc="-1" strike="noStrike">
                <a:solidFill>
                  <a:srgbClr val="17365d"/>
                </a:solidFill>
                <a:latin typeface="Noto Sans CJK TC"/>
              </a:rPr>
              <a:t>，從單一操作延伸到可執行的連續操作？</a:t>
            </a:r>
            <a:endParaRPr b="1" lang="en-US" sz="1600" spc="-1" strike="noStrike">
              <a:solidFill>
                <a:srgbClr val="17365d"/>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02 / </a:t>
            </a:r>
            <a:r>
              <a:rPr b="1" lang="zh-CN" sz="1100" spc="-1" strike="noStrike">
                <a:solidFill>
                  <a:srgbClr val="2f75b5"/>
                </a:solidFill>
                <a:latin typeface="Noto Sans CJK TC"/>
              </a:rPr>
              <a:t>方法差異，不把不同寫成較好</a:t>
            </a:r>
            <a:endParaRPr b="1" lang="en-US" sz="1100" spc="-1" strike="noStrike">
              <a:solidFill>
                <a:srgbClr val="2f75b5"/>
              </a:solidFill>
              <a:latin typeface="Noto Sans CJK TC"/>
              <a:ea typeface="Noto Sans CJK TC"/>
            </a:endParaRPr>
          </a:p>
        </p:txBody>
      </p:sp>
      <p:sp>
        <p:nvSpPr>
          <p:cNvPr id="75"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相關研究已做到什麼？本研究的切入點在哪裡？</a:t>
            </a:r>
            <a:endParaRPr b="1" lang="en-US" sz="2800" spc="-1" strike="noStrike">
              <a:solidFill>
                <a:srgbClr val="17365d"/>
              </a:solidFill>
              <a:latin typeface="Noto Sans CJK TC"/>
              <a:ea typeface="Noto Sans CJK TC"/>
            </a:endParaRPr>
          </a:p>
        </p:txBody>
      </p:sp>
      <p:sp>
        <p:nvSpPr>
          <p:cNvPr id="76"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77"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78"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4</a:t>
            </a:r>
            <a:endParaRPr b="0" lang="en-US" sz="1100" spc="-1" strike="noStrike">
              <a:solidFill>
                <a:srgbClr val="666666"/>
              </a:solidFill>
              <a:latin typeface="Noto Sans CJK TC"/>
              <a:ea typeface="Noto Sans CJK TC"/>
            </a:endParaRPr>
          </a:p>
        </p:txBody>
      </p:sp>
      <p:sp>
        <p:nvSpPr>
          <p:cNvPr id="79" name=""/>
          <p:cNvSpPr/>
          <p:nvPr/>
        </p:nvSpPr>
        <p:spPr>
          <a:xfrm>
            <a:off x="450000" y="1404000"/>
            <a:ext cx="2232000" cy="954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80" name=""/>
          <p:cNvSpPr txBox="1"/>
          <p:nvPr/>
        </p:nvSpPr>
        <p:spPr>
          <a:xfrm>
            <a:off x="522000" y="1486800"/>
            <a:ext cx="2088000" cy="810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相關方法</a:t>
            </a:r>
            <a:endParaRPr b="1" lang="en-US" sz="1600" spc="-1" strike="noStrike">
              <a:solidFill>
                <a:srgbClr val="ffffff"/>
              </a:solidFill>
              <a:latin typeface="Noto Sans CJK TC"/>
              <a:ea typeface="Noto Sans CJK TC"/>
            </a:endParaRPr>
          </a:p>
        </p:txBody>
      </p:sp>
      <p:sp>
        <p:nvSpPr>
          <p:cNvPr id="81" name=""/>
          <p:cNvSpPr/>
          <p:nvPr/>
        </p:nvSpPr>
        <p:spPr>
          <a:xfrm>
            <a:off x="2682000" y="1404000"/>
            <a:ext cx="4536000" cy="954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82" name=""/>
          <p:cNvSpPr txBox="1"/>
          <p:nvPr/>
        </p:nvSpPr>
        <p:spPr>
          <a:xfrm>
            <a:off x="2754000" y="1486800"/>
            <a:ext cx="4392000" cy="810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主要設計／已有能力</a:t>
            </a:r>
            <a:endParaRPr b="1" lang="en-US" sz="1600" spc="-1" strike="noStrike">
              <a:solidFill>
                <a:srgbClr val="ffffff"/>
              </a:solidFill>
              <a:latin typeface="Noto Sans CJK TC"/>
              <a:ea typeface="Noto Sans CJK TC"/>
            </a:endParaRPr>
          </a:p>
        </p:txBody>
      </p:sp>
      <p:sp>
        <p:nvSpPr>
          <p:cNvPr id="83" name=""/>
          <p:cNvSpPr/>
          <p:nvPr/>
        </p:nvSpPr>
        <p:spPr>
          <a:xfrm>
            <a:off x="7218000" y="1404000"/>
            <a:ext cx="4500000" cy="954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84" name=""/>
          <p:cNvSpPr txBox="1"/>
          <p:nvPr/>
        </p:nvSpPr>
        <p:spPr>
          <a:xfrm>
            <a:off x="7290000" y="1486800"/>
            <a:ext cx="4356000" cy="810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本研究對應的差異</a:t>
            </a:r>
            <a:endParaRPr b="1" lang="en-US" sz="1600" spc="-1" strike="noStrike">
              <a:solidFill>
                <a:srgbClr val="ffffff"/>
              </a:solidFill>
              <a:latin typeface="Noto Sans CJK TC"/>
              <a:ea typeface="Noto Sans CJK TC"/>
            </a:endParaRPr>
          </a:p>
        </p:txBody>
      </p:sp>
      <p:sp>
        <p:nvSpPr>
          <p:cNvPr id="85" name=""/>
          <p:cNvSpPr/>
          <p:nvPr/>
        </p:nvSpPr>
        <p:spPr>
          <a:xfrm>
            <a:off x="450000" y="2358000"/>
            <a:ext cx="2232000" cy="95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86" name=""/>
          <p:cNvSpPr txBox="1"/>
          <p:nvPr/>
        </p:nvSpPr>
        <p:spPr>
          <a:xfrm>
            <a:off x="522000" y="2440800"/>
            <a:ext cx="2088000" cy="810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Wang et al.</a:t>
            </a:r>
            <a:endParaRPr b="0" lang="en-US" sz="1600" spc="-1" strike="noStrike">
              <a:solidFill>
                <a:srgbClr val="222222"/>
              </a:solidFill>
              <a:latin typeface="Noto Sans CJK TC"/>
              <a:ea typeface="Noto Sans CJK TC"/>
            </a:endParaRPr>
          </a:p>
          <a:p>
            <a:r>
              <a:rPr b="0" lang="en-US" sz="1600" spc="-1" strike="noStrike">
                <a:solidFill>
                  <a:srgbClr val="222222"/>
                </a:solidFill>
                <a:latin typeface="Noto Sans CJK TC"/>
              </a:rPr>
              <a:t>ICRA 2025 [R1]</a:t>
            </a:r>
            <a:endParaRPr b="0" lang="en-US" sz="1600" spc="-1" strike="noStrike">
              <a:solidFill>
                <a:srgbClr val="222222"/>
              </a:solidFill>
              <a:latin typeface="Noto Sans CJK TC"/>
              <a:ea typeface="Noto Sans CJK TC"/>
            </a:endParaRPr>
          </a:p>
        </p:txBody>
      </p:sp>
      <p:sp>
        <p:nvSpPr>
          <p:cNvPr id="87" name=""/>
          <p:cNvSpPr/>
          <p:nvPr/>
        </p:nvSpPr>
        <p:spPr>
          <a:xfrm>
            <a:off x="2682000" y="2358000"/>
            <a:ext cx="4536000" cy="95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88" name=""/>
          <p:cNvSpPr txBox="1"/>
          <p:nvPr/>
        </p:nvSpPr>
        <p:spPr>
          <a:xfrm>
            <a:off x="2754000" y="2440800"/>
            <a:ext cx="4392000" cy="810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任務優先序轉換的全身 </a:t>
            </a:r>
            <a:r>
              <a:rPr b="0" lang="en-US" sz="1600" spc="-1" strike="noStrike">
                <a:solidFill>
                  <a:srgbClr val="222222"/>
                </a:solidFill>
                <a:latin typeface="Noto Sans CJK TC"/>
              </a:rPr>
              <a:t>MPC</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已有實機開門、擋門、通過</a:t>
            </a:r>
            <a:endParaRPr b="0" lang="en-US" sz="1600" spc="-1" strike="noStrike">
              <a:solidFill>
                <a:srgbClr val="222222"/>
              </a:solidFill>
              <a:latin typeface="Noto Sans CJK TC"/>
              <a:ea typeface="Noto Sans CJK TC"/>
            </a:endParaRPr>
          </a:p>
        </p:txBody>
      </p:sp>
      <p:sp>
        <p:nvSpPr>
          <p:cNvPr id="89" name=""/>
          <p:cNvSpPr/>
          <p:nvPr/>
        </p:nvSpPr>
        <p:spPr>
          <a:xfrm>
            <a:off x="7218000" y="2358000"/>
            <a:ext cx="4500000" cy="95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90" name=""/>
          <p:cNvSpPr txBox="1"/>
          <p:nvPr/>
        </p:nvSpPr>
        <p:spPr>
          <a:xfrm>
            <a:off x="7290000" y="2440800"/>
            <a:ext cx="4356000" cy="810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顯式預測位置設定點的執行</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研究操作中的偏移更新與承接</a:t>
            </a:r>
            <a:endParaRPr b="0" lang="en-US" sz="1600" spc="-1" strike="noStrike">
              <a:solidFill>
                <a:srgbClr val="222222"/>
              </a:solidFill>
              <a:latin typeface="Noto Sans CJK TC"/>
              <a:ea typeface="Noto Sans CJK TC"/>
            </a:endParaRPr>
          </a:p>
        </p:txBody>
      </p:sp>
      <p:sp>
        <p:nvSpPr>
          <p:cNvPr id="91" name=""/>
          <p:cNvSpPr/>
          <p:nvPr/>
        </p:nvSpPr>
        <p:spPr>
          <a:xfrm>
            <a:off x="450000" y="3312000"/>
            <a:ext cx="2232000" cy="954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92" name=""/>
          <p:cNvSpPr txBox="1"/>
          <p:nvPr/>
        </p:nvSpPr>
        <p:spPr>
          <a:xfrm>
            <a:off x="522000" y="3394800"/>
            <a:ext cx="2088000" cy="810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Sinaei et al.</a:t>
            </a:r>
            <a:endParaRPr b="0" lang="en-US" sz="1600" spc="-1" strike="noStrike">
              <a:solidFill>
                <a:srgbClr val="222222"/>
              </a:solidFill>
              <a:latin typeface="Noto Sans CJK TC"/>
              <a:ea typeface="Noto Sans CJK TC"/>
            </a:endParaRPr>
          </a:p>
          <a:p>
            <a:r>
              <a:rPr b="0" lang="en-US" sz="1600" spc="-1" strike="noStrike">
                <a:solidFill>
                  <a:srgbClr val="222222"/>
                </a:solidFill>
                <a:latin typeface="Noto Sans CJK TC"/>
              </a:rPr>
              <a:t>2026 </a:t>
            </a:r>
            <a:r>
              <a:rPr b="0" lang="zh-CN" sz="1600" spc="-1" strike="noStrike">
                <a:solidFill>
                  <a:srgbClr val="222222"/>
                </a:solidFill>
                <a:latin typeface="Noto Sans CJK TC"/>
              </a:rPr>
              <a:t>預印本 </a:t>
            </a:r>
            <a:r>
              <a:rPr b="0" lang="en-US" sz="1600" spc="-1" strike="noStrike">
                <a:solidFill>
                  <a:srgbClr val="222222"/>
                </a:solidFill>
                <a:latin typeface="Noto Sans CJK TC"/>
              </a:rPr>
              <a:t>[R2]</a:t>
            </a:r>
            <a:endParaRPr b="0" lang="en-US" sz="1600" spc="-1" strike="noStrike">
              <a:solidFill>
                <a:srgbClr val="222222"/>
              </a:solidFill>
              <a:latin typeface="Noto Sans CJK TC"/>
              <a:ea typeface="Noto Sans CJK TC"/>
            </a:endParaRPr>
          </a:p>
        </p:txBody>
      </p:sp>
      <p:sp>
        <p:nvSpPr>
          <p:cNvPr id="93" name=""/>
          <p:cNvSpPr/>
          <p:nvPr/>
        </p:nvSpPr>
        <p:spPr>
          <a:xfrm>
            <a:off x="2682000" y="3312000"/>
            <a:ext cx="4536000" cy="954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94" name=""/>
          <p:cNvSpPr txBox="1"/>
          <p:nvPr/>
        </p:nvSpPr>
        <p:spPr>
          <a:xfrm>
            <a:off x="2754000" y="3394800"/>
            <a:ext cx="4392000" cy="810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低維機器人—門耦合 </a:t>
            </a:r>
            <a:r>
              <a:rPr b="0" lang="en-US" sz="1600" spc="-1" strike="noStrike">
                <a:solidFill>
                  <a:srgbClr val="222222"/>
                </a:solidFill>
                <a:latin typeface="Noto Sans CJK TC"/>
              </a:rPr>
              <a:t>NMPC</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軟可達性＋下游手臂 </a:t>
            </a:r>
            <a:r>
              <a:rPr b="0" lang="en-US" sz="1600" spc="-1" strike="noStrike">
                <a:solidFill>
                  <a:srgbClr val="222222"/>
                </a:solidFill>
                <a:latin typeface="Noto Sans CJK TC"/>
              </a:rPr>
              <a:t>IK</a:t>
            </a:r>
            <a:endParaRPr b="0" lang="en-US" sz="1600" spc="-1" strike="noStrike">
              <a:solidFill>
                <a:srgbClr val="222222"/>
              </a:solidFill>
              <a:latin typeface="Noto Sans CJK TC"/>
              <a:ea typeface="Noto Sans CJK TC"/>
            </a:endParaRPr>
          </a:p>
        </p:txBody>
      </p:sp>
      <p:sp>
        <p:nvSpPr>
          <p:cNvPr id="95" name=""/>
          <p:cNvSpPr/>
          <p:nvPr/>
        </p:nvSpPr>
        <p:spPr>
          <a:xfrm>
            <a:off x="7218000" y="3312000"/>
            <a:ext cx="4500000" cy="954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96" name=""/>
          <p:cNvSpPr txBox="1"/>
          <p:nvPr/>
        </p:nvSpPr>
        <p:spPr>
          <a:xfrm>
            <a:off x="7290000" y="3394800"/>
            <a:ext cx="4356000" cy="810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保留六軸構型、設定點與限位</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另核取樣淨空；門動力學較簡化</a:t>
            </a:r>
            <a:endParaRPr b="0" lang="en-US" sz="1600" spc="-1" strike="noStrike">
              <a:solidFill>
                <a:srgbClr val="222222"/>
              </a:solidFill>
              <a:latin typeface="Noto Sans CJK TC"/>
              <a:ea typeface="Noto Sans CJK TC"/>
            </a:endParaRPr>
          </a:p>
        </p:txBody>
      </p:sp>
      <p:sp>
        <p:nvSpPr>
          <p:cNvPr id="97" name=""/>
          <p:cNvSpPr/>
          <p:nvPr/>
        </p:nvSpPr>
        <p:spPr>
          <a:xfrm>
            <a:off x="450000" y="4266000"/>
            <a:ext cx="2232000" cy="95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98" name=""/>
          <p:cNvSpPr txBox="1"/>
          <p:nvPr/>
        </p:nvSpPr>
        <p:spPr>
          <a:xfrm>
            <a:off x="522000" y="4348800"/>
            <a:ext cx="2088000" cy="810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Du et al.</a:t>
            </a:r>
            <a:endParaRPr b="0" lang="en-US" sz="1600" spc="-1" strike="noStrike">
              <a:solidFill>
                <a:srgbClr val="222222"/>
              </a:solidFill>
              <a:latin typeface="Noto Sans CJK TC"/>
              <a:ea typeface="Noto Sans CJK TC"/>
            </a:endParaRPr>
          </a:p>
          <a:p>
            <a:r>
              <a:rPr b="0" lang="en-US" sz="1600" spc="-1" strike="noStrike">
                <a:solidFill>
                  <a:srgbClr val="222222"/>
                </a:solidFill>
                <a:latin typeface="Noto Sans CJK TC"/>
              </a:rPr>
              <a:t>2024 v1 [R3]</a:t>
            </a:r>
            <a:endParaRPr b="0" lang="en-US" sz="1600" spc="-1" strike="noStrike">
              <a:solidFill>
                <a:srgbClr val="222222"/>
              </a:solidFill>
              <a:latin typeface="Noto Sans CJK TC"/>
              <a:ea typeface="Noto Sans CJK TC"/>
            </a:endParaRPr>
          </a:p>
        </p:txBody>
      </p:sp>
      <p:sp>
        <p:nvSpPr>
          <p:cNvPr id="99" name=""/>
          <p:cNvSpPr/>
          <p:nvPr/>
        </p:nvSpPr>
        <p:spPr>
          <a:xfrm>
            <a:off x="2682000" y="4266000"/>
            <a:ext cx="4536000" cy="95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00" name=""/>
          <p:cNvSpPr txBox="1"/>
          <p:nvPr/>
        </p:nvSpPr>
        <p:spPr>
          <a:xfrm>
            <a:off x="2754000" y="4348800"/>
            <a:ext cx="4392000" cy="810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雙層 </a:t>
            </a:r>
            <a:r>
              <a:rPr b="0" lang="en-US" sz="1600" spc="-1" strike="noStrike">
                <a:solidFill>
                  <a:srgbClr val="222222"/>
                </a:solidFill>
                <a:latin typeface="Noto Sans CJK TC"/>
              </a:rPr>
              <a:t>Bézier MPC</a:t>
            </a:r>
            <a:r>
              <a:rPr b="0" lang="zh-CN" sz="1600" spc="-1" strike="noStrike">
                <a:solidFill>
                  <a:srgbClr val="222222"/>
                </a:solidFill>
                <a:latin typeface="Noto Sans CJK TC"/>
              </a:rPr>
              <a:t>＋預測導納</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雙臂、混合位置／速度介面</a:t>
            </a:r>
            <a:endParaRPr b="0" lang="en-US" sz="1600" spc="-1" strike="noStrike">
              <a:solidFill>
                <a:srgbClr val="222222"/>
              </a:solidFill>
              <a:latin typeface="Noto Sans CJK TC"/>
              <a:ea typeface="Noto Sans CJK TC"/>
            </a:endParaRPr>
          </a:p>
        </p:txBody>
      </p:sp>
      <p:sp>
        <p:nvSpPr>
          <p:cNvPr id="101" name=""/>
          <p:cNvSpPr/>
          <p:nvPr/>
        </p:nvSpPr>
        <p:spPr>
          <a:xfrm>
            <a:off x="7218000" y="4266000"/>
            <a:ext cx="4500000" cy="95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02" name=""/>
          <p:cNvSpPr txBox="1"/>
          <p:nvPr/>
        </p:nvSpPr>
        <p:spPr>
          <a:xfrm>
            <a:off x="7290000" y="4348800"/>
            <a:ext cx="4356000" cy="810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單臂設定點增廣＋區間估計</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沿用既有 </a:t>
            </a:r>
            <a:r>
              <a:rPr b="0" lang="en-US" sz="1600" spc="-1" strike="noStrike">
                <a:solidFill>
                  <a:srgbClr val="222222"/>
                </a:solidFill>
                <a:latin typeface="Noto Sans CJK TC"/>
              </a:rPr>
              <a:t>SQP/QP </a:t>
            </a:r>
            <a:r>
              <a:rPr b="0" lang="zh-CN" sz="1600" spc="-1" strike="noStrike">
                <a:solidFill>
                  <a:srgbClr val="222222"/>
                </a:solidFill>
                <a:latin typeface="Noto Sans CJK TC"/>
              </a:rPr>
              <a:t>全身核心</a:t>
            </a:r>
            <a:endParaRPr b="0" lang="en-US" sz="1600" spc="-1" strike="noStrike">
              <a:solidFill>
                <a:srgbClr val="222222"/>
              </a:solidFill>
              <a:latin typeface="Noto Sans CJK TC"/>
              <a:ea typeface="Noto Sans CJK TC"/>
            </a:endParaRPr>
          </a:p>
        </p:txBody>
      </p:sp>
      <p:sp>
        <p:nvSpPr>
          <p:cNvPr id="103" name=""/>
          <p:cNvSpPr txBox="1"/>
          <p:nvPr/>
        </p:nvSpPr>
        <p:spPr>
          <a:xfrm>
            <a:off x="522000" y="5418000"/>
            <a:ext cx="10800000" cy="280800"/>
          </a:xfrm>
          <a:prstGeom prst="rect">
            <a:avLst/>
          </a:prstGeom>
          <a:noFill/>
          <a:ln w="0">
            <a:noFill/>
          </a:ln>
        </p:spPr>
        <p:txBody>
          <a:bodyPr lIns="43200" rIns="43200" tIns="36000" bIns="36000" anchor="t">
            <a:noAutofit/>
          </a:bodyPr>
          <a:p>
            <a:r>
              <a:rPr b="0" lang="en-US" sz="1100" spc="-1" strike="noStrike">
                <a:solidFill>
                  <a:srgbClr val="666666"/>
                </a:solidFill>
                <a:latin typeface="Noto Sans CJK TC"/>
              </a:rPr>
              <a:t>[R1] </a:t>
            </a:r>
            <a:r>
              <a:rPr b="0" lang="zh-CN" sz="1100" spc="-1" strike="noStrike">
                <a:solidFill>
                  <a:srgbClr val="666666"/>
                </a:solidFill>
                <a:latin typeface="Noto Sans CJK TC"/>
              </a:rPr>
              <a:t>作者原文 </a:t>
            </a:r>
            <a:r>
              <a:rPr b="0" lang="en-US" sz="1100" spc="-1" strike="noStrike">
                <a:solidFill>
                  <a:srgbClr val="666666"/>
                </a:solidFill>
                <a:latin typeface="Noto Sans CJK TC"/>
              </a:rPr>
              <a:t>§III</a:t>
            </a:r>
            <a:r>
              <a:rPr b="0" lang="zh-CN" sz="1100" spc="-1" strike="noStrike">
                <a:solidFill>
                  <a:srgbClr val="666666"/>
                </a:solidFill>
                <a:latin typeface="Noto Sans CJK TC"/>
              </a:rPr>
              <a:t>／</a:t>
            </a:r>
            <a:r>
              <a:rPr b="0" lang="en-US" sz="1100" spc="-1" strike="noStrike">
                <a:solidFill>
                  <a:srgbClr val="666666"/>
                </a:solidFill>
                <a:latin typeface="Noto Sans CJK TC"/>
              </a:rPr>
              <a:t>IV</a:t>
            </a:r>
            <a:r>
              <a:rPr b="0" lang="zh-CN" sz="1100" spc="-1" strike="noStrike">
                <a:solidFill>
                  <a:srgbClr val="666666"/>
                </a:solidFill>
                <a:latin typeface="Noto Sans CJK TC"/>
              </a:rPr>
              <a:t>　</a:t>
            </a:r>
            <a:r>
              <a:rPr b="0" lang="en-US" sz="1100" spc="-1" strike="noStrike">
                <a:solidFill>
                  <a:srgbClr val="666666"/>
                </a:solidFill>
                <a:latin typeface="Noto Sans CJK TC"/>
              </a:rPr>
              <a:t>[R2] arXiv:2608.00206v1 §1–2</a:t>
            </a:r>
            <a:r>
              <a:rPr b="0" lang="zh-CN" sz="1100" spc="-1" strike="noStrike">
                <a:solidFill>
                  <a:srgbClr val="666666"/>
                </a:solidFill>
                <a:latin typeface="Noto Sans CJK TC"/>
              </a:rPr>
              <a:t>　</a:t>
            </a:r>
            <a:r>
              <a:rPr b="0" lang="en-US" sz="1100" spc="-1" strike="noStrike">
                <a:solidFill>
                  <a:srgbClr val="666666"/>
                </a:solidFill>
                <a:latin typeface="Noto Sans CJK TC"/>
              </a:rPr>
              <a:t>[R3] arXiv:2410.22910v1 §III</a:t>
            </a:r>
            <a:endParaRPr b="0" lang="en-US" sz="1100" spc="-1" strike="noStrike">
              <a:solidFill>
                <a:srgbClr val="666666"/>
              </a:solidFill>
              <a:latin typeface="Noto Sans CJK TC"/>
              <a:ea typeface="Noto Sans CJK TC"/>
            </a:endParaRPr>
          </a:p>
        </p:txBody>
      </p:sp>
      <p:sp>
        <p:nvSpPr>
          <p:cNvPr id="104"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05"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17365d"/>
                </a:solidFill>
                <a:latin typeface="Noto Sans CJK TC"/>
              </a:rPr>
              <a:t>文獻已有全身 </a:t>
            </a:r>
            <a:r>
              <a:rPr b="1" lang="en-US" sz="1600" spc="-1" strike="noStrike">
                <a:solidFill>
                  <a:srgbClr val="17365d"/>
                </a:solidFill>
                <a:latin typeface="Noto Sans CJK TC"/>
              </a:rPr>
              <a:t>MPC</a:t>
            </a:r>
            <a:r>
              <a:rPr b="1" lang="zh-CN" sz="1600" spc="-1" strike="noStrike">
                <a:solidFill>
                  <a:srgbClr val="17365d"/>
                </a:solidFill>
                <a:latin typeface="Noto Sans CJK TC"/>
              </a:rPr>
              <a:t>、門通行與混合介面；本研究不以這些能力存在本身宣稱首創。</a:t>
            </a:r>
            <a:endParaRPr b="1" lang="en-US" sz="1600" spc="-1" strike="noStrike">
              <a:solidFill>
                <a:srgbClr val="17365d"/>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02 / </a:t>
            </a:r>
            <a:r>
              <a:rPr b="1" lang="zh-CN" sz="1100" spc="-1" strike="noStrike">
                <a:solidFill>
                  <a:srgbClr val="2f75b5"/>
                </a:solidFill>
                <a:latin typeface="Noto Sans CJK TC"/>
              </a:rPr>
              <a:t>面向位置伺服介面的設計</a:t>
            </a:r>
            <a:endParaRPr b="1" lang="en-US" sz="1100" spc="-1" strike="noStrike">
              <a:solidFill>
                <a:srgbClr val="2f75b5"/>
              </a:solidFill>
              <a:latin typeface="Noto Sans CJK TC"/>
              <a:ea typeface="Noto Sans CJK TC"/>
            </a:endParaRPr>
          </a:p>
        </p:txBody>
      </p:sp>
      <p:sp>
        <p:nvSpPr>
          <p:cNvPr id="107"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本研究的切入：讓預測模型貼近實際執行鏈</a:t>
            </a:r>
            <a:endParaRPr b="1" lang="en-US" sz="2800" spc="-1" strike="noStrike">
              <a:solidFill>
                <a:srgbClr val="17365d"/>
              </a:solidFill>
              <a:latin typeface="Noto Sans CJK TC"/>
              <a:ea typeface="Noto Sans CJK TC"/>
            </a:endParaRPr>
          </a:p>
        </p:txBody>
      </p:sp>
      <p:sp>
        <p:nvSpPr>
          <p:cNvPr id="108"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109"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110"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5</a:t>
            </a:r>
            <a:endParaRPr b="0" lang="en-US" sz="1100" spc="-1" strike="noStrike">
              <a:solidFill>
                <a:srgbClr val="666666"/>
              </a:solidFill>
              <a:latin typeface="Noto Sans CJK TC"/>
              <a:ea typeface="Noto Sans CJK TC"/>
            </a:endParaRPr>
          </a:p>
        </p:txBody>
      </p:sp>
      <p:sp>
        <p:nvSpPr>
          <p:cNvPr id="111" name=""/>
          <p:cNvSpPr/>
          <p:nvPr/>
        </p:nvSpPr>
        <p:spPr>
          <a:xfrm>
            <a:off x="450000" y="1332000"/>
            <a:ext cx="3312000" cy="118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12" name=""/>
          <p:cNvSpPr/>
          <p:nvPr/>
        </p:nvSpPr>
        <p:spPr>
          <a:xfrm>
            <a:off x="450000" y="1332000"/>
            <a:ext cx="46800" cy="1188000"/>
          </a:xfrm>
          <a:prstGeom prst="rect">
            <a:avLst/>
          </a:prstGeom>
          <a:solidFill>
            <a:srgbClr val="2f75b5"/>
          </a:solidFill>
          <a:ln w="7200">
            <a:solidFill>
              <a:srgbClr val="2f75b5"/>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13" name=""/>
          <p:cNvSpPr txBox="1"/>
          <p:nvPr/>
        </p:nvSpPr>
        <p:spPr>
          <a:xfrm>
            <a:off x="576000" y="1440000"/>
            <a:ext cx="3078000" cy="457920"/>
          </a:xfrm>
          <a:prstGeom prst="rect">
            <a:avLst/>
          </a:prstGeom>
          <a:noFill/>
          <a:ln w="0">
            <a:noFill/>
          </a:ln>
        </p:spPr>
        <p:txBody>
          <a:bodyPr lIns="43200" rIns="43200" tIns="36000" bIns="36000" anchor="t">
            <a:noAutofit/>
          </a:bodyPr>
          <a:p>
            <a:r>
              <a:rPr b="1" lang="zh-CN" sz="2100" spc="-1" strike="noStrike">
                <a:solidFill>
                  <a:srgbClr val="2f75b5"/>
                </a:solidFill>
                <a:latin typeface="Noto Sans CJK TC"/>
              </a:rPr>
              <a:t>命令</a:t>
            </a:r>
            <a:endParaRPr b="1" lang="en-US" sz="2100" spc="-1" strike="noStrike">
              <a:solidFill>
                <a:srgbClr val="2f75b5"/>
              </a:solidFill>
              <a:latin typeface="Noto Sans CJK TC"/>
              <a:ea typeface="Noto Sans CJK TC"/>
            </a:endParaRPr>
          </a:p>
        </p:txBody>
      </p:sp>
      <p:sp>
        <p:nvSpPr>
          <p:cNvPr id="114" name=""/>
          <p:cNvSpPr txBox="1"/>
          <p:nvPr/>
        </p:nvSpPr>
        <p:spPr>
          <a:xfrm>
            <a:off x="576000" y="1825200"/>
            <a:ext cx="3078000" cy="70092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底盤速度＋手臂速率</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同一最佳化聯合決定</a:t>
            </a:r>
            <a:endParaRPr b="0" lang="en-US" sz="1700" spc="-1" strike="noStrike">
              <a:solidFill>
                <a:srgbClr val="222222"/>
              </a:solidFill>
              <a:latin typeface="Noto Sans CJK TC"/>
              <a:ea typeface="Noto Sans CJK TC"/>
            </a:endParaRPr>
          </a:p>
        </p:txBody>
      </p:sp>
      <p:sp>
        <p:nvSpPr>
          <p:cNvPr id="115" name=""/>
          <p:cNvSpPr txBox="1"/>
          <p:nvPr/>
        </p:nvSpPr>
        <p:spPr>
          <a:xfrm>
            <a:off x="3816000" y="1656000"/>
            <a:ext cx="396000" cy="624240"/>
          </a:xfrm>
          <a:prstGeom prst="rect">
            <a:avLst/>
          </a:prstGeom>
          <a:noFill/>
          <a:ln w="0">
            <a:noFill/>
          </a:ln>
        </p:spPr>
        <p:txBody>
          <a:bodyPr lIns="43200" rIns="43200" tIns="36000" bIns="36000" anchor="t">
            <a:noAutofit/>
          </a:bodyPr>
          <a:p>
            <a:r>
              <a:rPr b="1" lang="en-US" sz="3000" spc="-1" strike="noStrike">
                <a:solidFill>
                  <a:srgbClr val="2f75b5"/>
                </a:solidFill>
                <a:latin typeface="Noto Sans CJK TC"/>
              </a:rPr>
              <a:t>→</a:t>
            </a:r>
            <a:endParaRPr b="1" lang="en-US" sz="3000" spc="-1" strike="noStrike">
              <a:solidFill>
                <a:srgbClr val="2f75b5"/>
              </a:solidFill>
              <a:latin typeface="Noto Sans CJK TC"/>
              <a:ea typeface="Noto Sans CJK TC"/>
            </a:endParaRPr>
          </a:p>
        </p:txBody>
      </p:sp>
      <p:sp>
        <p:nvSpPr>
          <p:cNvPr id="116" name=""/>
          <p:cNvSpPr/>
          <p:nvPr/>
        </p:nvSpPr>
        <p:spPr>
          <a:xfrm>
            <a:off x="4320000" y="1332000"/>
            <a:ext cx="3888000" cy="118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17" name=""/>
          <p:cNvSpPr/>
          <p:nvPr/>
        </p:nvSpPr>
        <p:spPr>
          <a:xfrm>
            <a:off x="4320000" y="1332000"/>
            <a:ext cx="46800" cy="1188000"/>
          </a:xfrm>
          <a:prstGeom prst="rect">
            <a:avLst/>
          </a:prstGeom>
          <a:solidFill>
            <a:srgbClr val="2f75b5"/>
          </a:solidFill>
          <a:ln w="7200">
            <a:solidFill>
              <a:srgbClr val="2f75b5"/>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18" name=""/>
          <p:cNvSpPr txBox="1"/>
          <p:nvPr/>
        </p:nvSpPr>
        <p:spPr>
          <a:xfrm>
            <a:off x="4446000" y="1440000"/>
            <a:ext cx="3654000" cy="457920"/>
          </a:xfrm>
          <a:prstGeom prst="rect">
            <a:avLst/>
          </a:prstGeom>
          <a:noFill/>
          <a:ln w="0">
            <a:noFill/>
          </a:ln>
        </p:spPr>
        <p:txBody>
          <a:bodyPr lIns="43200" rIns="43200" tIns="36000" bIns="36000" anchor="t">
            <a:noAutofit/>
          </a:bodyPr>
          <a:p>
            <a:r>
              <a:rPr b="1" lang="zh-CN" sz="2100" spc="-1" strike="noStrike">
                <a:solidFill>
                  <a:srgbClr val="2f75b5"/>
                </a:solidFill>
                <a:latin typeface="Noto Sans CJK TC"/>
              </a:rPr>
              <a:t>執行狀態</a:t>
            </a:r>
            <a:endParaRPr b="1" lang="en-US" sz="2100" spc="-1" strike="noStrike">
              <a:solidFill>
                <a:srgbClr val="2f75b5"/>
              </a:solidFill>
              <a:latin typeface="Noto Sans CJK TC"/>
              <a:ea typeface="Noto Sans CJK TC"/>
            </a:endParaRPr>
          </a:p>
        </p:txBody>
      </p:sp>
      <p:sp>
        <p:nvSpPr>
          <p:cNvPr id="119" name=""/>
          <p:cNvSpPr txBox="1"/>
          <p:nvPr/>
        </p:nvSpPr>
        <p:spPr>
          <a:xfrm>
            <a:off x="4446000" y="1825200"/>
            <a:ext cx="3654000" cy="70092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速率先積分成設定點 </a:t>
            </a:r>
            <a:r>
              <a:rPr b="0" lang="en-US" sz="1700" spc="-1" strike="noStrike">
                <a:solidFill>
                  <a:srgbClr val="222222"/>
                </a:solidFill>
                <a:latin typeface="Noto Sans CJK TC"/>
              </a:rPr>
              <a:t>s</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位置伺服追蹤實際角度 </a:t>
            </a:r>
            <a:r>
              <a:rPr b="0" lang="en-US" sz="1700" spc="-1" strike="noStrike">
                <a:solidFill>
                  <a:srgbClr val="222222"/>
                </a:solidFill>
                <a:latin typeface="Noto Sans CJK TC"/>
              </a:rPr>
              <a:t>q</a:t>
            </a:r>
            <a:endParaRPr b="0" lang="en-US" sz="1700" spc="-1" strike="noStrike">
              <a:solidFill>
                <a:srgbClr val="222222"/>
              </a:solidFill>
              <a:latin typeface="Noto Sans CJK TC"/>
              <a:ea typeface="Noto Sans CJK TC"/>
            </a:endParaRPr>
          </a:p>
        </p:txBody>
      </p:sp>
      <p:sp>
        <p:nvSpPr>
          <p:cNvPr id="120" name=""/>
          <p:cNvSpPr txBox="1"/>
          <p:nvPr/>
        </p:nvSpPr>
        <p:spPr>
          <a:xfrm>
            <a:off x="8244000" y="1656000"/>
            <a:ext cx="396000" cy="624240"/>
          </a:xfrm>
          <a:prstGeom prst="rect">
            <a:avLst/>
          </a:prstGeom>
          <a:noFill/>
          <a:ln w="0">
            <a:noFill/>
          </a:ln>
        </p:spPr>
        <p:txBody>
          <a:bodyPr lIns="43200" rIns="43200" tIns="36000" bIns="36000" anchor="t">
            <a:noAutofit/>
          </a:bodyPr>
          <a:p>
            <a:r>
              <a:rPr b="1" lang="en-US" sz="3000" spc="-1" strike="noStrike">
                <a:solidFill>
                  <a:srgbClr val="2f75b5"/>
                </a:solidFill>
                <a:latin typeface="Noto Sans CJK TC"/>
              </a:rPr>
              <a:t>→</a:t>
            </a:r>
            <a:endParaRPr b="1" lang="en-US" sz="3000" spc="-1" strike="noStrike">
              <a:solidFill>
                <a:srgbClr val="2f75b5"/>
              </a:solidFill>
              <a:latin typeface="Noto Sans CJK TC"/>
              <a:ea typeface="Noto Sans CJK TC"/>
            </a:endParaRPr>
          </a:p>
        </p:txBody>
      </p:sp>
      <p:sp>
        <p:nvSpPr>
          <p:cNvPr id="121" name=""/>
          <p:cNvSpPr/>
          <p:nvPr/>
        </p:nvSpPr>
        <p:spPr>
          <a:xfrm>
            <a:off x="8712000" y="1332000"/>
            <a:ext cx="3006000" cy="118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22" name=""/>
          <p:cNvSpPr/>
          <p:nvPr/>
        </p:nvSpPr>
        <p:spPr>
          <a:xfrm>
            <a:off x="8712000" y="1332000"/>
            <a:ext cx="46800" cy="1188000"/>
          </a:xfrm>
          <a:prstGeom prst="rect">
            <a:avLst/>
          </a:prstGeom>
          <a:solidFill>
            <a:srgbClr val="2f75b5"/>
          </a:solidFill>
          <a:ln w="7200">
            <a:solidFill>
              <a:srgbClr val="2f75b5"/>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23" name=""/>
          <p:cNvSpPr txBox="1"/>
          <p:nvPr/>
        </p:nvSpPr>
        <p:spPr>
          <a:xfrm>
            <a:off x="8838000" y="1440000"/>
            <a:ext cx="2772000" cy="457920"/>
          </a:xfrm>
          <a:prstGeom prst="rect">
            <a:avLst/>
          </a:prstGeom>
          <a:noFill/>
          <a:ln w="0">
            <a:noFill/>
          </a:ln>
        </p:spPr>
        <p:txBody>
          <a:bodyPr lIns="43200" rIns="43200" tIns="36000" bIns="36000" anchor="t">
            <a:noAutofit/>
          </a:bodyPr>
          <a:p>
            <a:r>
              <a:rPr b="1" lang="zh-CN" sz="2100" spc="-1" strike="noStrike">
                <a:solidFill>
                  <a:srgbClr val="2f75b5"/>
                </a:solidFill>
                <a:latin typeface="Noto Sans CJK TC"/>
              </a:rPr>
              <a:t>實測回授</a:t>
            </a:r>
            <a:endParaRPr b="1" lang="en-US" sz="2100" spc="-1" strike="noStrike">
              <a:solidFill>
                <a:srgbClr val="2f75b5"/>
              </a:solidFill>
              <a:latin typeface="Noto Sans CJK TC"/>
              <a:ea typeface="Noto Sans CJK TC"/>
            </a:endParaRPr>
          </a:p>
        </p:txBody>
      </p:sp>
      <p:sp>
        <p:nvSpPr>
          <p:cNvPr id="124" name=""/>
          <p:cNvSpPr txBox="1"/>
          <p:nvPr/>
        </p:nvSpPr>
        <p:spPr>
          <a:xfrm>
            <a:off x="8838000" y="1825200"/>
            <a:ext cx="2772000" cy="70092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量測 </a:t>
            </a:r>
            <a:r>
              <a:rPr b="0" lang="en-US" sz="1700" spc="-1" strike="noStrike">
                <a:solidFill>
                  <a:srgbClr val="222222"/>
                </a:solidFill>
                <a:latin typeface="Noto Sans CJK TC"/>
              </a:rPr>
              <a:t>q</a:t>
            </a:r>
            <a:r>
              <a:rPr b="0" lang="zh-CN" sz="1700" spc="-1" strike="noStrike">
                <a:solidFill>
                  <a:srgbClr val="222222"/>
                </a:solidFill>
                <a:latin typeface="Noto Sans CJK TC"/>
              </a:rPr>
              <a:t>、</a:t>
            </a:r>
            <a:r>
              <a:rPr b="0" lang="en-US" sz="1700" spc="-1" strike="noStrike">
                <a:solidFill>
                  <a:srgbClr val="222222"/>
                </a:solidFill>
                <a:latin typeface="Noto Sans CJK TC"/>
              </a:rPr>
              <a:t>s</a:t>
            </a:r>
            <a:r>
              <a:rPr b="0" lang="zh-CN" sz="1700" spc="-1" strike="noStrike">
                <a:solidFill>
                  <a:srgbClr val="222222"/>
                </a:solidFill>
                <a:latin typeface="Noto Sans CJK TC"/>
              </a:rPr>
              <a:t>、已套用命令</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修正下一輪預測</a:t>
            </a:r>
            <a:endParaRPr b="0" lang="en-US" sz="1700" spc="-1" strike="noStrike">
              <a:solidFill>
                <a:srgbClr val="222222"/>
              </a:solidFill>
              <a:latin typeface="Noto Sans CJK TC"/>
              <a:ea typeface="Noto Sans CJK TC"/>
            </a:endParaRPr>
          </a:p>
        </p:txBody>
      </p:sp>
      <p:sp>
        <p:nvSpPr>
          <p:cNvPr id="125" name=""/>
          <p:cNvSpPr/>
          <p:nvPr/>
        </p:nvSpPr>
        <p:spPr>
          <a:xfrm>
            <a:off x="450000" y="3204000"/>
            <a:ext cx="3636000" cy="1656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26" name=""/>
          <p:cNvSpPr/>
          <p:nvPr/>
        </p:nvSpPr>
        <p:spPr>
          <a:xfrm>
            <a:off x="450000" y="3204000"/>
            <a:ext cx="46800" cy="1656000"/>
          </a:xfrm>
          <a:prstGeom prst="rect">
            <a:avLst/>
          </a:prstGeom>
          <a:solidFill>
            <a:srgbClr val="2f75b5"/>
          </a:solidFill>
          <a:ln w="7200">
            <a:solidFill>
              <a:srgbClr val="2f75b5"/>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27" name=""/>
          <p:cNvSpPr txBox="1"/>
          <p:nvPr/>
        </p:nvSpPr>
        <p:spPr>
          <a:xfrm>
            <a:off x="576000" y="3312000"/>
            <a:ext cx="3402000" cy="457920"/>
          </a:xfrm>
          <a:prstGeom prst="rect">
            <a:avLst/>
          </a:prstGeom>
          <a:noFill/>
          <a:ln w="0">
            <a:noFill/>
          </a:ln>
        </p:spPr>
        <p:txBody>
          <a:bodyPr lIns="43200" rIns="43200" tIns="36000" bIns="36000" anchor="t">
            <a:noAutofit/>
          </a:bodyPr>
          <a:p>
            <a:r>
              <a:rPr b="1" lang="en-US" sz="2100" spc="-1" strike="noStrike">
                <a:solidFill>
                  <a:srgbClr val="2f75b5"/>
                </a:solidFill>
                <a:latin typeface="Noto Sans CJK TC"/>
              </a:rPr>
              <a:t>1  </a:t>
            </a:r>
            <a:r>
              <a:rPr b="1" lang="zh-CN" sz="2100" spc="-1" strike="noStrike">
                <a:solidFill>
                  <a:srgbClr val="2f75b5"/>
                </a:solidFill>
                <a:latin typeface="Noto Sans CJK TC"/>
              </a:rPr>
              <a:t>模型一致</a:t>
            </a:r>
            <a:endParaRPr b="1" lang="en-US" sz="2100" spc="-1" strike="noStrike">
              <a:solidFill>
                <a:srgbClr val="2f75b5"/>
              </a:solidFill>
              <a:latin typeface="Noto Sans CJK TC"/>
              <a:ea typeface="Noto Sans CJK TC"/>
            </a:endParaRPr>
          </a:p>
        </p:txBody>
      </p:sp>
      <p:sp>
        <p:nvSpPr>
          <p:cNvPr id="128" name=""/>
          <p:cNvSpPr txBox="1"/>
          <p:nvPr/>
        </p:nvSpPr>
        <p:spPr>
          <a:xfrm>
            <a:off x="576000" y="3697200"/>
            <a:ext cx="3402000" cy="109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設定點動態＋延遲補償</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不把命令當成已發生的運動</a:t>
            </a:r>
            <a:endParaRPr b="0" lang="en-US" sz="1700" spc="-1" strike="noStrike">
              <a:solidFill>
                <a:srgbClr val="222222"/>
              </a:solidFill>
              <a:latin typeface="Noto Sans CJK TC"/>
              <a:ea typeface="Noto Sans CJK TC"/>
            </a:endParaRPr>
          </a:p>
        </p:txBody>
      </p:sp>
      <p:sp>
        <p:nvSpPr>
          <p:cNvPr id="129" name=""/>
          <p:cNvSpPr/>
          <p:nvPr/>
        </p:nvSpPr>
        <p:spPr>
          <a:xfrm>
            <a:off x="4266000" y="3204000"/>
            <a:ext cx="3636000" cy="1656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30" name=""/>
          <p:cNvSpPr/>
          <p:nvPr/>
        </p:nvSpPr>
        <p:spPr>
          <a:xfrm>
            <a:off x="4266000" y="3204000"/>
            <a:ext cx="46800" cy="1656000"/>
          </a:xfrm>
          <a:prstGeom prst="rect">
            <a:avLst/>
          </a:prstGeom>
          <a:solidFill>
            <a:srgbClr val="ed7d31"/>
          </a:solidFill>
          <a:ln w="7200">
            <a:solidFill>
              <a:srgbClr val="ed7d31"/>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31" name=""/>
          <p:cNvSpPr txBox="1"/>
          <p:nvPr/>
        </p:nvSpPr>
        <p:spPr>
          <a:xfrm>
            <a:off x="4392000" y="3312000"/>
            <a:ext cx="3402000" cy="457920"/>
          </a:xfrm>
          <a:prstGeom prst="rect">
            <a:avLst/>
          </a:prstGeom>
          <a:noFill/>
          <a:ln w="0">
            <a:noFill/>
          </a:ln>
        </p:spPr>
        <p:txBody>
          <a:bodyPr lIns="43200" rIns="43200" tIns="36000" bIns="36000" anchor="t">
            <a:noAutofit/>
          </a:bodyPr>
          <a:p>
            <a:r>
              <a:rPr b="1" lang="en-US" sz="2100" spc="-1" strike="noStrike">
                <a:solidFill>
                  <a:srgbClr val="ed7d31"/>
                </a:solidFill>
                <a:latin typeface="Noto Sans CJK TC"/>
              </a:rPr>
              <a:t>2  </a:t>
            </a:r>
            <a:r>
              <a:rPr b="1" lang="zh-CN" sz="2100" spc="-1" strike="noStrike">
                <a:solidFill>
                  <a:srgbClr val="ed7d31"/>
                </a:solidFill>
                <a:latin typeface="Noto Sans CJK TC"/>
              </a:rPr>
              <a:t>操作中更新</a:t>
            </a:r>
            <a:endParaRPr b="1" lang="en-US" sz="2100" spc="-1" strike="noStrike">
              <a:solidFill>
                <a:srgbClr val="ed7d31"/>
              </a:solidFill>
              <a:latin typeface="Noto Sans CJK TC"/>
              <a:ea typeface="Noto Sans CJK TC"/>
            </a:endParaRPr>
          </a:p>
        </p:txBody>
      </p:sp>
      <p:sp>
        <p:nvSpPr>
          <p:cNvPr id="132" name=""/>
          <p:cNvSpPr txBox="1"/>
          <p:nvPr/>
        </p:nvSpPr>
        <p:spPr>
          <a:xfrm>
            <a:off x="4392000" y="3697200"/>
            <a:ext cx="3402000" cy="109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有效區間估計偏移</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處理構型改變時的預測落差</a:t>
            </a:r>
            <a:endParaRPr b="0" lang="en-US" sz="1700" spc="-1" strike="noStrike">
              <a:solidFill>
                <a:srgbClr val="222222"/>
              </a:solidFill>
              <a:latin typeface="Noto Sans CJK TC"/>
              <a:ea typeface="Noto Sans CJK TC"/>
            </a:endParaRPr>
          </a:p>
        </p:txBody>
      </p:sp>
      <p:sp>
        <p:nvSpPr>
          <p:cNvPr id="133" name=""/>
          <p:cNvSpPr/>
          <p:nvPr/>
        </p:nvSpPr>
        <p:spPr>
          <a:xfrm>
            <a:off x="8082000" y="3204000"/>
            <a:ext cx="3636000" cy="1656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34" name=""/>
          <p:cNvSpPr/>
          <p:nvPr/>
        </p:nvSpPr>
        <p:spPr>
          <a:xfrm>
            <a:off x="8082000" y="3204000"/>
            <a:ext cx="46800" cy="1656000"/>
          </a:xfrm>
          <a:prstGeom prst="rect">
            <a:avLst/>
          </a:prstGeom>
          <a:solidFill>
            <a:srgbClr val="ed7d31"/>
          </a:solidFill>
          <a:ln w="7200">
            <a:solidFill>
              <a:srgbClr val="ed7d31"/>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35" name=""/>
          <p:cNvSpPr txBox="1"/>
          <p:nvPr/>
        </p:nvSpPr>
        <p:spPr>
          <a:xfrm>
            <a:off x="8208000" y="3312000"/>
            <a:ext cx="3402000" cy="457920"/>
          </a:xfrm>
          <a:prstGeom prst="rect">
            <a:avLst/>
          </a:prstGeom>
          <a:noFill/>
          <a:ln w="0">
            <a:noFill/>
          </a:ln>
        </p:spPr>
        <p:txBody>
          <a:bodyPr lIns="43200" rIns="43200" tIns="36000" bIns="36000" anchor="t">
            <a:noAutofit/>
          </a:bodyPr>
          <a:p>
            <a:r>
              <a:rPr b="1" lang="en-US" sz="2100" spc="-1" strike="noStrike">
                <a:solidFill>
                  <a:srgbClr val="ed7d31"/>
                </a:solidFill>
                <a:latin typeface="Noto Sans CJK TC"/>
              </a:rPr>
              <a:t>3  </a:t>
            </a:r>
            <a:r>
              <a:rPr b="1" lang="zh-CN" sz="2100" spc="-1" strike="noStrike">
                <a:solidFill>
                  <a:srgbClr val="ed7d31"/>
                </a:solidFill>
                <a:latin typeface="Noto Sans CJK TC"/>
              </a:rPr>
              <a:t>階段間承接</a:t>
            </a:r>
            <a:endParaRPr b="1" lang="en-US" sz="2100" spc="-1" strike="noStrike">
              <a:solidFill>
                <a:srgbClr val="ed7d31"/>
              </a:solidFill>
              <a:latin typeface="Noto Sans CJK TC"/>
              <a:ea typeface="Noto Sans CJK TC"/>
            </a:endParaRPr>
          </a:p>
        </p:txBody>
      </p:sp>
      <p:sp>
        <p:nvSpPr>
          <p:cNvPr id="136" name=""/>
          <p:cNvSpPr txBox="1"/>
          <p:nvPr/>
        </p:nvSpPr>
        <p:spPr>
          <a:xfrm>
            <a:off x="8208000" y="3697200"/>
            <a:ext cx="3402000" cy="1098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解除、移動、再抓取</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保留設定點與命令歷史</a:t>
            </a:r>
            <a:endParaRPr b="0" lang="en-US" sz="1700" spc="-1" strike="noStrike">
              <a:solidFill>
                <a:srgbClr val="222222"/>
              </a:solidFill>
              <a:latin typeface="Noto Sans CJK TC"/>
              <a:ea typeface="Noto Sans CJK TC"/>
            </a:endParaRPr>
          </a:p>
        </p:txBody>
      </p:sp>
      <p:sp>
        <p:nvSpPr>
          <p:cNvPr id="137"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38"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17365d"/>
                </a:solidFill>
                <a:latin typeface="Noto Sans CJK TC"/>
              </a:rPr>
              <a:t>設計重點是執行一致性；是否更好，要看本平台直接對照，不能只靠架構名稱。</a:t>
            </a:r>
            <a:endParaRPr b="1" lang="en-US" sz="1600" spc="-1" strike="noStrike">
              <a:solidFill>
                <a:srgbClr val="17365d"/>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03 / W-GMPC </a:t>
            </a:r>
            <a:r>
              <a:rPr b="1" lang="zh-CN" sz="1100" spc="-1" strike="noStrike">
                <a:solidFill>
                  <a:srgbClr val="2f75b5"/>
                </a:solidFill>
                <a:latin typeface="Noto Sans CJK TC"/>
              </a:rPr>
              <a:t>如何發揮作用</a:t>
            </a:r>
            <a:endParaRPr b="1" lang="en-US" sz="1100" spc="-1" strike="noStrike">
              <a:solidFill>
                <a:srgbClr val="2f75b5"/>
              </a:solidFill>
              <a:latin typeface="Noto Sans CJK TC"/>
              <a:ea typeface="Noto Sans CJK TC"/>
            </a:endParaRPr>
          </a:p>
        </p:txBody>
      </p:sp>
      <p:sp>
        <p:nvSpPr>
          <p:cNvPr id="140"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控制模型沿用上次：</a:t>
            </a:r>
            <a:r>
              <a:rPr b="1" lang="en-US" sz="2800" spc="-1" strike="noStrike">
                <a:solidFill>
                  <a:srgbClr val="17365d"/>
                </a:solidFill>
                <a:latin typeface="Noto Sans CJK TC"/>
              </a:rPr>
              <a:t>9 </a:t>
            </a:r>
            <a:r>
              <a:rPr b="1" lang="zh-CN" sz="2800" spc="-1" strike="noStrike">
                <a:solidFill>
                  <a:srgbClr val="17365d"/>
                </a:solidFill>
                <a:latin typeface="Noto Sans CJK TC"/>
              </a:rPr>
              <a:t>維命令，</a:t>
            </a:r>
            <a:r>
              <a:rPr b="1" lang="en-US" sz="2800" spc="-1" strike="noStrike">
                <a:solidFill>
                  <a:srgbClr val="17365d"/>
                </a:solidFill>
                <a:latin typeface="Noto Sans CJK TC"/>
              </a:rPr>
              <a:t>15 </a:t>
            </a:r>
            <a:r>
              <a:rPr b="1" lang="zh-CN" sz="2800" spc="-1" strike="noStrike">
                <a:solidFill>
                  <a:srgbClr val="17365d"/>
                </a:solidFill>
                <a:latin typeface="Noto Sans CJK TC"/>
              </a:rPr>
              <a:t>維預測狀態</a:t>
            </a:r>
            <a:endParaRPr b="1" lang="en-US" sz="2800" spc="-1" strike="noStrike">
              <a:solidFill>
                <a:srgbClr val="17365d"/>
              </a:solidFill>
              <a:latin typeface="Noto Sans CJK TC"/>
              <a:ea typeface="Noto Sans CJK TC"/>
            </a:endParaRPr>
          </a:p>
        </p:txBody>
      </p:sp>
      <p:sp>
        <p:nvSpPr>
          <p:cNvPr id="141"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142"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143"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6</a:t>
            </a:r>
            <a:endParaRPr b="0" lang="en-US" sz="1100" spc="-1" strike="noStrike">
              <a:solidFill>
                <a:srgbClr val="666666"/>
              </a:solidFill>
              <a:latin typeface="Noto Sans CJK TC"/>
              <a:ea typeface="Noto Sans CJK TC"/>
            </a:endParaRPr>
          </a:p>
        </p:txBody>
      </p:sp>
      <p:sp>
        <p:nvSpPr>
          <p:cNvPr id="144" name=""/>
          <p:cNvSpPr txBox="1"/>
          <p:nvPr/>
        </p:nvSpPr>
        <p:spPr>
          <a:xfrm>
            <a:off x="558000" y="1314000"/>
            <a:ext cx="10800000" cy="514440"/>
          </a:xfrm>
          <a:prstGeom prst="rect">
            <a:avLst/>
          </a:prstGeom>
          <a:noFill/>
          <a:ln w="0">
            <a:noFill/>
          </a:ln>
        </p:spPr>
        <p:txBody>
          <a:bodyPr lIns="43200" rIns="43200" tIns="36000" bIns="36000" anchor="t">
            <a:noAutofit/>
          </a:bodyPr>
          <a:p>
            <a:r>
              <a:rPr b="1" lang="zh-CN" sz="2400" spc="-1" strike="noStrike">
                <a:solidFill>
                  <a:srgbClr val="17365d"/>
                </a:solidFill>
                <a:latin typeface="Noto Sans CJK TC"/>
              </a:rPr>
              <a:t>預測狀態 </a:t>
            </a:r>
            <a:r>
              <a:rPr b="1" lang="en-US" sz="2400" spc="-1" strike="noStrike">
                <a:solidFill>
                  <a:srgbClr val="17365d"/>
                </a:solidFill>
                <a:latin typeface="Noto Sans CJK TC"/>
              </a:rPr>
              <a:t>z = [ q ; s ] ∈ ℝ¹⁵</a:t>
            </a:r>
            <a:r>
              <a:rPr b="1" lang="zh-CN" sz="2400" spc="-1" strike="noStrike">
                <a:solidFill>
                  <a:srgbClr val="17365d"/>
                </a:solidFill>
                <a:latin typeface="Noto Sans CJK TC"/>
              </a:rPr>
              <a:t>　　控制命令 </a:t>
            </a:r>
            <a:r>
              <a:rPr b="1" lang="en-US" sz="2400" spc="-1" strike="noStrike">
                <a:solidFill>
                  <a:srgbClr val="17365d"/>
                </a:solidFill>
                <a:latin typeface="Noto Sans CJK TC"/>
              </a:rPr>
              <a:t>u ∈ ℝ⁹</a:t>
            </a:r>
            <a:endParaRPr b="1" lang="en-US" sz="2400" spc="-1" strike="noStrike">
              <a:solidFill>
                <a:srgbClr val="17365d"/>
              </a:solidFill>
              <a:latin typeface="Noto Sans CJK TC"/>
              <a:ea typeface="Noto Sans CJK TC"/>
            </a:endParaRPr>
          </a:p>
        </p:txBody>
      </p:sp>
      <p:sp>
        <p:nvSpPr>
          <p:cNvPr id="145" name=""/>
          <p:cNvSpPr txBox="1"/>
          <p:nvPr/>
        </p:nvSpPr>
        <p:spPr>
          <a:xfrm>
            <a:off x="558000" y="2016000"/>
            <a:ext cx="10800000" cy="531000"/>
          </a:xfrm>
          <a:prstGeom prst="rect">
            <a:avLst/>
          </a:prstGeom>
          <a:noFill/>
          <a:ln w="0">
            <a:noFill/>
          </a:ln>
        </p:spPr>
        <p:txBody>
          <a:bodyPr lIns="43200" rIns="43200" tIns="36000" bIns="36000" anchor="t">
            <a:noAutofit/>
          </a:bodyPr>
          <a:p>
            <a:r>
              <a:rPr b="1" lang="en-US" sz="2500" spc="-1" strike="noStrike">
                <a:solidFill>
                  <a:srgbClr val="2f75b5"/>
                </a:solidFill>
                <a:latin typeface="Noto Sans CJK TC"/>
              </a:rPr>
              <a:t>qₐ,k+1 = qₐ,k + α ⊙ (sₖ − qₐ,k) + α ⊙ d̂ₖ</a:t>
            </a:r>
            <a:endParaRPr b="1" lang="en-US" sz="2500" spc="-1" strike="noStrike">
              <a:solidFill>
                <a:srgbClr val="2f75b5"/>
              </a:solidFill>
              <a:latin typeface="Noto Sans CJK TC"/>
              <a:ea typeface="Noto Sans CJK TC"/>
            </a:endParaRPr>
          </a:p>
        </p:txBody>
      </p:sp>
      <p:sp>
        <p:nvSpPr>
          <p:cNvPr id="146" name=""/>
          <p:cNvSpPr txBox="1"/>
          <p:nvPr/>
        </p:nvSpPr>
        <p:spPr>
          <a:xfrm>
            <a:off x="558000" y="2700000"/>
            <a:ext cx="10800000" cy="531000"/>
          </a:xfrm>
          <a:prstGeom prst="rect">
            <a:avLst/>
          </a:prstGeom>
          <a:noFill/>
          <a:ln w="0">
            <a:noFill/>
          </a:ln>
        </p:spPr>
        <p:txBody>
          <a:bodyPr lIns="43200" rIns="43200" tIns="36000" bIns="36000" anchor="t">
            <a:noAutofit/>
          </a:bodyPr>
          <a:p>
            <a:r>
              <a:rPr b="1" lang="en-US" sz="2500" spc="-1" strike="noStrike">
                <a:solidFill>
                  <a:srgbClr val="2f75b5"/>
                </a:solidFill>
                <a:latin typeface="Noto Sans CJK TC"/>
              </a:rPr>
              <a:t>sₖ+1 = sₖ + Δtₚ uₐ,k</a:t>
            </a:r>
            <a:endParaRPr b="1" lang="en-US" sz="2500" spc="-1" strike="noStrike">
              <a:solidFill>
                <a:srgbClr val="2f75b5"/>
              </a:solidFill>
              <a:latin typeface="Noto Sans CJK TC"/>
              <a:ea typeface="Noto Sans CJK TC"/>
            </a:endParaRPr>
          </a:p>
        </p:txBody>
      </p:sp>
      <p:sp>
        <p:nvSpPr>
          <p:cNvPr id="147" name=""/>
          <p:cNvSpPr txBox="1"/>
          <p:nvPr/>
        </p:nvSpPr>
        <p:spPr>
          <a:xfrm>
            <a:off x="558000" y="3294000"/>
            <a:ext cx="10800000" cy="386640"/>
          </a:xfrm>
          <a:prstGeom prst="rect">
            <a:avLst/>
          </a:prstGeom>
          <a:noFill/>
          <a:ln w="0">
            <a:noFill/>
          </a:ln>
        </p:spPr>
        <p:txBody>
          <a:bodyPr lIns="43200" rIns="43200" tIns="36000" bIns="36000" anchor="t">
            <a:noAutofit/>
          </a:bodyPr>
          <a:p>
            <a:r>
              <a:rPr b="0" lang="en-US" sz="1700" spc="-1" strike="noStrike">
                <a:solidFill>
                  <a:srgbClr val="666666"/>
                </a:solidFill>
                <a:latin typeface="Noto Sans CJK TC"/>
              </a:rPr>
              <a:t>qₐ</a:t>
            </a:r>
            <a:r>
              <a:rPr b="0" lang="zh-CN" sz="1700" spc="-1" strike="noStrike">
                <a:solidFill>
                  <a:srgbClr val="666666"/>
                </a:solidFill>
                <a:latin typeface="Noto Sans CJK TC"/>
              </a:rPr>
              <a:t>：實測角度　</a:t>
            </a:r>
            <a:r>
              <a:rPr b="0" lang="en-US" sz="1700" spc="-1" strike="noStrike">
                <a:solidFill>
                  <a:srgbClr val="666666"/>
                </a:solidFill>
                <a:latin typeface="Noto Sans CJK TC"/>
              </a:rPr>
              <a:t>s</a:t>
            </a:r>
            <a:r>
              <a:rPr b="0" lang="zh-CN" sz="1700" spc="-1" strike="noStrike">
                <a:solidFill>
                  <a:srgbClr val="666666"/>
                </a:solidFill>
                <a:latin typeface="Noto Sans CJK TC"/>
              </a:rPr>
              <a:t>：位置設定點　</a:t>
            </a:r>
            <a:r>
              <a:rPr b="0" lang="en-US" sz="1700" spc="-1" strike="noStrike">
                <a:solidFill>
                  <a:srgbClr val="666666"/>
                </a:solidFill>
                <a:latin typeface="Noto Sans CJK TC"/>
              </a:rPr>
              <a:t>α</a:t>
            </a:r>
            <a:r>
              <a:rPr b="0" lang="zh-CN" sz="1700" spc="-1" strike="noStrike">
                <a:solidFill>
                  <a:srgbClr val="666666"/>
                </a:solidFill>
                <a:latin typeface="Noto Sans CJK TC"/>
              </a:rPr>
              <a:t>：辨識係數　</a:t>
            </a:r>
            <a:r>
              <a:rPr b="0" lang="en-US" sz="1700" spc="-1" strike="noStrike">
                <a:solidFill>
                  <a:srgbClr val="666666"/>
                </a:solidFill>
                <a:latin typeface="Noto Sans CJK TC"/>
              </a:rPr>
              <a:t>d̂</a:t>
            </a:r>
            <a:r>
              <a:rPr b="0" lang="zh-CN" sz="1700" spc="-1" strike="noStrike">
                <a:solidFill>
                  <a:srgbClr val="666666"/>
                </a:solidFill>
                <a:latin typeface="Noto Sans CJK TC"/>
              </a:rPr>
              <a:t>：估計偏移</a:t>
            </a:r>
            <a:endParaRPr b="0" lang="en-US" sz="1700" spc="-1" strike="noStrike">
              <a:solidFill>
                <a:srgbClr val="666666"/>
              </a:solidFill>
              <a:latin typeface="Noto Sans CJK TC"/>
              <a:ea typeface="Noto Sans CJK TC"/>
            </a:endParaRPr>
          </a:p>
        </p:txBody>
      </p:sp>
      <p:sp>
        <p:nvSpPr>
          <p:cNvPr id="148" name=""/>
          <p:cNvSpPr/>
          <p:nvPr/>
        </p:nvSpPr>
        <p:spPr>
          <a:xfrm>
            <a:off x="504000" y="3996000"/>
            <a:ext cx="5400000" cy="122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49" name=""/>
          <p:cNvSpPr/>
          <p:nvPr/>
        </p:nvSpPr>
        <p:spPr>
          <a:xfrm>
            <a:off x="504000" y="3996000"/>
            <a:ext cx="46800" cy="1224000"/>
          </a:xfrm>
          <a:prstGeom prst="rect">
            <a:avLst/>
          </a:prstGeom>
          <a:solidFill>
            <a:srgbClr val="2f75b5"/>
          </a:solidFill>
          <a:ln w="7200">
            <a:solidFill>
              <a:srgbClr val="2f75b5"/>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50" name=""/>
          <p:cNvSpPr txBox="1"/>
          <p:nvPr/>
        </p:nvSpPr>
        <p:spPr>
          <a:xfrm>
            <a:off x="630000" y="4104000"/>
            <a:ext cx="5166000" cy="457920"/>
          </a:xfrm>
          <a:prstGeom prst="rect">
            <a:avLst/>
          </a:prstGeom>
          <a:noFill/>
          <a:ln w="0">
            <a:noFill/>
          </a:ln>
        </p:spPr>
        <p:txBody>
          <a:bodyPr lIns="43200" rIns="43200" tIns="36000" bIns="36000" anchor="t">
            <a:noAutofit/>
          </a:bodyPr>
          <a:p>
            <a:r>
              <a:rPr b="1" lang="zh-CN" sz="2100" spc="-1" strike="noStrike">
                <a:solidFill>
                  <a:srgbClr val="2f75b5"/>
                </a:solidFill>
                <a:latin typeface="Noto Sans CJK TC"/>
              </a:rPr>
              <a:t>求解器內</a:t>
            </a:r>
            <a:endParaRPr b="1" lang="en-US" sz="2100" spc="-1" strike="noStrike">
              <a:solidFill>
                <a:srgbClr val="2f75b5"/>
              </a:solidFill>
              <a:latin typeface="Noto Sans CJK TC"/>
              <a:ea typeface="Noto Sans CJK TC"/>
            </a:endParaRPr>
          </a:p>
        </p:txBody>
      </p:sp>
      <p:sp>
        <p:nvSpPr>
          <p:cNvPr id="151" name=""/>
          <p:cNvSpPr txBox="1"/>
          <p:nvPr/>
        </p:nvSpPr>
        <p:spPr>
          <a:xfrm>
            <a:off x="630000" y="4489200"/>
            <a:ext cx="5166000" cy="700920"/>
          </a:xfrm>
          <a:prstGeom prst="rect">
            <a:avLst/>
          </a:prstGeom>
          <a:noFill/>
          <a:ln w="0">
            <a:noFill/>
          </a:ln>
        </p:spPr>
        <p:txBody>
          <a:bodyPr lIns="43200" rIns="43200" tIns="36000" bIns="36000" anchor="t">
            <a:noAutofit/>
          </a:bodyPr>
          <a:p>
            <a:r>
              <a:rPr b="0" lang="en-US" sz="1700" spc="-1" strike="noStrike">
                <a:solidFill>
                  <a:srgbClr val="222222"/>
                </a:solidFill>
                <a:latin typeface="Noto Sans CJK TC"/>
              </a:rPr>
              <a:t>TCP </a:t>
            </a:r>
            <a:r>
              <a:rPr b="0" lang="zh-CN" sz="1700" spc="-1" strike="noStrike">
                <a:solidFill>
                  <a:srgbClr val="222222"/>
                </a:solidFill>
                <a:latin typeface="Noto Sans CJK TC"/>
              </a:rPr>
              <a:t>位姿追蹤、協同引導</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關節／設定點限位、命令速度與增量</a:t>
            </a:r>
            <a:endParaRPr b="0" lang="en-US" sz="1700" spc="-1" strike="noStrike">
              <a:solidFill>
                <a:srgbClr val="222222"/>
              </a:solidFill>
              <a:latin typeface="Noto Sans CJK TC"/>
              <a:ea typeface="Noto Sans CJK TC"/>
            </a:endParaRPr>
          </a:p>
        </p:txBody>
      </p:sp>
      <p:sp>
        <p:nvSpPr>
          <p:cNvPr id="152" name=""/>
          <p:cNvSpPr/>
          <p:nvPr/>
        </p:nvSpPr>
        <p:spPr>
          <a:xfrm>
            <a:off x="6264000" y="3996000"/>
            <a:ext cx="5400000" cy="1224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53" name=""/>
          <p:cNvSpPr/>
          <p:nvPr/>
        </p:nvSpPr>
        <p:spPr>
          <a:xfrm>
            <a:off x="6264000" y="3996000"/>
            <a:ext cx="46800" cy="1224000"/>
          </a:xfrm>
          <a:prstGeom prst="rect">
            <a:avLst/>
          </a:prstGeom>
          <a:solidFill>
            <a:srgbClr val="ed7d31"/>
          </a:solidFill>
          <a:ln w="7200">
            <a:solidFill>
              <a:srgbClr val="ed7d31"/>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54" name=""/>
          <p:cNvSpPr txBox="1"/>
          <p:nvPr/>
        </p:nvSpPr>
        <p:spPr>
          <a:xfrm>
            <a:off x="6390000" y="4104000"/>
            <a:ext cx="5166000" cy="457920"/>
          </a:xfrm>
          <a:prstGeom prst="rect">
            <a:avLst/>
          </a:prstGeom>
          <a:noFill/>
          <a:ln w="0">
            <a:noFill/>
          </a:ln>
        </p:spPr>
        <p:txBody>
          <a:bodyPr lIns="43200" rIns="43200" tIns="36000" bIns="36000" anchor="t">
            <a:noAutofit/>
          </a:bodyPr>
          <a:p>
            <a:r>
              <a:rPr b="1" lang="zh-CN" sz="2100" spc="-1" strike="noStrike">
                <a:solidFill>
                  <a:srgbClr val="ed7d31"/>
                </a:solidFill>
                <a:latin typeface="Noto Sans CJK TC"/>
              </a:rPr>
              <a:t>執行與外部監看</a:t>
            </a:r>
            <a:endParaRPr b="1" lang="en-US" sz="2100" spc="-1" strike="noStrike">
              <a:solidFill>
                <a:srgbClr val="ed7d31"/>
              </a:solidFill>
              <a:latin typeface="Noto Sans CJK TC"/>
              <a:ea typeface="Noto Sans CJK TC"/>
            </a:endParaRPr>
          </a:p>
        </p:txBody>
      </p:sp>
      <p:sp>
        <p:nvSpPr>
          <p:cNvPr id="155" name=""/>
          <p:cNvSpPr txBox="1"/>
          <p:nvPr/>
        </p:nvSpPr>
        <p:spPr>
          <a:xfrm>
            <a:off x="6390000" y="4489200"/>
            <a:ext cx="5166000" cy="70092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實際命令承接、指定接觸與淨空</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資料新鮮度、持握漂移、中止</a:t>
            </a:r>
            <a:endParaRPr b="0" lang="en-US" sz="1700" spc="-1" strike="noStrike">
              <a:solidFill>
                <a:srgbClr val="222222"/>
              </a:solidFill>
              <a:latin typeface="Noto Sans CJK TC"/>
              <a:ea typeface="Noto Sans CJK TC"/>
            </a:endParaRPr>
          </a:p>
        </p:txBody>
      </p:sp>
      <p:sp>
        <p:nvSpPr>
          <p:cNvPr id="156"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57"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17365d"/>
                </a:solidFill>
                <a:latin typeface="Noto Sans CJK TC"/>
              </a:rPr>
              <a:t>本期新增重點：模型偏移何時更新、參考能否執行、接觸切換如何承接。</a:t>
            </a:r>
            <a:endParaRPr b="1" lang="en-US" sz="1600" spc="-1" strike="noStrike">
              <a:solidFill>
                <a:srgbClr val="17365d"/>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03 / </a:t>
            </a:r>
            <a:r>
              <a:rPr b="1" lang="zh-CN" sz="1100" spc="-1" strike="noStrike">
                <a:solidFill>
                  <a:srgbClr val="2f75b5"/>
                </a:solidFill>
                <a:latin typeface="Noto Sans CJK TC"/>
              </a:rPr>
              <a:t>由觀察問題到控制修正</a:t>
            </a:r>
            <a:endParaRPr b="1" lang="en-US" sz="1100" spc="-1" strike="noStrike">
              <a:solidFill>
                <a:srgbClr val="2f75b5"/>
              </a:solidFill>
              <a:latin typeface="Noto Sans CJK TC"/>
              <a:ea typeface="Noto Sans CJK TC"/>
            </a:endParaRPr>
          </a:p>
        </p:txBody>
      </p:sp>
      <p:sp>
        <p:nvSpPr>
          <p:cNvPr id="159"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本期改進一：開門期間更新偏移，而非全程凍結</a:t>
            </a:r>
            <a:endParaRPr b="1" lang="en-US" sz="2800" spc="-1" strike="noStrike">
              <a:solidFill>
                <a:srgbClr val="17365d"/>
              </a:solidFill>
              <a:latin typeface="Noto Sans CJK TC"/>
              <a:ea typeface="Noto Sans CJK TC"/>
            </a:endParaRPr>
          </a:p>
        </p:txBody>
      </p:sp>
      <p:sp>
        <p:nvSpPr>
          <p:cNvPr id="160"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161"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162"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7</a:t>
            </a:r>
            <a:endParaRPr b="0" lang="en-US" sz="1100" spc="-1" strike="noStrike">
              <a:solidFill>
                <a:srgbClr val="666666"/>
              </a:solidFill>
              <a:latin typeface="Noto Sans CJK TC"/>
              <a:ea typeface="Noto Sans CJK TC"/>
            </a:endParaRPr>
          </a:p>
        </p:txBody>
      </p:sp>
      <p:sp>
        <p:nvSpPr>
          <p:cNvPr id="163" name=""/>
          <p:cNvSpPr/>
          <p:nvPr/>
        </p:nvSpPr>
        <p:spPr>
          <a:xfrm>
            <a:off x="450000" y="1404000"/>
            <a:ext cx="5400000" cy="1800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64" name=""/>
          <p:cNvSpPr/>
          <p:nvPr/>
        </p:nvSpPr>
        <p:spPr>
          <a:xfrm>
            <a:off x="450000" y="1404000"/>
            <a:ext cx="46800" cy="1800000"/>
          </a:xfrm>
          <a:prstGeom prst="rect">
            <a:avLst/>
          </a:prstGeom>
          <a:solidFill>
            <a:srgbClr val="666666"/>
          </a:solidFill>
          <a:ln w="7200">
            <a:solidFill>
              <a:srgbClr val="666666"/>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65" name=""/>
          <p:cNvSpPr txBox="1"/>
          <p:nvPr/>
        </p:nvSpPr>
        <p:spPr>
          <a:xfrm>
            <a:off x="576000" y="1512000"/>
            <a:ext cx="5166000" cy="457920"/>
          </a:xfrm>
          <a:prstGeom prst="rect">
            <a:avLst/>
          </a:prstGeom>
          <a:noFill/>
          <a:ln w="0">
            <a:noFill/>
          </a:ln>
        </p:spPr>
        <p:txBody>
          <a:bodyPr lIns="43200" rIns="43200" tIns="36000" bIns="36000" anchor="t">
            <a:noAutofit/>
          </a:bodyPr>
          <a:p>
            <a:r>
              <a:rPr b="1" lang="zh-CN" sz="2100" spc="-1" strike="noStrike">
                <a:solidFill>
                  <a:srgbClr val="666666"/>
                </a:solidFill>
                <a:latin typeface="Noto Sans CJK TC"/>
              </a:rPr>
              <a:t>原本</a:t>
            </a:r>
            <a:endParaRPr b="1" lang="en-US" sz="2100" spc="-1" strike="noStrike">
              <a:solidFill>
                <a:srgbClr val="666666"/>
              </a:solidFill>
              <a:latin typeface="Noto Sans CJK TC"/>
              <a:ea typeface="Noto Sans CJK TC"/>
            </a:endParaRPr>
          </a:p>
        </p:txBody>
      </p:sp>
      <p:sp>
        <p:nvSpPr>
          <p:cNvPr id="166" name=""/>
          <p:cNvSpPr txBox="1"/>
          <p:nvPr/>
        </p:nvSpPr>
        <p:spPr>
          <a:xfrm>
            <a:off x="576000" y="1897200"/>
            <a:ext cx="5166000" cy="1242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切入開門運動後凍結 </a:t>
            </a:r>
            <a:r>
              <a:rPr b="0" lang="en-US" sz="1700" spc="-1" strike="noStrike">
                <a:solidFill>
                  <a:srgbClr val="222222"/>
                </a:solidFill>
                <a:latin typeface="Noto Sans CJK TC"/>
              </a:rPr>
              <a:t>d̂</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約 </a:t>
            </a:r>
            <a:r>
              <a:rPr b="0" lang="en-US" sz="1700" spc="-1" strike="noStrike">
                <a:solidFill>
                  <a:srgbClr val="222222"/>
                </a:solidFill>
                <a:latin typeface="Noto Sans CJK TC"/>
              </a:rPr>
              <a:t>100 s </a:t>
            </a:r>
            <a:r>
              <a:rPr b="0" lang="zh-CN" sz="1700" spc="-1" strike="noStrike">
                <a:solidFill>
                  <a:srgbClr val="222222"/>
                </a:solidFill>
                <a:latin typeface="Noto Sans CJK TC"/>
              </a:rPr>
              <a:t>不再更新</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末段持握位置誤差增大</a:t>
            </a:r>
            <a:endParaRPr b="0" lang="en-US" sz="1700" spc="-1" strike="noStrike">
              <a:solidFill>
                <a:srgbClr val="222222"/>
              </a:solidFill>
              <a:latin typeface="Noto Sans CJK TC"/>
              <a:ea typeface="Noto Sans CJK TC"/>
            </a:endParaRPr>
          </a:p>
        </p:txBody>
      </p:sp>
      <p:sp>
        <p:nvSpPr>
          <p:cNvPr id="167" name=""/>
          <p:cNvSpPr/>
          <p:nvPr/>
        </p:nvSpPr>
        <p:spPr>
          <a:xfrm>
            <a:off x="6228000" y="1404000"/>
            <a:ext cx="5400000" cy="1800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68" name=""/>
          <p:cNvSpPr/>
          <p:nvPr/>
        </p:nvSpPr>
        <p:spPr>
          <a:xfrm>
            <a:off x="6228000" y="1404000"/>
            <a:ext cx="46800" cy="1800000"/>
          </a:xfrm>
          <a:prstGeom prst="rect">
            <a:avLst/>
          </a:prstGeom>
          <a:solidFill>
            <a:srgbClr val="2f75b5"/>
          </a:solidFill>
          <a:ln w="7200">
            <a:solidFill>
              <a:srgbClr val="2f75b5"/>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169" name=""/>
          <p:cNvSpPr txBox="1"/>
          <p:nvPr/>
        </p:nvSpPr>
        <p:spPr>
          <a:xfrm>
            <a:off x="6354000" y="1512000"/>
            <a:ext cx="5166000" cy="457920"/>
          </a:xfrm>
          <a:prstGeom prst="rect">
            <a:avLst/>
          </a:prstGeom>
          <a:noFill/>
          <a:ln w="0">
            <a:noFill/>
          </a:ln>
        </p:spPr>
        <p:txBody>
          <a:bodyPr lIns="43200" rIns="43200" tIns="36000" bIns="36000" anchor="t">
            <a:noAutofit/>
          </a:bodyPr>
          <a:p>
            <a:r>
              <a:rPr b="1" lang="zh-CN" sz="2100" spc="-1" strike="noStrike">
                <a:solidFill>
                  <a:srgbClr val="2f75b5"/>
                </a:solidFill>
                <a:latin typeface="Noto Sans CJK TC"/>
              </a:rPr>
              <a:t>本期候選</a:t>
            </a:r>
            <a:endParaRPr b="1" lang="en-US" sz="2100" spc="-1" strike="noStrike">
              <a:solidFill>
                <a:srgbClr val="2f75b5"/>
              </a:solidFill>
              <a:latin typeface="Noto Sans CJK TC"/>
              <a:ea typeface="Noto Sans CJK TC"/>
            </a:endParaRPr>
          </a:p>
        </p:txBody>
      </p:sp>
      <p:sp>
        <p:nvSpPr>
          <p:cNvPr id="170" name=""/>
          <p:cNvSpPr txBox="1"/>
          <p:nvPr/>
        </p:nvSpPr>
        <p:spPr>
          <a:xfrm>
            <a:off x="6354000" y="1897200"/>
            <a:ext cx="5166000" cy="1242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開門／收斂期間按有效區間更新</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暫停生效時才凍結</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停止與失效處置仍優先</a:t>
            </a:r>
            <a:endParaRPr b="0" lang="en-US" sz="1700" spc="-1" strike="noStrike">
              <a:solidFill>
                <a:srgbClr val="222222"/>
              </a:solidFill>
              <a:latin typeface="Noto Sans CJK TC"/>
              <a:ea typeface="Noto Sans CJK TC"/>
            </a:endParaRPr>
          </a:p>
        </p:txBody>
      </p:sp>
      <p:sp>
        <p:nvSpPr>
          <p:cNvPr id="171" name=""/>
          <p:cNvSpPr txBox="1"/>
          <p:nvPr/>
        </p:nvSpPr>
        <p:spPr>
          <a:xfrm>
            <a:off x="1044000" y="3852000"/>
            <a:ext cx="10080000" cy="662040"/>
          </a:xfrm>
          <a:prstGeom prst="rect">
            <a:avLst/>
          </a:prstGeom>
          <a:noFill/>
          <a:ln w="0">
            <a:noFill/>
          </a:ln>
        </p:spPr>
        <p:txBody>
          <a:bodyPr lIns="43200" rIns="43200" tIns="36000" bIns="36000" anchor="t">
            <a:noAutofit/>
          </a:bodyPr>
          <a:p>
            <a:pPr algn="r"/>
            <a:r>
              <a:rPr b="1" lang="en-US" sz="3200" spc="-1" strike="noStrike">
                <a:solidFill>
                  <a:srgbClr val="287766"/>
                </a:solidFill>
                <a:latin typeface="Noto Sans CJK TC"/>
              </a:rPr>
              <a:t>0.776 → 0.045 mm</a:t>
            </a:r>
            <a:endParaRPr b="1" lang="en-US" sz="3200" spc="-1" strike="noStrike">
              <a:solidFill>
                <a:srgbClr val="287766"/>
              </a:solidFill>
              <a:latin typeface="Noto Sans CJK TC"/>
              <a:ea typeface="Noto Sans CJK TC"/>
            </a:endParaRPr>
          </a:p>
        </p:txBody>
      </p:sp>
      <p:sp>
        <p:nvSpPr>
          <p:cNvPr id="172" name=""/>
          <p:cNvSpPr txBox="1"/>
          <p:nvPr/>
        </p:nvSpPr>
        <p:spPr>
          <a:xfrm>
            <a:off x="1044000" y="4356000"/>
            <a:ext cx="10080000" cy="65772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既有紀錄的因果影子重播</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鉛直一區間預測殘差 </a:t>
            </a:r>
            <a:r>
              <a:rPr b="0" lang="en-US" sz="1600" spc="-1" strike="noStrike">
                <a:solidFill>
                  <a:srgbClr val="222222"/>
                </a:solidFill>
                <a:latin typeface="Noto Sans CJK TC"/>
              </a:rPr>
              <a:t>RMS</a:t>
            </a:r>
            <a:endParaRPr b="0" lang="en-US" sz="1600" spc="-1" strike="noStrike">
              <a:solidFill>
                <a:srgbClr val="222222"/>
              </a:solidFill>
              <a:latin typeface="Noto Sans CJK TC"/>
              <a:ea typeface="Noto Sans CJK TC"/>
            </a:endParaRPr>
          </a:p>
        </p:txBody>
      </p:sp>
      <p:sp>
        <p:nvSpPr>
          <p:cNvPr id="173"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74"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ed7d31"/>
                </a:solidFill>
                <a:latin typeface="Noto Sans CJK TC"/>
              </a:rPr>
              <a:t>更新前估計做預測，不用未來資料回填；仍須分報接觸承載，避免把負載學入當成成功。</a:t>
            </a:r>
            <a:endParaRPr b="1" lang="en-US" sz="1600" spc="-1" strike="noStrike">
              <a:solidFill>
                <a:srgbClr val="ed7d31"/>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03 / </a:t>
            </a:r>
            <a:r>
              <a:rPr b="1" lang="zh-CN" sz="1100" spc="-1" strike="noStrike">
                <a:solidFill>
                  <a:srgbClr val="2f75b5"/>
                </a:solidFill>
                <a:latin typeface="Noto Sans CJK TC"/>
              </a:rPr>
              <a:t>預測修正的接觸模擬結果</a:t>
            </a:r>
            <a:endParaRPr b="1" lang="en-US" sz="1100" spc="-1" strike="noStrike">
              <a:solidFill>
                <a:srgbClr val="2f75b5"/>
              </a:solidFill>
              <a:latin typeface="Noto Sans CJK TC"/>
              <a:ea typeface="Noto Sans CJK TC"/>
            </a:endParaRPr>
          </a:p>
        </p:txBody>
      </p:sp>
      <p:sp>
        <p:nvSpPr>
          <p:cNvPr id="176"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實際改善：共同門角區間的持握漂移下降</a:t>
            </a:r>
            <a:endParaRPr b="1" lang="en-US" sz="2800" spc="-1" strike="noStrike">
              <a:solidFill>
                <a:srgbClr val="17365d"/>
              </a:solidFill>
              <a:latin typeface="Noto Sans CJK TC"/>
              <a:ea typeface="Noto Sans CJK TC"/>
            </a:endParaRPr>
          </a:p>
        </p:txBody>
      </p:sp>
      <p:sp>
        <p:nvSpPr>
          <p:cNvPr id="177"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178"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179"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8</a:t>
            </a:r>
            <a:endParaRPr b="0" lang="en-US" sz="1100" spc="-1" strike="noStrike">
              <a:solidFill>
                <a:srgbClr val="666666"/>
              </a:solidFill>
              <a:latin typeface="Noto Sans CJK TC"/>
              <a:ea typeface="Noto Sans CJK TC"/>
            </a:endParaRPr>
          </a:p>
        </p:txBody>
      </p:sp>
      <p:pic>
        <p:nvPicPr>
          <p:cNvPr id="180" name="" descr=""/>
          <p:cNvPicPr/>
          <p:nvPr/>
        </p:nvPicPr>
        <p:blipFill>
          <a:blip r:embed="rId1"/>
          <a:stretch/>
        </p:blipFill>
        <p:spPr>
          <a:xfrm>
            <a:off x="996840" y="1224000"/>
            <a:ext cx="10173600" cy="3744000"/>
          </a:xfrm>
          <a:prstGeom prst="rect">
            <a:avLst/>
          </a:prstGeom>
          <a:ln w="0">
            <a:noFill/>
          </a:ln>
        </p:spPr>
      </p:pic>
      <p:sp>
        <p:nvSpPr>
          <p:cNvPr id="181" name=""/>
          <p:cNvSpPr txBox="1"/>
          <p:nvPr/>
        </p:nvSpPr>
        <p:spPr>
          <a:xfrm>
            <a:off x="522000" y="5040000"/>
            <a:ext cx="10800000" cy="514440"/>
          </a:xfrm>
          <a:prstGeom prst="rect">
            <a:avLst/>
          </a:prstGeom>
          <a:noFill/>
          <a:ln w="0">
            <a:noFill/>
          </a:ln>
        </p:spPr>
        <p:txBody>
          <a:bodyPr lIns="43200" rIns="43200" tIns="36000" bIns="36000" anchor="t">
            <a:noAutofit/>
          </a:bodyPr>
          <a:p>
            <a:r>
              <a:rPr b="1" lang="en-US" sz="2400" spc="-1" strike="noStrike">
                <a:solidFill>
                  <a:srgbClr val="2f75b5"/>
                </a:solidFill>
                <a:latin typeface="Noto Sans CJK TC"/>
              </a:rPr>
              <a:t>40–43.7° </a:t>
            </a:r>
            <a:r>
              <a:rPr b="1" lang="zh-CN" sz="2400" spc="-1" strike="noStrike">
                <a:solidFill>
                  <a:srgbClr val="2f75b5"/>
                </a:solidFill>
                <a:latin typeface="Noto Sans CJK TC"/>
              </a:rPr>
              <a:t>平均：</a:t>
            </a:r>
            <a:r>
              <a:rPr b="1" lang="en-US" sz="2400" spc="-1" strike="noStrike">
                <a:solidFill>
                  <a:srgbClr val="2f75b5"/>
                </a:solidFill>
                <a:latin typeface="Noto Sans CJK TC"/>
              </a:rPr>
              <a:t>4.48 → 1.33</a:t>
            </a:r>
            <a:r>
              <a:rPr b="1" lang="zh-CN" sz="2400" spc="-1" strike="noStrike">
                <a:solidFill>
                  <a:srgbClr val="2f75b5"/>
                </a:solidFill>
                <a:latin typeface="Noto Sans CJK TC"/>
              </a:rPr>
              <a:t>／</a:t>
            </a:r>
            <a:r>
              <a:rPr b="1" lang="en-US" sz="2400" spc="-1" strike="noStrike">
                <a:solidFill>
                  <a:srgbClr val="2f75b5"/>
                </a:solidFill>
                <a:latin typeface="Noto Sans CJK TC"/>
              </a:rPr>
              <a:t>1.32</a:t>
            </a:r>
            <a:r>
              <a:rPr b="1" lang="zh-CN" sz="2400" spc="-1" strike="noStrike">
                <a:solidFill>
                  <a:srgbClr val="2f75b5"/>
                </a:solidFill>
                <a:latin typeface="Noto Sans CJK TC"/>
              </a:rPr>
              <a:t>／</a:t>
            </a:r>
            <a:r>
              <a:rPr b="1" lang="en-US" sz="2400" spc="-1" strike="noStrike">
                <a:solidFill>
                  <a:srgbClr val="2f75b5"/>
                </a:solidFill>
                <a:latin typeface="Noto Sans CJK TC"/>
              </a:rPr>
              <a:t>1.35 mm</a:t>
            </a:r>
            <a:endParaRPr b="1" lang="en-US" sz="2400" spc="-1" strike="noStrike">
              <a:solidFill>
                <a:srgbClr val="2f75b5"/>
              </a:solidFill>
              <a:latin typeface="Noto Sans CJK TC"/>
              <a:ea typeface="Noto Sans CJK TC"/>
            </a:endParaRPr>
          </a:p>
        </p:txBody>
      </p:sp>
      <p:sp>
        <p:nvSpPr>
          <p:cNvPr id="182"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83"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ed7d31"/>
                </a:solidFill>
                <a:latin typeface="Noto Sans CJK TC"/>
              </a:rPr>
              <a:t>相較本平台早期配置的改善，非超越外部論文；末段最大 </a:t>
            </a:r>
            <a:r>
              <a:rPr b="1" lang="en-US" sz="1600" spc="-1" strike="noStrike">
                <a:solidFill>
                  <a:srgbClr val="ed7d31"/>
                </a:solidFill>
                <a:latin typeface="Noto Sans CJK TC"/>
              </a:rPr>
              <a:t>4.82 mm</a:t>
            </a:r>
            <a:r>
              <a:rPr b="1" lang="zh-CN" sz="1600" spc="-1" strike="noStrike">
                <a:solidFill>
                  <a:srgbClr val="ed7d31"/>
                </a:solidFill>
                <a:latin typeface="Noto Sans CJK TC"/>
              </a:rPr>
              <a:t>，可靠性仍未通過。</a:t>
            </a:r>
            <a:endParaRPr b="1" lang="en-US" sz="1600" spc="-1" strike="noStrike">
              <a:solidFill>
                <a:srgbClr val="ed7d31"/>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03 / </a:t>
            </a:r>
            <a:r>
              <a:rPr b="1" lang="zh-CN" sz="1100" spc="-1" strike="noStrike">
                <a:solidFill>
                  <a:srgbClr val="2f75b5"/>
                </a:solidFill>
                <a:latin typeface="Noto Sans CJK TC"/>
              </a:rPr>
              <a:t>從直線機構到鉸鏈機構</a:t>
            </a:r>
            <a:endParaRPr b="1" lang="en-US" sz="1100" spc="-1" strike="noStrike">
              <a:solidFill>
                <a:srgbClr val="2f75b5"/>
              </a:solidFill>
              <a:latin typeface="Noto Sans CJK TC"/>
              <a:ea typeface="Noto Sans CJK TC"/>
            </a:endParaRPr>
          </a:p>
        </p:txBody>
      </p:sp>
      <p:sp>
        <p:nvSpPr>
          <p:cNvPr id="185"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任務能力擴展：單趟 </a:t>
            </a:r>
            <a:r>
              <a:rPr b="1" lang="en-US" sz="2800" spc="-1" strike="noStrike">
                <a:solidFill>
                  <a:srgbClr val="17365d"/>
                </a:solidFill>
                <a:latin typeface="Noto Sans CJK TC"/>
              </a:rPr>
              <a:t>60° </a:t>
            </a:r>
            <a:r>
              <a:rPr b="1" lang="zh-CN" sz="2800" spc="-1" strike="noStrike">
                <a:solidFill>
                  <a:srgbClr val="17365d"/>
                </a:solidFill>
                <a:latin typeface="Noto Sans CJK TC"/>
              </a:rPr>
              <a:t>開門與受控暫停通過</a:t>
            </a:r>
            <a:endParaRPr b="1" lang="en-US" sz="2800" spc="-1" strike="noStrike">
              <a:solidFill>
                <a:srgbClr val="17365d"/>
              </a:solidFill>
              <a:latin typeface="Noto Sans CJK TC"/>
              <a:ea typeface="Noto Sans CJK TC"/>
            </a:endParaRPr>
          </a:p>
        </p:txBody>
      </p:sp>
      <p:sp>
        <p:nvSpPr>
          <p:cNvPr id="186"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187"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188"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9</a:t>
            </a:r>
            <a:endParaRPr b="0" lang="en-US" sz="1100" spc="-1" strike="noStrike">
              <a:solidFill>
                <a:srgbClr val="666666"/>
              </a:solidFill>
              <a:latin typeface="Noto Sans CJK TC"/>
              <a:ea typeface="Noto Sans CJK TC"/>
            </a:endParaRPr>
          </a:p>
        </p:txBody>
      </p:sp>
      <p:pic>
        <p:nvPicPr>
          <p:cNvPr id="189" name="" descr=""/>
          <p:cNvPicPr/>
          <p:nvPr/>
        </p:nvPicPr>
        <p:blipFill>
          <a:blip r:embed="rId1"/>
          <a:stretch/>
        </p:blipFill>
        <p:spPr>
          <a:xfrm>
            <a:off x="849960" y="1242000"/>
            <a:ext cx="6399720" cy="3600000"/>
          </a:xfrm>
          <a:prstGeom prst="rect">
            <a:avLst/>
          </a:prstGeom>
          <a:ln w="0">
            <a:noFill/>
          </a:ln>
        </p:spPr>
      </p:pic>
      <p:pic>
        <p:nvPicPr>
          <p:cNvPr id="190" name="" descr=""/>
          <p:cNvPicPr/>
          <p:nvPr/>
        </p:nvPicPr>
        <p:blipFill>
          <a:blip r:embed="rId2"/>
          <a:stretch/>
        </p:blipFill>
        <p:spPr>
          <a:xfrm>
            <a:off x="7884000" y="1320480"/>
            <a:ext cx="3816000" cy="2146320"/>
          </a:xfrm>
          <a:prstGeom prst="rect">
            <a:avLst/>
          </a:prstGeom>
          <a:ln w="0">
            <a:noFill/>
          </a:ln>
        </p:spPr>
      </p:pic>
      <p:sp>
        <p:nvSpPr>
          <p:cNvPr id="191" name=""/>
          <p:cNvSpPr txBox="1"/>
          <p:nvPr/>
        </p:nvSpPr>
        <p:spPr>
          <a:xfrm>
            <a:off x="7848000" y="3888000"/>
            <a:ext cx="3888000" cy="662040"/>
          </a:xfrm>
          <a:prstGeom prst="rect">
            <a:avLst/>
          </a:prstGeom>
          <a:noFill/>
          <a:ln w="0">
            <a:noFill/>
          </a:ln>
        </p:spPr>
        <p:txBody>
          <a:bodyPr lIns="43200" rIns="43200" tIns="36000" bIns="36000" anchor="t">
            <a:noAutofit/>
          </a:bodyPr>
          <a:p>
            <a:pPr algn="r"/>
            <a:r>
              <a:rPr b="1" lang="en-US" sz="3200" spc="-1" strike="noStrike">
                <a:solidFill>
                  <a:srgbClr val="287766"/>
                </a:solidFill>
                <a:latin typeface="Noto Sans CJK TC"/>
              </a:rPr>
              <a:t>60.005°</a:t>
            </a:r>
            <a:endParaRPr b="1" lang="en-US" sz="3200" spc="-1" strike="noStrike">
              <a:solidFill>
                <a:srgbClr val="287766"/>
              </a:solidFill>
              <a:latin typeface="Noto Sans CJK TC"/>
              <a:ea typeface="Noto Sans CJK TC"/>
            </a:endParaRPr>
          </a:p>
        </p:txBody>
      </p:sp>
      <p:sp>
        <p:nvSpPr>
          <p:cNvPr id="192" name=""/>
          <p:cNvSpPr txBox="1"/>
          <p:nvPr/>
        </p:nvSpPr>
        <p:spPr>
          <a:xfrm>
            <a:off x="7848000" y="4392000"/>
            <a:ext cx="3888000" cy="57600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進入暫停時的實測門角</a:t>
            </a:r>
            <a:endParaRPr b="0" lang="en-US" sz="1600" spc="-1" strike="noStrike">
              <a:solidFill>
                <a:srgbClr val="222222"/>
              </a:solidFill>
              <a:latin typeface="Noto Sans CJK TC"/>
              <a:ea typeface="Noto Sans CJK TC"/>
            </a:endParaRPr>
          </a:p>
        </p:txBody>
      </p:sp>
      <p:sp>
        <p:nvSpPr>
          <p:cNvPr id="193" name=""/>
          <p:cNvSpPr txBox="1"/>
          <p:nvPr/>
        </p:nvSpPr>
        <p:spPr>
          <a:xfrm>
            <a:off x="522000" y="5040000"/>
            <a:ext cx="10800000" cy="457920"/>
          </a:xfrm>
          <a:prstGeom prst="rect">
            <a:avLst/>
          </a:prstGeom>
          <a:noFill/>
          <a:ln w="0">
            <a:noFill/>
          </a:ln>
        </p:spPr>
        <p:txBody>
          <a:bodyPr lIns="43200" rIns="43200" tIns="36000" bIns="36000" anchor="t">
            <a:noAutofit/>
          </a:bodyPr>
          <a:p>
            <a:r>
              <a:rPr b="1" lang="zh-CN" sz="2100" spc="-1" strike="noStrike">
                <a:solidFill>
                  <a:srgbClr val="287766"/>
                </a:solidFill>
                <a:latin typeface="Noto Sans CJK TC"/>
              </a:rPr>
              <a:t>事前判定器通過｜主動保持停止觀察 </a:t>
            </a:r>
            <a:r>
              <a:rPr b="1" lang="en-US" sz="2100" spc="-1" strike="noStrike">
                <a:solidFill>
                  <a:srgbClr val="287766"/>
                </a:solidFill>
                <a:latin typeface="Noto Sans CJK TC"/>
              </a:rPr>
              <a:t>10.06 s</a:t>
            </a:r>
            <a:endParaRPr b="1" lang="en-US" sz="2100" spc="-1" strike="noStrike">
              <a:solidFill>
                <a:srgbClr val="287766"/>
              </a:solidFill>
              <a:latin typeface="Noto Sans CJK TC"/>
              <a:ea typeface="Noto Sans CJK TC"/>
            </a:endParaRPr>
          </a:p>
        </p:txBody>
      </p:sp>
      <p:sp>
        <p:nvSpPr>
          <p:cNvPr id="194" name=""/>
          <p:cNvSpPr txBox="1"/>
          <p:nvPr/>
        </p:nvSpPr>
        <p:spPr>
          <a:xfrm>
            <a:off x="522000" y="5544000"/>
            <a:ext cx="10440000" cy="331560"/>
          </a:xfrm>
          <a:prstGeom prst="rect">
            <a:avLst/>
          </a:prstGeom>
          <a:noFill/>
          <a:ln w="0">
            <a:noFill/>
          </a:ln>
        </p:spPr>
        <p:txBody>
          <a:bodyPr lIns="43200" rIns="43200" tIns="36000" bIns="36000" anchor="t">
            <a:noAutofit/>
          </a:bodyPr>
          <a:p>
            <a:r>
              <a:rPr b="0" lang="zh-CN" sz="1800" spc="-1" strike="noStrike">
                <a:solidFill>
                  <a:srgbClr val="000000"/>
                </a:solidFill>
                <a:latin typeface="Arial"/>
                <a:hlinkClick r:id="rId3"/>
              </a:rPr>
              <a:t>播放：60° 開門側視實錄重播</a:t>
            </a:r>
            <a:endParaRPr b="0" lang="en-US" sz="1800" spc="-1" strike="noStrike">
              <a:solidFill>
                <a:srgbClr val="000000"/>
              </a:solidFill>
              <a:latin typeface="Arial"/>
            </a:endParaRPr>
          </a:p>
        </p:txBody>
      </p:sp>
      <p:sp>
        <p:nvSpPr>
          <p:cNvPr id="195"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196"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666666"/>
                </a:solidFill>
                <a:latin typeface="Noto Sans CJK TC"/>
              </a:rPr>
              <a:t>已知場景、單趟、暫停期 </a:t>
            </a:r>
            <a:r>
              <a:rPr b="1" lang="en-US" sz="1600" spc="-1" strike="noStrike">
                <a:solidFill>
                  <a:srgbClr val="666666"/>
                </a:solidFill>
                <a:latin typeface="Noto Sans CJK TC"/>
              </a:rPr>
              <a:t>20 N </a:t>
            </a:r>
            <a:r>
              <a:rPr b="1" lang="zh-CN" sz="1600" spc="-1" strike="noStrike">
                <a:solidFill>
                  <a:srgbClr val="666666"/>
                </a:solidFill>
                <a:latin typeface="Noto Sans CJK TC"/>
              </a:rPr>
              <a:t>上限；不代表撤除保持後停止、實機或通行能力。</a:t>
            </a:r>
            <a:endParaRPr b="1" lang="en-US" sz="1600" spc="-1" strike="noStrike">
              <a:solidFill>
                <a:srgbClr val="666666"/>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03 / </a:t>
            </a:r>
            <a:r>
              <a:rPr b="1" lang="zh-CN" sz="1100" spc="-1" strike="noStrike">
                <a:solidFill>
                  <a:srgbClr val="2f75b5"/>
                </a:solidFill>
                <a:latin typeface="Noto Sans CJK TC"/>
              </a:rPr>
              <a:t>核心動作證據與未通過項分開</a:t>
            </a:r>
            <a:endParaRPr b="1" lang="en-US" sz="1100" spc="-1" strike="noStrike">
              <a:solidFill>
                <a:srgbClr val="2f75b5"/>
              </a:solidFill>
              <a:latin typeface="Noto Sans CJK TC"/>
              <a:ea typeface="Noto Sans CJK TC"/>
            </a:endParaRPr>
          </a:p>
        </p:txBody>
      </p:sp>
      <p:sp>
        <p:nvSpPr>
          <p:cNvPr id="198"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全身協同證據：開門同期，底盤已往出口繞行</a:t>
            </a:r>
            <a:endParaRPr b="1" lang="en-US" sz="2800" spc="-1" strike="noStrike">
              <a:solidFill>
                <a:srgbClr val="17365d"/>
              </a:solidFill>
              <a:latin typeface="Noto Sans CJK TC"/>
              <a:ea typeface="Noto Sans CJK TC"/>
            </a:endParaRPr>
          </a:p>
        </p:txBody>
      </p:sp>
      <p:sp>
        <p:nvSpPr>
          <p:cNvPr id="199"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200"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201"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10</a:t>
            </a:r>
            <a:endParaRPr b="0" lang="en-US" sz="1100" spc="-1" strike="noStrike">
              <a:solidFill>
                <a:srgbClr val="666666"/>
              </a:solidFill>
              <a:latin typeface="Noto Sans CJK TC"/>
              <a:ea typeface="Noto Sans CJK TC"/>
            </a:endParaRPr>
          </a:p>
        </p:txBody>
      </p:sp>
      <p:pic>
        <p:nvPicPr>
          <p:cNvPr id="202" name="" descr=""/>
          <p:cNvPicPr/>
          <p:nvPr/>
        </p:nvPicPr>
        <p:blipFill>
          <a:blip r:embed="rId1"/>
          <a:stretch/>
        </p:blipFill>
        <p:spPr>
          <a:xfrm>
            <a:off x="864000" y="1260000"/>
            <a:ext cx="6912000" cy="3888000"/>
          </a:xfrm>
          <a:prstGeom prst="rect">
            <a:avLst/>
          </a:prstGeom>
          <a:ln w="0">
            <a:noFill/>
          </a:ln>
        </p:spPr>
      </p:pic>
      <p:sp>
        <p:nvSpPr>
          <p:cNvPr id="203" name=""/>
          <p:cNvSpPr txBox="1"/>
          <p:nvPr/>
        </p:nvSpPr>
        <p:spPr>
          <a:xfrm>
            <a:off x="8280000" y="1332000"/>
            <a:ext cx="3348000" cy="662040"/>
          </a:xfrm>
          <a:prstGeom prst="rect">
            <a:avLst/>
          </a:prstGeom>
          <a:noFill/>
          <a:ln w="0">
            <a:noFill/>
          </a:ln>
        </p:spPr>
        <p:txBody>
          <a:bodyPr lIns="43200" rIns="43200" tIns="36000" bIns="36000" anchor="t">
            <a:noAutofit/>
          </a:bodyPr>
          <a:p>
            <a:pPr algn="r"/>
            <a:r>
              <a:rPr b="1" lang="en-US" sz="3200" spc="-1" strike="noStrike">
                <a:solidFill>
                  <a:srgbClr val="2f75b5"/>
                </a:solidFill>
                <a:latin typeface="Noto Sans CJK TC"/>
              </a:rPr>
              <a:t>47.74°</a:t>
            </a:r>
            <a:endParaRPr b="1" lang="en-US" sz="3200" spc="-1" strike="noStrike">
              <a:solidFill>
                <a:srgbClr val="2f75b5"/>
              </a:solidFill>
              <a:latin typeface="Noto Sans CJK TC"/>
              <a:ea typeface="Noto Sans CJK TC"/>
            </a:endParaRPr>
          </a:p>
        </p:txBody>
      </p:sp>
      <p:sp>
        <p:nvSpPr>
          <p:cNvPr id="204" name=""/>
          <p:cNvSpPr txBox="1"/>
          <p:nvPr/>
        </p:nvSpPr>
        <p:spPr>
          <a:xfrm>
            <a:off x="8280000" y="1836000"/>
            <a:ext cx="3348000" cy="657720"/>
          </a:xfrm>
          <a:prstGeom prst="rect">
            <a:avLst/>
          </a:prstGeom>
          <a:noFill/>
          <a:ln w="0">
            <a:noFill/>
          </a:ln>
        </p:spPr>
        <p:txBody>
          <a:bodyPr lIns="43200" rIns="43200" tIns="36000" bIns="36000" anchor="t">
            <a:noAutofit/>
          </a:bodyPr>
          <a:p>
            <a:pPr algn="r"/>
            <a:r>
              <a:rPr b="0" lang="en-US" sz="1600" spc="-1" strike="noStrike">
                <a:solidFill>
                  <a:srgbClr val="222222"/>
                </a:solidFill>
                <a:latin typeface="Noto Sans CJK TC"/>
              </a:rPr>
              <a:t>OPEN </a:t>
            </a:r>
            <a:r>
              <a:rPr b="0" lang="zh-CN" sz="1600" spc="-1" strike="noStrike">
                <a:solidFill>
                  <a:srgbClr val="222222"/>
                </a:solidFill>
                <a:latin typeface="Noto Sans CJK TC"/>
              </a:rPr>
              <a:t>實測最大門角</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參考 </a:t>
            </a:r>
            <a:r>
              <a:rPr b="0" lang="en-US" sz="1600" spc="-1" strike="noStrike">
                <a:solidFill>
                  <a:srgbClr val="222222"/>
                </a:solidFill>
                <a:latin typeface="Noto Sans CJK TC"/>
              </a:rPr>
              <a:t>48°</a:t>
            </a:r>
            <a:endParaRPr b="0" lang="en-US" sz="1600" spc="-1" strike="noStrike">
              <a:solidFill>
                <a:srgbClr val="222222"/>
              </a:solidFill>
              <a:latin typeface="Noto Sans CJK TC"/>
              <a:ea typeface="Noto Sans CJK TC"/>
            </a:endParaRPr>
          </a:p>
        </p:txBody>
      </p:sp>
      <p:sp>
        <p:nvSpPr>
          <p:cNvPr id="205" name=""/>
          <p:cNvSpPr txBox="1"/>
          <p:nvPr/>
        </p:nvSpPr>
        <p:spPr>
          <a:xfrm>
            <a:off x="8280000" y="2952000"/>
            <a:ext cx="3348000" cy="662040"/>
          </a:xfrm>
          <a:prstGeom prst="rect">
            <a:avLst/>
          </a:prstGeom>
          <a:noFill/>
          <a:ln w="0">
            <a:noFill/>
          </a:ln>
        </p:spPr>
        <p:txBody>
          <a:bodyPr lIns="43200" rIns="43200" tIns="36000" bIns="36000" anchor="t">
            <a:noAutofit/>
          </a:bodyPr>
          <a:p>
            <a:pPr algn="r"/>
            <a:r>
              <a:rPr b="1" lang="en-US" sz="3200" spc="-1" strike="noStrike">
                <a:solidFill>
                  <a:srgbClr val="2f75b5"/>
                </a:solidFill>
                <a:latin typeface="Noto Sans CJK TC"/>
              </a:rPr>
              <a:t>0.176 m</a:t>
            </a:r>
            <a:endParaRPr b="1" lang="en-US" sz="3200" spc="-1" strike="noStrike">
              <a:solidFill>
                <a:srgbClr val="2f75b5"/>
              </a:solidFill>
              <a:latin typeface="Noto Sans CJK TC"/>
              <a:ea typeface="Noto Sans CJK TC"/>
            </a:endParaRPr>
          </a:p>
        </p:txBody>
      </p:sp>
      <p:sp>
        <p:nvSpPr>
          <p:cNvPr id="206" name=""/>
          <p:cNvSpPr txBox="1"/>
          <p:nvPr/>
        </p:nvSpPr>
        <p:spPr>
          <a:xfrm>
            <a:off x="8280000" y="3456000"/>
            <a:ext cx="3348000" cy="65772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出口距離指標下降</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不是已通過門洞的距離</a:t>
            </a:r>
            <a:endParaRPr b="0" lang="en-US" sz="1600" spc="-1" strike="noStrike">
              <a:solidFill>
                <a:srgbClr val="222222"/>
              </a:solidFill>
              <a:latin typeface="Noto Sans CJK TC"/>
              <a:ea typeface="Noto Sans CJK TC"/>
            </a:endParaRPr>
          </a:p>
        </p:txBody>
      </p:sp>
      <p:sp>
        <p:nvSpPr>
          <p:cNvPr id="207" name=""/>
          <p:cNvSpPr txBox="1"/>
          <p:nvPr/>
        </p:nvSpPr>
        <p:spPr>
          <a:xfrm>
            <a:off x="522000" y="5184000"/>
            <a:ext cx="10800000" cy="403200"/>
          </a:xfrm>
          <a:prstGeom prst="rect">
            <a:avLst/>
          </a:prstGeom>
          <a:noFill/>
          <a:ln w="0">
            <a:noFill/>
          </a:ln>
        </p:spPr>
        <p:txBody>
          <a:bodyPr lIns="43200" rIns="43200" tIns="36000" bIns="36000" anchor="t">
            <a:noAutofit/>
          </a:bodyPr>
          <a:p>
            <a:r>
              <a:rPr b="0" lang="zh-CN" sz="1800" spc="-1" strike="noStrike">
                <a:solidFill>
                  <a:srgbClr val="666666"/>
                </a:solidFill>
                <a:latin typeface="Noto Sans CJK TC"/>
              </a:rPr>
              <a:t>指定台架初態＋實際閉爪取證；尚非自主接近或通行。</a:t>
            </a:r>
            <a:endParaRPr b="0" lang="en-US" sz="1800" spc="-1" strike="noStrike">
              <a:solidFill>
                <a:srgbClr val="666666"/>
              </a:solidFill>
              <a:latin typeface="Noto Sans CJK TC"/>
              <a:ea typeface="Noto Sans CJK TC"/>
            </a:endParaRPr>
          </a:p>
        </p:txBody>
      </p:sp>
      <p:sp>
        <p:nvSpPr>
          <p:cNvPr id="208" name=""/>
          <p:cNvSpPr txBox="1"/>
          <p:nvPr/>
        </p:nvSpPr>
        <p:spPr>
          <a:xfrm>
            <a:off x="522000" y="5580000"/>
            <a:ext cx="10800000" cy="331560"/>
          </a:xfrm>
          <a:prstGeom prst="rect">
            <a:avLst/>
          </a:prstGeom>
          <a:noFill/>
          <a:ln w="0">
            <a:noFill/>
          </a:ln>
        </p:spPr>
        <p:txBody>
          <a:bodyPr lIns="43200" rIns="43200" tIns="36000" bIns="36000" anchor="t">
            <a:noAutofit/>
          </a:bodyPr>
          <a:p>
            <a:r>
              <a:rPr b="0" lang="zh-CN" sz="1800" spc="-1" strike="noStrike">
                <a:solidFill>
                  <a:srgbClr val="000000"/>
                </a:solidFill>
                <a:latin typeface="Arial"/>
                <a:hlinkClick r:id="rId2"/>
              </a:rPr>
              <a:t>播放：繞行開門實錄重播（整體判定未通過）</a:t>
            </a:r>
            <a:endParaRPr b="0" lang="en-US" sz="1800" spc="-1" strike="noStrike">
              <a:solidFill>
                <a:srgbClr val="000000"/>
              </a:solidFill>
              <a:latin typeface="Arial"/>
            </a:endParaRPr>
          </a:p>
        </p:txBody>
      </p:sp>
      <p:sp>
        <p:nvSpPr>
          <p:cNvPr id="209" name=""/>
          <p:cNvSpPr/>
          <p:nvPr/>
        </p:nvSpPr>
        <p:spPr>
          <a:xfrm>
            <a:off x="450000" y="5832000"/>
            <a:ext cx="11292120" cy="414000"/>
          </a:xfrm>
          <a:prstGeom prst="rect">
            <a:avLst/>
          </a:prstGeom>
          <a:solidFill>
            <a:srgbClr val="fcf1ed"/>
          </a:solidFill>
          <a:ln w="7200">
            <a:solidFill>
              <a:srgbClr val="fcf1ed"/>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10"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ac3c36"/>
                </a:solidFill>
                <a:latin typeface="Noto Sans CJK TC"/>
              </a:rPr>
              <a:t>未通過保留：</a:t>
            </a:r>
            <a:r>
              <a:rPr b="1" lang="en-US" sz="1600" spc="-1" strike="noStrike">
                <a:solidFill>
                  <a:srgbClr val="ac3c36"/>
                </a:solidFill>
                <a:latin typeface="Noto Sans CJK TC"/>
              </a:rPr>
              <a:t>29 </a:t>
            </a:r>
            <a:r>
              <a:rPr b="1" lang="zh-CN" sz="1600" spc="-1" strike="noStrike">
                <a:solidFill>
                  <a:srgbClr val="ac3c36"/>
                </a:solidFill>
                <a:latin typeface="Noto Sans CJK TC"/>
              </a:rPr>
              <a:t>個低承載物理步、停止十秒窗內 </a:t>
            </a:r>
            <a:r>
              <a:rPr b="1" lang="en-US" sz="1600" spc="-1" strike="noStrike">
                <a:solidFill>
                  <a:srgbClr val="ac3c36"/>
                </a:solidFill>
                <a:latin typeface="Noto Sans CJK TC"/>
              </a:rPr>
              <a:t>2 </a:t>
            </a:r>
            <a:r>
              <a:rPr b="1" lang="zh-CN" sz="1600" spc="-1" strike="noStrike">
                <a:solidFill>
                  <a:srgbClr val="ac3c36"/>
                </a:solidFill>
                <a:latin typeface="Noto Sans CJK TC"/>
              </a:rPr>
              <a:t>個手臂超標樣本。</a:t>
            </a:r>
            <a:endParaRPr b="1" lang="en-US" sz="1600" spc="-1" strike="noStrike">
              <a:solidFill>
                <a:srgbClr val="ac3c36"/>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04 / </a:t>
            </a:r>
            <a:r>
              <a:rPr b="1" lang="zh-CN" sz="1100" spc="-1" strike="noStrike">
                <a:solidFill>
                  <a:srgbClr val="2f75b5"/>
                </a:solidFill>
                <a:latin typeface="Noto Sans CJK TC"/>
              </a:rPr>
              <a:t>從幾何路徑到回授執行</a:t>
            </a:r>
            <a:endParaRPr b="1" lang="en-US" sz="1100" spc="-1" strike="noStrike">
              <a:solidFill>
                <a:srgbClr val="2f75b5"/>
              </a:solidFill>
              <a:latin typeface="Noto Sans CJK TC"/>
              <a:ea typeface="Noto Sans CJK TC"/>
            </a:endParaRPr>
          </a:p>
        </p:txBody>
      </p:sp>
      <p:sp>
        <p:nvSpPr>
          <p:cNvPr id="212"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本期改進二：參考可執行性，不只看 </a:t>
            </a:r>
            <a:r>
              <a:rPr b="1" lang="en-US" sz="2800" spc="-1" strike="noStrike">
                <a:solidFill>
                  <a:srgbClr val="17365d"/>
                </a:solidFill>
                <a:latin typeface="Noto Sans CJK TC"/>
              </a:rPr>
              <a:t>IK </a:t>
            </a:r>
            <a:r>
              <a:rPr b="1" lang="zh-CN" sz="2800" spc="-1" strike="noStrike">
                <a:solidFill>
                  <a:srgbClr val="17365d"/>
                </a:solidFill>
                <a:latin typeface="Noto Sans CJK TC"/>
              </a:rPr>
              <a:t>是否有解</a:t>
            </a:r>
            <a:endParaRPr b="1" lang="en-US" sz="2800" spc="-1" strike="noStrike">
              <a:solidFill>
                <a:srgbClr val="17365d"/>
              </a:solidFill>
              <a:latin typeface="Noto Sans CJK TC"/>
              <a:ea typeface="Noto Sans CJK TC"/>
            </a:endParaRPr>
          </a:p>
        </p:txBody>
      </p:sp>
      <p:sp>
        <p:nvSpPr>
          <p:cNvPr id="213"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214"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215"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11</a:t>
            </a:r>
            <a:endParaRPr b="0" lang="en-US" sz="1100" spc="-1" strike="noStrike">
              <a:solidFill>
                <a:srgbClr val="666666"/>
              </a:solidFill>
              <a:latin typeface="Noto Sans CJK TC"/>
              <a:ea typeface="Noto Sans CJK TC"/>
            </a:endParaRPr>
          </a:p>
        </p:txBody>
      </p:sp>
      <p:sp>
        <p:nvSpPr>
          <p:cNvPr id="216" name=""/>
          <p:cNvSpPr/>
          <p:nvPr/>
        </p:nvSpPr>
        <p:spPr>
          <a:xfrm>
            <a:off x="450000" y="1404000"/>
            <a:ext cx="2880000" cy="1008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217" name=""/>
          <p:cNvSpPr txBox="1"/>
          <p:nvPr/>
        </p:nvSpPr>
        <p:spPr>
          <a:xfrm>
            <a:off x="522000" y="1486800"/>
            <a:ext cx="2736000" cy="864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參考／執行條件</a:t>
            </a:r>
            <a:endParaRPr b="1" lang="en-US" sz="1600" spc="-1" strike="noStrike">
              <a:solidFill>
                <a:srgbClr val="ffffff"/>
              </a:solidFill>
              <a:latin typeface="Noto Sans CJK TC"/>
              <a:ea typeface="Noto Sans CJK TC"/>
            </a:endParaRPr>
          </a:p>
        </p:txBody>
      </p:sp>
      <p:sp>
        <p:nvSpPr>
          <p:cNvPr id="218" name=""/>
          <p:cNvSpPr/>
          <p:nvPr/>
        </p:nvSpPr>
        <p:spPr>
          <a:xfrm>
            <a:off x="3330000" y="1404000"/>
            <a:ext cx="4176000" cy="1008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219" name=""/>
          <p:cNvSpPr txBox="1"/>
          <p:nvPr/>
        </p:nvSpPr>
        <p:spPr>
          <a:xfrm>
            <a:off x="3402000" y="1486800"/>
            <a:ext cx="4032000" cy="864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名目 </a:t>
            </a:r>
            <a:r>
              <a:rPr b="1" lang="en-US" sz="1600" spc="-1" strike="noStrike">
                <a:solidFill>
                  <a:srgbClr val="ffffff"/>
                </a:solidFill>
                <a:latin typeface="Noto Sans CJK TC"/>
              </a:rPr>
              <a:t>W-GMPC </a:t>
            </a:r>
            <a:r>
              <a:rPr b="1" lang="zh-CN" sz="1600" spc="-1" strike="noStrike">
                <a:solidFill>
                  <a:srgbClr val="ffffff"/>
                </a:solidFill>
                <a:latin typeface="Noto Sans CJK TC"/>
              </a:rPr>
              <a:t>結果</a:t>
            </a:r>
            <a:endParaRPr b="1" lang="en-US" sz="1600" spc="-1" strike="noStrike">
              <a:solidFill>
                <a:srgbClr val="ffffff"/>
              </a:solidFill>
              <a:latin typeface="Noto Sans CJK TC"/>
              <a:ea typeface="Noto Sans CJK TC"/>
            </a:endParaRPr>
          </a:p>
        </p:txBody>
      </p:sp>
      <p:sp>
        <p:nvSpPr>
          <p:cNvPr id="220" name=""/>
          <p:cNvSpPr/>
          <p:nvPr/>
        </p:nvSpPr>
        <p:spPr>
          <a:xfrm>
            <a:off x="7506000" y="1404000"/>
            <a:ext cx="4212000" cy="1008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221" name=""/>
          <p:cNvSpPr txBox="1"/>
          <p:nvPr/>
        </p:nvSpPr>
        <p:spPr>
          <a:xfrm>
            <a:off x="7578000" y="1486800"/>
            <a:ext cx="4068000" cy="864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可得到的結論</a:t>
            </a:r>
            <a:endParaRPr b="1" lang="en-US" sz="1600" spc="-1" strike="noStrike">
              <a:solidFill>
                <a:srgbClr val="ffffff"/>
              </a:solidFill>
              <a:latin typeface="Noto Sans CJK TC"/>
              <a:ea typeface="Noto Sans CJK TC"/>
            </a:endParaRPr>
          </a:p>
        </p:txBody>
      </p:sp>
      <p:sp>
        <p:nvSpPr>
          <p:cNvPr id="222" name=""/>
          <p:cNvSpPr/>
          <p:nvPr/>
        </p:nvSpPr>
        <p:spPr>
          <a:xfrm>
            <a:off x="450000" y="2412000"/>
            <a:ext cx="2880000" cy="100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23" name=""/>
          <p:cNvSpPr txBox="1"/>
          <p:nvPr/>
        </p:nvSpPr>
        <p:spPr>
          <a:xfrm>
            <a:off x="522000" y="2494800"/>
            <a:ext cx="2736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自由段速度比例 </a:t>
            </a:r>
            <a:r>
              <a:rPr b="0" lang="en-US" sz="1600" spc="-1" strike="noStrike">
                <a:solidFill>
                  <a:srgbClr val="222222"/>
                </a:solidFill>
                <a:latin typeface="Noto Sans CJK TC"/>
              </a:rPr>
              <a:t>0.995</a:t>
            </a:r>
            <a:endParaRPr b="0" lang="en-US" sz="1600" spc="-1" strike="noStrike">
              <a:solidFill>
                <a:srgbClr val="222222"/>
              </a:solidFill>
              <a:latin typeface="Noto Sans CJK TC"/>
              <a:ea typeface="Noto Sans CJK TC"/>
            </a:endParaRPr>
          </a:p>
        </p:txBody>
      </p:sp>
      <p:sp>
        <p:nvSpPr>
          <p:cNvPr id="224" name=""/>
          <p:cNvSpPr/>
          <p:nvPr/>
        </p:nvSpPr>
        <p:spPr>
          <a:xfrm>
            <a:off x="3330000" y="2412000"/>
            <a:ext cx="4176000" cy="100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25" name=""/>
          <p:cNvSpPr txBox="1"/>
          <p:nvPr/>
        </p:nvSpPr>
        <p:spPr>
          <a:xfrm>
            <a:off x="3402000" y="2494800"/>
            <a:ext cx="4032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退臂 → 移動出現淨空違規</a:t>
            </a:r>
            <a:endParaRPr b="0" lang="en-US" sz="1600" spc="-1" strike="noStrike">
              <a:solidFill>
                <a:srgbClr val="222222"/>
              </a:solidFill>
              <a:latin typeface="Noto Sans CJK TC"/>
              <a:ea typeface="Noto Sans CJK TC"/>
            </a:endParaRPr>
          </a:p>
          <a:p>
            <a:r>
              <a:rPr b="0" lang="en-US" sz="1600" spc="-1" strike="noStrike">
                <a:solidFill>
                  <a:srgbClr val="222222"/>
                </a:solidFill>
                <a:latin typeface="Noto Sans CJK TC"/>
              </a:rPr>
              <a:t>TCP </a:t>
            </a:r>
            <a:r>
              <a:rPr b="0" lang="zh-CN" sz="1600" spc="-1" strike="noStrike">
                <a:solidFill>
                  <a:srgbClr val="222222"/>
                </a:solidFill>
                <a:latin typeface="Noto Sans CJK TC"/>
              </a:rPr>
              <a:t>落後最大約 </a:t>
            </a:r>
            <a:r>
              <a:rPr b="0" lang="en-US" sz="1600" spc="-1" strike="noStrike">
                <a:solidFill>
                  <a:srgbClr val="222222"/>
                </a:solidFill>
                <a:latin typeface="Noto Sans CJK TC"/>
              </a:rPr>
              <a:t>316 mm</a:t>
            </a:r>
            <a:endParaRPr b="0" lang="en-US" sz="1600" spc="-1" strike="noStrike">
              <a:solidFill>
                <a:srgbClr val="222222"/>
              </a:solidFill>
              <a:latin typeface="Noto Sans CJK TC"/>
              <a:ea typeface="Noto Sans CJK TC"/>
            </a:endParaRPr>
          </a:p>
        </p:txBody>
      </p:sp>
      <p:sp>
        <p:nvSpPr>
          <p:cNvPr id="226" name=""/>
          <p:cNvSpPr/>
          <p:nvPr/>
        </p:nvSpPr>
        <p:spPr>
          <a:xfrm>
            <a:off x="7506000" y="2412000"/>
            <a:ext cx="4212000" cy="100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27" name=""/>
          <p:cNvSpPr txBox="1"/>
          <p:nvPr/>
        </p:nvSpPr>
        <p:spPr>
          <a:xfrm>
            <a:off x="7578000" y="2494800"/>
            <a:ext cx="4068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幾何可行，不等於執行可行</a:t>
            </a:r>
            <a:endParaRPr b="0" lang="en-US" sz="1600" spc="-1" strike="noStrike">
              <a:solidFill>
                <a:srgbClr val="222222"/>
              </a:solidFill>
              <a:latin typeface="Noto Sans CJK TC"/>
              <a:ea typeface="Noto Sans CJK TC"/>
            </a:endParaRPr>
          </a:p>
        </p:txBody>
      </p:sp>
      <p:sp>
        <p:nvSpPr>
          <p:cNvPr id="228" name=""/>
          <p:cNvSpPr/>
          <p:nvPr/>
        </p:nvSpPr>
        <p:spPr>
          <a:xfrm>
            <a:off x="450000" y="3420000"/>
            <a:ext cx="2880000" cy="100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29" name=""/>
          <p:cNvSpPr txBox="1"/>
          <p:nvPr/>
        </p:nvSpPr>
        <p:spPr>
          <a:xfrm>
            <a:off x="522000" y="3502800"/>
            <a:ext cx="2736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自由段速度比例 </a:t>
            </a:r>
            <a:r>
              <a:rPr b="0" lang="en-US" sz="1600" spc="-1" strike="noStrike">
                <a:solidFill>
                  <a:srgbClr val="222222"/>
                </a:solidFill>
                <a:latin typeface="Noto Sans CJK TC"/>
              </a:rPr>
              <a:t>0.5</a:t>
            </a:r>
            <a:endParaRPr b="0" lang="en-US" sz="1600" spc="-1" strike="noStrike">
              <a:solidFill>
                <a:srgbClr val="222222"/>
              </a:solidFill>
              <a:latin typeface="Noto Sans CJK TC"/>
              <a:ea typeface="Noto Sans CJK TC"/>
            </a:endParaRPr>
          </a:p>
        </p:txBody>
      </p:sp>
      <p:sp>
        <p:nvSpPr>
          <p:cNvPr id="230" name=""/>
          <p:cNvSpPr/>
          <p:nvPr/>
        </p:nvSpPr>
        <p:spPr>
          <a:xfrm>
            <a:off x="3330000" y="3420000"/>
            <a:ext cx="4176000" cy="100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31" name=""/>
          <p:cNvSpPr txBox="1"/>
          <p:nvPr/>
        </p:nvSpPr>
        <p:spPr>
          <a:xfrm>
            <a:off x="3402000" y="3502800"/>
            <a:ext cx="4032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所列 </a:t>
            </a:r>
            <a:r>
              <a:rPr b="0" lang="en-US" sz="1600" spc="-1" strike="noStrike">
                <a:solidFill>
                  <a:srgbClr val="222222"/>
                </a:solidFill>
                <a:latin typeface="Noto Sans CJK TC"/>
              </a:rPr>
              <a:t>20 Hz </a:t>
            </a:r>
            <a:r>
              <a:rPr b="0" lang="zh-CN" sz="1600" spc="-1" strike="noStrike">
                <a:solidFill>
                  <a:srgbClr val="222222"/>
                </a:solidFill>
                <a:latin typeface="Noto Sans CJK TC"/>
              </a:rPr>
              <a:t>取樣自檢 </a:t>
            </a:r>
            <a:r>
              <a:rPr b="0" lang="en-US" sz="1600" spc="-1" strike="noStrike">
                <a:solidFill>
                  <a:srgbClr val="222222"/>
                </a:solidFill>
                <a:latin typeface="Noto Sans CJK TC"/>
              </a:rPr>
              <a:t>0 </a:t>
            </a:r>
            <a:r>
              <a:rPr b="0" lang="zh-CN" sz="1600" spc="-1" strike="noStrike">
                <a:solidFill>
                  <a:srgbClr val="222222"/>
                </a:solidFill>
                <a:latin typeface="Noto Sans CJK TC"/>
              </a:rPr>
              <a:t>違規</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自由段仍可落後 </a:t>
            </a:r>
            <a:r>
              <a:rPr b="0" lang="en-US" sz="1600" spc="-1" strike="noStrike">
                <a:solidFill>
                  <a:srgbClr val="222222"/>
                </a:solidFill>
                <a:latin typeface="Noto Sans CJK TC"/>
              </a:rPr>
              <a:t>120 mm</a:t>
            </a:r>
            <a:endParaRPr b="0" lang="en-US" sz="1600" spc="-1" strike="noStrike">
              <a:solidFill>
                <a:srgbClr val="222222"/>
              </a:solidFill>
              <a:latin typeface="Noto Sans CJK TC"/>
              <a:ea typeface="Noto Sans CJK TC"/>
            </a:endParaRPr>
          </a:p>
        </p:txBody>
      </p:sp>
      <p:sp>
        <p:nvSpPr>
          <p:cNvPr id="232" name=""/>
          <p:cNvSpPr/>
          <p:nvPr/>
        </p:nvSpPr>
        <p:spPr>
          <a:xfrm>
            <a:off x="7506000" y="3420000"/>
            <a:ext cx="4212000" cy="100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33" name=""/>
          <p:cNvSpPr txBox="1"/>
          <p:nvPr/>
        </p:nvSpPr>
        <p:spPr>
          <a:xfrm>
            <a:off x="7578000" y="3502800"/>
            <a:ext cx="4068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保留控制餘裕後，找到可執行名目序列</a:t>
            </a:r>
            <a:endParaRPr b="0" lang="en-US" sz="1600" spc="-1" strike="noStrike">
              <a:solidFill>
                <a:srgbClr val="222222"/>
              </a:solidFill>
              <a:latin typeface="Noto Sans CJK TC"/>
              <a:ea typeface="Noto Sans CJK TC"/>
            </a:endParaRPr>
          </a:p>
        </p:txBody>
      </p:sp>
      <p:sp>
        <p:nvSpPr>
          <p:cNvPr id="234" name=""/>
          <p:cNvSpPr/>
          <p:nvPr/>
        </p:nvSpPr>
        <p:spPr>
          <a:xfrm>
            <a:off x="450000" y="4428000"/>
            <a:ext cx="2880000" cy="100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35" name=""/>
          <p:cNvSpPr txBox="1"/>
          <p:nvPr/>
        </p:nvSpPr>
        <p:spPr>
          <a:xfrm>
            <a:off x="522000" y="4510800"/>
            <a:ext cx="2736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後續換抓參考</a:t>
            </a:r>
            <a:endParaRPr b="0" lang="en-US" sz="1600" spc="-1" strike="noStrike">
              <a:solidFill>
                <a:srgbClr val="222222"/>
              </a:solidFill>
              <a:latin typeface="Noto Sans CJK TC"/>
              <a:ea typeface="Noto Sans CJK TC"/>
            </a:endParaRPr>
          </a:p>
        </p:txBody>
      </p:sp>
      <p:sp>
        <p:nvSpPr>
          <p:cNvPr id="236" name=""/>
          <p:cNvSpPr/>
          <p:nvPr/>
        </p:nvSpPr>
        <p:spPr>
          <a:xfrm>
            <a:off x="3330000" y="4428000"/>
            <a:ext cx="4176000" cy="100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37" name=""/>
          <p:cNvSpPr txBox="1"/>
          <p:nvPr/>
        </p:nvSpPr>
        <p:spPr>
          <a:xfrm>
            <a:off x="3402000" y="4510800"/>
            <a:ext cx="4032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把預測淨空扣減納入規劃／時間化</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模式切換與准入使用實測證據</a:t>
            </a:r>
            <a:endParaRPr b="0" lang="en-US" sz="1600" spc="-1" strike="noStrike">
              <a:solidFill>
                <a:srgbClr val="222222"/>
              </a:solidFill>
              <a:latin typeface="Noto Sans CJK TC"/>
              <a:ea typeface="Noto Sans CJK TC"/>
            </a:endParaRPr>
          </a:p>
        </p:txBody>
      </p:sp>
      <p:sp>
        <p:nvSpPr>
          <p:cNvPr id="238" name=""/>
          <p:cNvSpPr/>
          <p:nvPr/>
        </p:nvSpPr>
        <p:spPr>
          <a:xfrm>
            <a:off x="7506000" y="4428000"/>
            <a:ext cx="4212000" cy="100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39" name=""/>
          <p:cNvSpPr txBox="1"/>
          <p:nvPr/>
        </p:nvSpPr>
        <p:spPr>
          <a:xfrm>
            <a:off x="7578000" y="4510800"/>
            <a:ext cx="4068000" cy="86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讓規劃、監看與提交條件一致</a:t>
            </a:r>
            <a:endParaRPr b="0" lang="en-US" sz="1600" spc="-1" strike="noStrike">
              <a:solidFill>
                <a:srgbClr val="222222"/>
              </a:solidFill>
              <a:latin typeface="Noto Sans CJK TC"/>
              <a:ea typeface="Noto Sans CJK TC"/>
            </a:endParaRPr>
          </a:p>
        </p:txBody>
      </p:sp>
      <p:sp>
        <p:nvSpPr>
          <p:cNvPr id="240"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41"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ed7d31"/>
                </a:solidFill>
                <a:latin typeface="Noto Sans CJK TC"/>
              </a:rPr>
              <a:t>改善對象是本平台參考／執行配置；不是新規劃理論，也不是已證明物理換抓穩定。</a:t>
            </a:r>
            <a:endParaRPr b="1" lang="en-US" sz="1600" spc="-1" strike="noStrike">
              <a:solidFill>
                <a:srgbClr val="ed7d31"/>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04 / </a:t>
            </a:r>
            <a:r>
              <a:rPr b="1" lang="zh-CN" sz="1100" spc="-1" strike="noStrike">
                <a:solidFill>
                  <a:srgbClr val="2f75b5"/>
                </a:solidFill>
                <a:latin typeface="Noto Sans CJK TC"/>
              </a:rPr>
              <a:t>通過中拉關的名目閉迴路</a:t>
            </a:r>
            <a:endParaRPr b="1" lang="en-US" sz="1100" spc="-1" strike="noStrike">
              <a:solidFill>
                <a:srgbClr val="2f75b5"/>
              </a:solidFill>
              <a:latin typeface="Noto Sans CJK TC"/>
              <a:ea typeface="Noto Sans CJK TC"/>
            </a:endParaRPr>
          </a:p>
        </p:txBody>
      </p:sp>
      <p:sp>
        <p:nvSpPr>
          <p:cNvPr id="243"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離線能力：底盤通過途中，模型門角已明顯減少</a:t>
            </a:r>
            <a:endParaRPr b="1" lang="en-US" sz="2800" spc="-1" strike="noStrike">
              <a:solidFill>
                <a:srgbClr val="17365d"/>
              </a:solidFill>
              <a:latin typeface="Noto Sans CJK TC"/>
              <a:ea typeface="Noto Sans CJK TC"/>
            </a:endParaRPr>
          </a:p>
        </p:txBody>
      </p:sp>
      <p:sp>
        <p:nvSpPr>
          <p:cNvPr id="244"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245"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246"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12</a:t>
            </a:r>
            <a:endParaRPr b="0" lang="en-US" sz="1100" spc="-1" strike="noStrike">
              <a:solidFill>
                <a:srgbClr val="666666"/>
              </a:solidFill>
              <a:latin typeface="Noto Sans CJK TC"/>
              <a:ea typeface="Noto Sans CJK TC"/>
            </a:endParaRPr>
          </a:p>
        </p:txBody>
      </p:sp>
      <p:pic>
        <p:nvPicPr>
          <p:cNvPr id="247" name="" descr=""/>
          <p:cNvPicPr/>
          <p:nvPr/>
        </p:nvPicPr>
        <p:blipFill>
          <a:blip r:embed="rId1"/>
          <a:stretch/>
        </p:blipFill>
        <p:spPr>
          <a:xfrm>
            <a:off x="450000" y="1628280"/>
            <a:ext cx="7560000" cy="2934720"/>
          </a:xfrm>
          <a:prstGeom prst="rect">
            <a:avLst/>
          </a:prstGeom>
          <a:ln w="0">
            <a:noFill/>
          </a:ln>
        </p:spPr>
      </p:pic>
      <p:sp>
        <p:nvSpPr>
          <p:cNvPr id="248" name=""/>
          <p:cNvSpPr txBox="1"/>
          <p:nvPr/>
        </p:nvSpPr>
        <p:spPr>
          <a:xfrm>
            <a:off x="8136000" y="1332000"/>
            <a:ext cx="3600000" cy="662040"/>
          </a:xfrm>
          <a:prstGeom prst="rect">
            <a:avLst/>
          </a:prstGeom>
          <a:noFill/>
          <a:ln w="0">
            <a:noFill/>
          </a:ln>
        </p:spPr>
        <p:txBody>
          <a:bodyPr lIns="43200" rIns="43200" tIns="36000" bIns="36000" anchor="t">
            <a:noAutofit/>
          </a:bodyPr>
          <a:p>
            <a:pPr algn="r"/>
            <a:r>
              <a:rPr b="1" lang="en-US" sz="3200" spc="-1" strike="noStrike">
                <a:solidFill>
                  <a:srgbClr val="2f75b5"/>
                </a:solidFill>
                <a:latin typeface="Noto Sans CJK TC"/>
              </a:rPr>
              <a:t>47.89° → 2.20°</a:t>
            </a:r>
            <a:endParaRPr b="1" lang="en-US" sz="3200" spc="-1" strike="noStrike">
              <a:solidFill>
                <a:srgbClr val="2f75b5"/>
              </a:solidFill>
              <a:latin typeface="Noto Sans CJK TC"/>
              <a:ea typeface="Noto Sans CJK TC"/>
            </a:endParaRPr>
          </a:p>
        </p:txBody>
      </p:sp>
      <p:sp>
        <p:nvSpPr>
          <p:cNvPr id="249" name=""/>
          <p:cNvSpPr txBox="1"/>
          <p:nvPr/>
        </p:nvSpPr>
        <p:spPr>
          <a:xfrm>
            <a:off x="8136000" y="1836000"/>
            <a:ext cx="3600000" cy="65772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模型推得門角</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非門關節實測</a:t>
            </a:r>
            <a:endParaRPr b="0" lang="en-US" sz="1600" spc="-1" strike="noStrike">
              <a:solidFill>
                <a:srgbClr val="222222"/>
              </a:solidFill>
              <a:latin typeface="Noto Sans CJK TC"/>
              <a:ea typeface="Noto Sans CJK TC"/>
            </a:endParaRPr>
          </a:p>
        </p:txBody>
      </p:sp>
      <p:sp>
        <p:nvSpPr>
          <p:cNvPr id="250" name=""/>
          <p:cNvSpPr txBox="1"/>
          <p:nvPr/>
        </p:nvSpPr>
        <p:spPr>
          <a:xfrm>
            <a:off x="8136000" y="3024000"/>
            <a:ext cx="3600000" cy="662040"/>
          </a:xfrm>
          <a:prstGeom prst="rect">
            <a:avLst/>
          </a:prstGeom>
          <a:noFill/>
          <a:ln w="0">
            <a:noFill/>
          </a:ln>
        </p:spPr>
        <p:txBody>
          <a:bodyPr lIns="43200" rIns="43200" tIns="36000" bIns="36000" anchor="t">
            <a:noAutofit/>
          </a:bodyPr>
          <a:p>
            <a:pPr algn="r"/>
            <a:r>
              <a:rPr b="1" lang="en-US" sz="3200" spc="-1" strike="noStrike">
                <a:solidFill>
                  <a:srgbClr val="2f75b5"/>
                </a:solidFill>
                <a:latin typeface="Noto Sans CJK TC"/>
              </a:rPr>
              <a:t>45.7°</a:t>
            </a:r>
            <a:endParaRPr b="1" lang="en-US" sz="3200" spc="-1" strike="noStrike">
              <a:solidFill>
                <a:srgbClr val="2f75b5"/>
              </a:solidFill>
              <a:latin typeface="Noto Sans CJK TC"/>
              <a:ea typeface="Noto Sans CJK TC"/>
            </a:endParaRPr>
          </a:p>
        </p:txBody>
      </p:sp>
      <p:sp>
        <p:nvSpPr>
          <p:cNvPr id="251" name=""/>
          <p:cNvSpPr txBox="1"/>
          <p:nvPr/>
        </p:nvSpPr>
        <p:spPr>
          <a:xfrm>
            <a:off x="8136000" y="3528000"/>
            <a:ext cx="3600000" cy="65772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底盤圓盤清空前</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已發生的關門進展</a:t>
            </a:r>
            <a:endParaRPr b="0" lang="en-US" sz="1600" spc="-1" strike="noStrike">
              <a:solidFill>
                <a:srgbClr val="222222"/>
              </a:solidFill>
              <a:latin typeface="Noto Sans CJK TC"/>
              <a:ea typeface="Noto Sans CJK TC"/>
            </a:endParaRPr>
          </a:p>
        </p:txBody>
      </p:sp>
      <p:sp>
        <p:nvSpPr>
          <p:cNvPr id="252" name=""/>
          <p:cNvSpPr txBox="1"/>
          <p:nvPr/>
        </p:nvSpPr>
        <p:spPr>
          <a:xfrm>
            <a:off x="522000" y="5148000"/>
            <a:ext cx="10800000" cy="486000"/>
          </a:xfrm>
          <a:prstGeom prst="rect">
            <a:avLst/>
          </a:prstGeom>
          <a:noFill/>
          <a:ln w="0">
            <a:noFill/>
          </a:ln>
        </p:spPr>
        <p:txBody>
          <a:bodyPr lIns="43200" rIns="43200" tIns="36000" bIns="36000" anchor="t">
            <a:noAutofit/>
          </a:bodyPr>
          <a:p>
            <a:r>
              <a:rPr b="1" lang="zh-CN" sz="1900" spc="-1" strike="noStrike">
                <a:solidFill>
                  <a:srgbClr val="2f75b5"/>
                </a:solidFill>
                <a:latin typeface="Noto Sans CJK TC"/>
              </a:rPr>
              <a:t>已取得：可追蹤的名目序列。待取得：同趟換抓、通行與關門的接觸實證。</a:t>
            </a:r>
            <a:endParaRPr b="1" lang="en-US" sz="1900" spc="-1" strike="noStrike">
              <a:solidFill>
                <a:srgbClr val="2f75b5"/>
              </a:solidFill>
              <a:latin typeface="Noto Sans CJK TC"/>
              <a:ea typeface="Noto Sans CJK TC"/>
            </a:endParaRPr>
          </a:p>
        </p:txBody>
      </p:sp>
      <p:sp>
        <p:nvSpPr>
          <p:cNvPr id="253"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54"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ed7d31"/>
                </a:solidFill>
                <a:latin typeface="Noto Sans CJK TC"/>
              </a:rPr>
              <a:t>此圖為舊版完整拉關模型；新換抓模型只到內側保持，兩者不併成一個通過結果。</a:t>
            </a:r>
            <a:endParaRPr b="1" lang="en-US" sz="1600" spc="-1" strike="noStrike">
              <a:solidFill>
                <a:srgbClr val="ed7d31"/>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05 / </a:t>
            </a:r>
            <a:r>
              <a:rPr b="1" lang="zh-CN" sz="1100" spc="-1" strike="noStrike">
                <a:solidFill>
                  <a:srgbClr val="2f75b5"/>
                </a:solidFill>
                <a:latin typeface="Noto Sans CJK TC"/>
              </a:rPr>
              <a:t>貢獻主張與證據</a:t>
            </a:r>
            <a:endParaRPr b="1" lang="en-US" sz="1100" spc="-1" strike="noStrike">
              <a:solidFill>
                <a:srgbClr val="2f75b5"/>
              </a:solidFill>
              <a:latin typeface="Noto Sans CJK TC"/>
              <a:ea typeface="Noto Sans CJK TC"/>
            </a:endParaRPr>
          </a:p>
        </p:txBody>
      </p:sp>
      <p:sp>
        <p:nvSpPr>
          <p:cNvPr id="256"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改善了什麼？用本平台基線與數字回答</a:t>
            </a:r>
            <a:endParaRPr b="1" lang="en-US" sz="2800" spc="-1" strike="noStrike">
              <a:solidFill>
                <a:srgbClr val="17365d"/>
              </a:solidFill>
              <a:latin typeface="Noto Sans CJK TC"/>
              <a:ea typeface="Noto Sans CJK TC"/>
            </a:endParaRPr>
          </a:p>
        </p:txBody>
      </p:sp>
      <p:sp>
        <p:nvSpPr>
          <p:cNvPr id="257"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258"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259"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13</a:t>
            </a:r>
            <a:endParaRPr b="0" lang="en-US" sz="1100" spc="-1" strike="noStrike">
              <a:solidFill>
                <a:srgbClr val="666666"/>
              </a:solidFill>
              <a:latin typeface="Noto Sans CJK TC"/>
              <a:ea typeface="Noto Sans CJK TC"/>
            </a:endParaRPr>
          </a:p>
        </p:txBody>
      </p:sp>
      <p:sp>
        <p:nvSpPr>
          <p:cNvPr id="260" name=""/>
          <p:cNvSpPr/>
          <p:nvPr/>
        </p:nvSpPr>
        <p:spPr>
          <a:xfrm>
            <a:off x="450000" y="1404000"/>
            <a:ext cx="3060000" cy="828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261" name=""/>
          <p:cNvSpPr txBox="1"/>
          <p:nvPr/>
        </p:nvSpPr>
        <p:spPr>
          <a:xfrm>
            <a:off x="522000" y="1486800"/>
            <a:ext cx="2916000" cy="684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改善對象</a:t>
            </a:r>
            <a:endParaRPr b="1" lang="en-US" sz="1600" spc="-1" strike="noStrike">
              <a:solidFill>
                <a:srgbClr val="ffffff"/>
              </a:solidFill>
              <a:latin typeface="Noto Sans CJK TC"/>
              <a:ea typeface="Noto Sans CJK TC"/>
            </a:endParaRPr>
          </a:p>
        </p:txBody>
      </p:sp>
      <p:sp>
        <p:nvSpPr>
          <p:cNvPr id="262" name=""/>
          <p:cNvSpPr/>
          <p:nvPr/>
        </p:nvSpPr>
        <p:spPr>
          <a:xfrm>
            <a:off x="3510000" y="1404000"/>
            <a:ext cx="4860000" cy="828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263" name=""/>
          <p:cNvSpPr txBox="1"/>
          <p:nvPr/>
        </p:nvSpPr>
        <p:spPr>
          <a:xfrm>
            <a:off x="3582000" y="1486800"/>
            <a:ext cx="4716000" cy="684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本平台對照結果</a:t>
            </a:r>
            <a:endParaRPr b="1" lang="en-US" sz="1600" spc="-1" strike="noStrike">
              <a:solidFill>
                <a:srgbClr val="ffffff"/>
              </a:solidFill>
              <a:latin typeface="Noto Sans CJK TC"/>
              <a:ea typeface="Noto Sans CJK TC"/>
            </a:endParaRPr>
          </a:p>
        </p:txBody>
      </p:sp>
      <p:sp>
        <p:nvSpPr>
          <p:cNvPr id="264" name=""/>
          <p:cNvSpPr/>
          <p:nvPr/>
        </p:nvSpPr>
        <p:spPr>
          <a:xfrm>
            <a:off x="8370000" y="1404000"/>
            <a:ext cx="3348000" cy="828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265" name=""/>
          <p:cNvSpPr txBox="1"/>
          <p:nvPr/>
        </p:nvSpPr>
        <p:spPr>
          <a:xfrm>
            <a:off x="8442000" y="1486800"/>
            <a:ext cx="3204000" cy="684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證據層級</a:t>
            </a:r>
            <a:endParaRPr b="1" lang="en-US" sz="1600" spc="-1" strike="noStrike">
              <a:solidFill>
                <a:srgbClr val="ffffff"/>
              </a:solidFill>
              <a:latin typeface="Noto Sans CJK TC"/>
              <a:ea typeface="Noto Sans CJK TC"/>
            </a:endParaRPr>
          </a:p>
        </p:txBody>
      </p:sp>
      <p:sp>
        <p:nvSpPr>
          <p:cNvPr id="266" name=""/>
          <p:cNvSpPr/>
          <p:nvPr/>
        </p:nvSpPr>
        <p:spPr>
          <a:xfrm>
            <a:off x="450000" y="2232000"/>
            <a:ext cx="3060000" cy="82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67" name=""/>
          <p:cNvSpPr txBox="1"/>
          <p:nvPr/>
        </p:nvSpPr>
        <p:spPr>
          <a:xfrm>
            <a:off x="522000" y="2314800"/>
            <a:ext cx="2916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完整抽屜策略時間（前期）</a:t>
            </a:r>
            <a:endParaRPr b="0" lang="en-US" sz="1600" spc="-1" strike="noStrike">
              <a:solidFill>
                <a:srgbClr val="222222"/>
              </a:solidFill>
              <a:latin typeface="Noto Sans CJK TC"/>
              <a:ea typeface="Noto Sans CJK TC"/>
            </a:endParaRPr>
          </a:p>
        </p:txBody>
      </p:sp>
      <p:sp>
        <p:nvSpPr>
          <p:cNvPr id="268" name=""/>
          <p:cNvSpPr/>
          <p:nvPr/>
        </p:nvSpPr>
        <p:spPr>
          <a:xfrm>
            <a:off x="3510000" y="2232000"/>
            <a:ext cx="4860000" cy="82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69" name=""/>
          <p:cNvSpPr txBox="1"/>
          <p:nvPr/>
        </p:nvSpPr>
        <p:spPr>
          <a:xfrm>
            <a:off x="3582000" y="2314800"/>
            <a:ext cx="4716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平均 </a:t>
            </a:r>
            <a:r>
              <a:rPr b="0" lang="en-US" sz="1600" spc="-1" strike="noStrike">
                <a:solidFill>
                  <a:srgbClr val="222222"/>
                </a:solidFill>
                <a:latin typeface="Noto Sans CJK TC"/>
              </a:rPr>
              <a:t>93.62 → 80.72 s</a:t>
            </a:r>
            <a:endParaRPr b="0" lang="en-US" sz="1600" spc="-1" strike="noStrike">
              <a:solidFill>
                <a:srgbClr val="222222"/>
              </a:solidFill>
              <a:latin typeface="Noto Sans CJK TC"/>
              <a:ea typeface="Noto Sans CJK TC"/>
            </a:endParaRPr>
          </a:p>
        </p:txBody>
      </p:sp>
      <p:sp>
        <p:nvSpPr>
          <p:cNvPr id="270" name=""/>
          <p:cNvSpPr/>
          <p:nvPr/>
        </p:nvSpPr>
        <p:spPr>
          <a:xfrm>
            <a:off x="8370000" y="2232000"/>
            <a:ext cx="3348000" cy="82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71" name=""/>
          <p:cNvSpPr txBox="1"/>
          <p:nvPr/>
        </p:nvSpPr>
        <p:spPr>
          <a:xfrm>
            <a:off x="8442000" y="2314800"/>
            <a:ext cx="3204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三對完整策略；非單一因素</a:t>
            </a:r>
            <a:endParaRPr b="0" lang="en-US" sz="1600" spc="-1" strike="noStrike">
              <a:solidFill>
                <a:srgbClr val="222222"/>
              </a:solidFill>
              <a:latin typeface="Noto Sans CJK TC"/>
              <a:ea typeface="Noto Sans CJK TC"/>
            </a:endParaRPr>
          </a:p>
        </p:txBody>
      </p:sp>
      <p:sp>
        <p:nvSpPr>
          <p:cNvPr id="272" name=""/>
          <p:cNvSpPr/>
          <p:nvPr/>
        </p:nvSpPr>
        <p:spPr>
          <a:xfrm>
            <a:off x="450000" y="3060000"/>
            <a:ext cx="3060000" cy="82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73" name=""/>
          <p:cNvSpPr txBox="1"/>
          <p:nvPr/>
        </p:nvSpPr>
        <p:spPr>
          <a:xfrm>
            <a:off x="522000" y="3142800"/>
            <a:ext cx="2916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預測設定與運動品質（前期）</a:t>
            </a:r>
            <a:endParaRPr b="0" lang="en-US" sz="1600" spc="-1" strike="noStrike">
              <a:solidFill>
                <a:srgbClr val="222222"/>
              </a:solidFill>
              <a:latin typeface="Noto Sans CJK TC"/>
              <a:ea typeface="Noto Sans CJK TC"/>
            </a:endParaRPr>
          </a:p>
        </p:txBody>
      </p:sp>
      <p:sp>
        <p:nvSpPr>
          <p:cNvPr id="274" name=""/>
          <p:cNvSpPr/>
          <p:nvPr/>
        </p:nvSpPr>
        <p:spPr>
          <a:xfrm>
            <a:off x="3510000" y="3060000"/>
            <a:ext cx="4860000" cy="82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75" name=""/>
          <p:cNvSpPr txBox="1"/>
          <p:nvPr/>
        </p:nvSpPr>
        <p:spPr>
          <a:xfrm>
            <a:off x="3582000" y="3142800"/>
            <a:ext cx="4716000" cy="684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TCP p95</a:t>
            </a:r>
            <a:r>
              <a:rPr b="0" lang="zh-CN" sz="1600" spc="-1" strike="noStrike">
                <a:solidFill>
                  <a:srgbClr val="222222"/>
                </a:solidFill>
                <a:latin typeface="Noto Sans CJK TC"/>
              </a:rPr>
              <a:t>：</a:t>
            </a:r>
            <a:r>
              <a:rPr b="0" lang="en-US" sz="1600" spc="-1" strike="noStrike">
                <a:solidFill>
                  <a:srgbClr val="222222"/>
                </a:solidFill>
                <a:latin typeface="Noto Sans CJK TC"/>
              </a:rPr>
              <a:t>10.78–16.64 → 7.27–9.75 mm</a:t>
            </a:r>
            <a:endParaRPr b="0" lang="en-US" sz="1600" spc="-1" strike="noStrike">
              <a:solidFill>
                <a:srgbClr val="222222"/>
              </a:solidFill>
              <a:latin typeface="Noto Sans CJK TC"/>
              <a:ea typeface="Noto Sans CJK TC"/>
            </a:endParaRPr>
          </a:p>
          <a:p>
            <a:r>
              <a:rPr b="0" lang="zh-CN" sz="1600" spc="-1" strike="noStrike">
                <a:solidFill>
                  <a:srgbClr val="222222"/>
                </a:solidFill>
                <a:latin typeface="Noto Sans CJK TC"/>
              </a:rPr>
              <a:t>反轉率：</a:t>
            </a:r>
            <a:r>
              <a:rPr b="0" lang="en-US" sz="1600" spc="-1" strike="noStrike">
                <a:solidFill>
                  <a:srgbClr val="222222"/>
                </a:solidFill>
                <a:latin typeface="Noto Sans CJK TC"/>
              </a:rPr>
              <a:t>26.01–28.42 → 1.12–2.33 </a:t>
            </a:r>
            <a:r>
              <a:rPr b="0" lang="zh-CN" sz="1600" spc="-1" strike="noStrike">
                <a:solidFill>
                  <a:srgbClr val="222222"/>
                </a:solidFill>
                <a:latin typeface="Noto Sans CJK TC"/>
              </a:rPr>
              <a:t>次</a:t>
            </a:r>
            <a:r>
              <a:rPr b="0" lang="en-US" sz="1600" spc="-1" strike="noStrike">
                <a:solidFill>
                  <a:srgbClr val="222222"/>
                </a:solidFill>
                <a:latin typeface="Noto Sans CJK TC"/>
              </a:rPr>
              <a:t>/s</a:t>
            </a:r>
            <a:endParaRPr b="0" lang="en-US" sz="1600" spc="-1" strike="noStrike">
              <a:solidFill>
                <a:srgbClr val="222222"/>
              </a:solidFill>
              <a:latin typeface="Noto Sans CJK TC"/>
              <a:ea typeface="Noto Sans CJK TC"/>
            </a:endParaRPr>
          </a:p>
        </p:txBody>
      </p:sp>
      <p:sp>
        <p:nvSpPr>
          <p:cNvPr id="276" name=""/>
          <p:cNvSpPr/>
          <p:nvPr/>
        </p:nvSpPr>
        <p:spPr>
          <a:xfrm>
            <a:off x="8370000" y="3060000"/>
            <a:ext cx="3348000" cy="82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77" name=""/>
          <p:cNvSpPr txBox="1"/>
          <p:nvPr/>
        </p:nvSpPr>
        <p:spPr>
          <a:xfrm>
            <a:off x="8442000" y="3142800"/>
            <a:ext cx="3204000" cy="684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N=1</a:t>
            </a:r>
            <a:r>
              <a:rPr b="0" lang="zh-CN" sz="1600" spc="-1" strike="noStrike">
                <a:solidFill>
                  <a:srgbClr val="222222"/>
                </a:solidFill>
                <a:latin typeface="Noto Sans CJK TC"/>
              </a:rPr>
              <a:t>／</a:t>
            </a:r>
            <a:r>
              <a:rPr b="0" lang="en-US" sz="1600" spc="-1" strike="noStrike">
                <a:solidFill>
                  <a:srgbClr val="222222"/>
                </a:solidFill>
                <a:latin typeface="Noto Sans CJK TC"/>
              </a:rPr>
              <a:t>N=5 </a:t>
            </a:r>
            <a:r>
              <a:rPr b="0" lang="zh-CN" sz="1600" spc="-1" strike="noStrike">
                <a:solidFill>
                  <a:srgbClr val="222222"/>
                </a:solidFill>
                <a:latin typeface="Noto Sans CJK TC"/>
              </a:rPr>
              <a:t>三對；成本累加有差異</a:t>
            </a:r>
            <a:endParaRPr b="0" lang="en-US" sz="1600" spc="-1" strike="noStrike">
              <a:solidFill>
                <a:srgbClr val="222222"/>
              </a:solidFill>
              <a:latin typeface="Noto Sans CJK TC"/>
              <a:ea typeface="Noto Sans CJK TC"/>
            </a:endParaRPr>
          </a:p>
        </p:txBody>
      </p:sp>
      <p:sp>
        <p:nvSpPr>
          <p:cNvPr id="278" name=""/>
          <p:cNvSpPr/>
          <p:nvPr/>
        </p:nvSpPr>
        <p:spPr>
          <a:xfrm>
            <a:off x="450000" y="3888000"/>
            <a:ext cx="3060000" cy="82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79" name=""/>
          <p:cNvSpPr txBox="1"/>
          <p:nvPr/>
        </p:nvSpPr>
        <p:spPr>
          <a:xfrm>
            <a:off x="522000" y="3970800"/>
            <a:ext cx="2916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模型預測一致性（本期）</a:t>
            </a:r>
            <a:endParaRPr b="0" lang="en-US" sz="1600" spc="-1" strike="noStrike">
              <a:solidFill>
                <a:srgbClr val="222222"/>
              </a:solidFill>
              <a:latin typeface="Noto Sans CJK TC"/>
              <a:ea typeface="Noto Sans CJK TC"/>
            </a:endParaRPr>
          </a:p>
        </p:txBody>
      </p:sp>
      <p:sp>
        <p:nvSpPr>
          <p:cNvPr id="280" name=""/>
          <p:cNvSpPr/>
          <p:nvPr/>
        </p:nvSpPr>
        <p:spPr>
          <a:xfrm>
            <a:off x="3510000" y="3888000"/>
            <a:ext cx="4860000" cy="82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81" name=""/>
          <p:cNvSpPr txBox="1"/>
          <p:nvPr/>
        </p:nvSpPr>
        <p:spPr>
          <a:xfrm>
            <a:off x="3582000" y="3970800"/>
            <a:ext cx="4716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一區間鉛直殘差 </a:t>
            </a:r>
            <a:r>
              <a:rPr b="0" lang="en-US" sz="1600" spc="-1" strike="noStrike">
                <a:solidFill>
                  <a:srgbClr val="222222"/>
                </a:solidFill>
                <a:latin typeface="Noto Sans CJK TC"/>
              </a:rPr>
              <a:t>RMS</a:t>
            </a:r>
            <a:endParaRPr b="0" lang="en-US" sz="1600" spc="-1" strike="noStrike">
              <a:solidFill>
                <a:srgbClr val="222222"/>
              </a:solidFill>
              <a:latin typeface="Noto Sans CJK TC"/>
              <a:ea typeface="Noto Sans CJK TC"/>
            </a:endParaRPr>
          </a:p>
          <a:p>
            <a:r>
              <a:rPr b="0" lang="en-US" sz="1600" spc="-1" strike="noStrike">
                <a:solidFill>
                  <a:srgbClr val="222222"/>
                </a:solidFill>
                <a:latin typeface="Noto Sans CJK TC"/>
              </a:rPr>
              <a:t>0.776 → 0.045 mm</a:t>
            </a:r>
            <a:endParaRPr b="0" lang="en-US" sz="1600" spc="-1" strike="noStrike">
              <a:solidFill>
                <a:srgbClr val="222222"/>
              </a:solidFill>
              <a:latin typeface="Noto Sans CJK TC"/>
              <a:ea typeface="Noto Sans CJK TC"/>
            </a:endParaRPr>
          </a:p>
        </p:txBody>
      </p:sp>
      <p:sp>
        <p:nvSpPr>
          <p:cNvPr id="282" name=""/>
          <p:cNvSpPr/>
          <p:nvPr/>
        </p:nvSpPr>
        <p:spPr>
          <a:xfrm>
            <a:off x="8370000" y="3888000"/>
            <a:ext cx="3348000" cy="828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83" name=""/>
          <p:cNvSpPr txBox="1"/>
          <p:nvPr/>
        </p:nvSpPr>
        <p:spPr>
          <a:xfrm>
            <a:off x="8442000" y="3970800"/>
            <a:ext cx="3204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因果影子重播，非接觸閉迴路</a:t>
            </a:r>
            <a:endParaRPr b="0" lang="en-US" sz="1600" spc="-1" strike="noStrike">
              <a:solidFill>
                <a:srgbClr val="222222"/>
              </a:solidFill>
              <a:latin typeface="Noto Sans CJK TC"/>
              <a:ea typeface="Noto Sans CJK TC"/>
            </a:endParaRPr>
          </a:p>
        </p:txBody>
      </p:sp>
      <p:sp>
        <p:nvSpPr>
          <p:cNvPr id="284" name=""/>
          <p:cNvSpPr/>
          <p:nvPr/>
        </p:nvSpPr>
        <p:spPr>
          <a:xfrm>
            <a:off x="450000" y="4716000"/>
            <a:ext cx="3060000" cy="82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85" name=""/>
          <p:cNvSpPr txBox="1"/>
          <p:nvPr/>
        </p:nvSpPr>
        <p:spPr>
          <a:xfrm>
            <a:off x="522000" y="4798800"/>
            <a:ext cx="2916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持握位置誤差（本期）</a:t>
            </a:r>
            <a:endParaRPr b="0" lang="en-US" sz="1600" spc="-1" strike="noStrike">
              <a:solidFill>
                <a:srgbClr val="222222"/>
              </a:solidFill>
              <a:latin typeface="Noto Sans CJK TC"/>
              <a:ea typeface="Noto Sans CJK TC"/>
            </a:endParaRPr>
          </a:p>
        </p:txBody>
      </p:sp>
      <p:sp>
        <p:nvSpPr>
          <p:cNvPr id="286" name=""/>
          <p:cNvSpPr/>
          <p:nvPr/>
        </p:nvSpPr>
        <p:spPr>
          <a:xfrm>
            <a:off x="3510000" y="4716000"/>
            <a:ext cx="4860000" cy="82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87" name=""/>
          <p:cNvSpPr txBox="1"/>
          <p:nvPr/>
        </p:nvSpPr>
        <p:spPr>
          <a:xfrm>
            <a:off x="3582000" y="4798800"/>
            <a:ext cx="4716000" cy="684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40–43.7° </a:t>
            </a:r>
            <a:r>
              <a:rPr b="0" lang="zh-CN" sz="1600" spc="-1" strike="noStrike">
                <a:solidFill>
                  <a:srgbClr val="222222"/>
                </a:solidFill>
                <a:latin typeface="Noto Sans CJK TC"/>
              </a:rPr>
              <a:t>平均 </a:t>
            </a:r>
            <a:r>
              <a:rPr b="0" lang="en-US" sz="1600" spc="-1" strike="noStrike">
                <a:solidFill>
                  <a:srgbClr val="222222"/>
                </a:solidFill>
                <a:latin typeface="Noto Sans CJK TC"/>
              </a:rPr>
              <a:t>4.48 mm</a:t>
            </a:r>
            <a:endParaRPr b="0" lang="en-US" sz="1600" spc="-1" strike="noStrike">
              <a:solidFill>
                <a:srgbClr val="222222"/>
              </a:solidFill>
              <a:latin typeface="Noto Sans CJK TC"/>
              <a:ea typeface="Noto Sans CJK TC"/>
            </a:endParaRPr>
          </a:p>
          <a:p>
            <a:r>
              <a:rPr b="0" lang="en-US" sz="1600" spc="-1" strike="noStrike">
                <a:solidFill>
                  <a:srgbClr val="222222"/>
                </a:solidFill>
                <a:latin typeface="Noto Sans CJK TC"/>
              </a:rPr>
              <a:t>→ </a:t>
            </a:r>
            <a:r>
              <a:rPr b="0" lang="en-US" sz="1600" spc="-1" strike="noStrike">
                <a:solidFill>
                  <a:srgbClr val="222222"/>
                </a:solidFill>
                <a:latin typeface="Noto Sans CJK TC"/>
              </a:rPr>
              <a:t>1.33</a:t>
            </a:r>
            <a:r>
              <a:rPr b="0" lang="zh-CN" sz="1600" spc="-1" strike="noStrike">
                <a:solidFill>
                  <a:srgbClr val="222222"/>
                </a:solidFill>
                <a:latin typeface="Noto Sans CJK TC"/>
              </a:rPr>
              <a:t>／</a:t>
            </a:r>
            <a:r>
              <a:rPr b="0" lang="en-US" sz="1600" spc="-1" strike="noStrike">
                <a:solidFill>
                  <a:srgbClr val="222222"/>
                </a:solidFill>
                <a:latin typeface="Noto Sans CJK TC"/>
              </a:rPr>
              <a:t>1.32</a:t>
            </a:r>
            <a:r>
              <a:rPr b="0" lang="zh-CN" sz="1600" spc="-1" strike="noStrike">
                <a:solidFill>
                  <a:srgbClr val="222222"/>
                </a:solidFill>
                <a:latin typeface="Noto Sans CJK TC"/>
              </a:rPr>
              <a:t>／</a:t>
            </a:r>
            <a:r>
              <a:rPr b="0" lang="en-US" sz="1600" spc="-1" strike="noStrike">
                <a:solidFill>
                  <a:srgbClr val="222222"/>
                </a:solidFill>
                <a:latin typeface="Noto Sans CJK TC"/>
              </a:rPr>
              <a:t>1.35 mm</a:t>
            </a:r>
            <a:endParaRPr b="0" lang="en-US" sz="1600" spc="-1" strike="noStrike">
              <a:solidFill>
                <a:srgbClr val="222222"/>
              </a:solidFill>
              <a:latin typeface="Noto Sans CJK TC"/>
              <a:ea typeface="Noto Sans CJK TC"/>
            </a:endParaRPr>
          </a:p>
        </p:txBody>
      </p:sp>
      <p:sp>
        <p:nvSpPr>
          <p:cNvPr id="288" name=""/>
          <p:cNvSpPr/>
          <p:nvPr/>
        </p:nvSpPr>
        <p:spPr>
          <a:xfrm>
            <a:off x="8370000" y="4716000"/>
            <a:ext cx="3348000" cy="828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89" name=""/>
          <p:cNvSpPr txBox="1"/>
          <p:nvPr/>
        </p:nvSpPr>
        <p:spPr>
          <a:xfrm>
            <a:off x="8442000" y="4798800"/>
            <a:ext cx="3204000" cy="684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實測分箱三趟相近，非嚴格單變因</a:t>
            </a:r>
            <a:endParaRPr b="0" lang="en-US" sz="1600" spc="-1" strike="noStrike">
              <a:solidFill>
                <a:srgbClr val="222222"/>
              </a:solidFill>
              <a:latin typeface="Noto Sans CJK TC"/>
              <a:ea typeface="Noto Sans CJK TC"/>
            </a:endParaRPr>
          </a:p>
        </p:txBody>
      </p:sp>
      <p:sp>
        <p:nvSpPr>
          <p:cNvPr id="290"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91"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17365d"/>
                </a:solidFill>
                <a:latin typeface="Noto Sans CJK TC"/>
              </a:rPr>
              <a:t>目前主張：執行介面一致的 </a:t>
            </a:r>
            <a:r>
              <a:rPr b="1" lang="en-US" sz="1600" spc="-1" strike="noStrike">
                <a:solidFill>
                  <a:srgbClr val="17365d"/>
                </a:solidFill>
                <a:latin typeface="Noto Sans CJK TC"/>
              </a:rPr>
              <a:t>W-GMPC </a:t>
            </a:r>
            <a:r>
              <a:rPr b="1" lang="zh-CN" sz="1600" spc="-1" strike="noStrike">
                <a:solidFill>
                  <a:srgbClr val="17365d"/>
                </a:solidFill>
                <a:latin typeface="Noto Sans CJK TC"/>
              </a:rPr>
              <a:t>實作與實證；尚未證明全面優於外部方法。</a:t>
            </a:r>
            <a:endParaRPr b="1" lang="en-US" sz="1600" spc="-1" strike="noStrike">
              <a:solidFill>
                <a:srgbClr val="17365d"/>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
          <p:cNvSpPr txBox="1"/>
          <p:nvPr/>
        </p:nvSpPr>
        <p:spPr>
          <a:xfrm>
            <a:off x="450000" y="169200"/>
            <a:ext cx="10080000" cy="275040"/>
          </a:xfrm>
          <a:prstGeom prst="rect">
            <a:avLst/>
          </a:prstGeom>
          <a:noFill/>
          <a:ln w="0">
            <a:noFill/>
          </a:ln>
        </p:spPr>
        <p:txBody>
          <a:bodyPr lIns="43200" rIns="43200" tIns="36000" bIns="36000" anchor="t">
            <a:noAutofit/>
          </a:bodyPr>
          <a:p>
            <a:r>
              <a:rPr b="1" lang="en-US" sz="1100" spc="-1" strike="noStrike">
                <a:solidFill>
                  <a:srgbClr val="2f75b5"/>
                </a:solidFill>
                <a:latin typeface="Noto Sans CJK TC"/>
              </a:rPr>
              <a:t>05 / </a:t>
            </a:r>
            <a:r>
              <a:rPr b="1" lang="zh-CN" sz="1100" spc="-1" strike="noStrike">
                <a:solidFill>
                  <a:srgbClr val="2f75b5"/>
                </a:solidFill>
                <a:latin typeface="Noto Sans CJK TC"/>
              </a:rPr>
              <a:t>研究目標與後續交付</a:t>
            </a:r>
            <a:endParaRPr b="1" lang="en-US" sz="1100" spc="-1" strike="noStrike">
              <a:solidFill>
                <a:srgbClr val="2f75b5"/>
              </a:solidFill>
              <a:latin typeface="Noto Sans CJK TC"/>
              <a:ea typeface="Noto Sans CJK TC"/>
            </a:endParaRPr>
          </a:p>
        </p:txBody>
      </p:sp>
      <p:sp>
        <p:nvSpPr>
          <p:cNvPr id="293"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接下來：由單一操作走向同趟導航—操作—返回</a:t>
            </a:r>
            <a:endParaRPr b="1" lang="en-US" sz="2800" spc="-1" strike="noStrike">
              <a:solidFill>
                <a:srgbClr val="17365d"/>
              </a:solidFill>
              <a:latin typeface="Noto Sans CJK TC"/>
              <a:ea typeface="Noto Sans CJK TC"/>
            </a:endParaRPr>
          </a:p>
        </p:txBody>
      </p:sp>
      <p:sp>
        <p:nvSpPr>
          <p:cNvPr id="294"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295"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296"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14</a:t>
            </a:r>
            <a:endParaRPr b="0" lang="en-US" sz="1100" spc="-1" strike="noStrike">
              <a:solidFill>
                <a:srgbClr val="666666"/>
              </a:solidFill>
              <a:latin typeface="Noto Sans CJK TC"/>
              <a:ea typeface="Noto Sans CJK TC"/>
            </a:endParaRPr>
          </a:p>
        </p:txBody>
      </p:sp>
      <p:sp>
        <p:nvSpPr>
          <p:cNvPr id="297" name=""/>
          <p:cNvSpPr/>
          <p:nvPr/>
        </p:nvSpPr>
        <p:spPr>
          <a:xfrm>
            <a:off x="450000" y="1440000"/>
            <a:ext cx="3636000" cy="205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298" name=""/>
          <p:cNvSpPr/>
          <p:nvPr/>
        </p:nvSpPr>
        <p:spPr>
          <a:xfrm>
            <a:off x="450000" y="1440000"/>
            <a:ext cx="46800" cy="2052000"/>
          </a:xfrm>
          <a:prstGeom prst="rect">
            <a:avLst/>
          </a:prstGeom>
          <a:solidFill>
            <a:srgbClr val="2f75b5"/>
          </a:solidFill>
          <a:ln w="7200">
            <a:solidFill>
              <a:srgbClr val="2f75b5"/>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299" name=""/>
          <p:cNvSpPr txBox="1"/>
          <p:nvPr/>
        </p:nvSpPr>
        <p:spPr>
          <a:xfrm>
            <a:off x="576000" y="1548000"/>
            <a:ext cx="3402000" cy="457920"/>
          </a:xfrm>
          <a:prstGeom prst="rect">
            <a:avLst/>
          </a:prstGeom>
          <a:noFill/>
          <a:ln w="0">
            <a:noFill/>
          </a:ln>
        </p:spPr>
        <p:txBody>
          <a:bodyPr lIns="43200" rIns="43200" tIns="36000" bIns="36000" anchor="t">
            <a:noAutofit/>
          </a:bodyPr>
          <a:p>
            <a:r>
              <a:rPr b="1" lang="zh-CN" sz="2100" spc="-1" strike="noStrike">
                <a:solidFill>
                  <a:srgbClr val="2f75b5"/>
                </a:solidFill>
                <a:latin typeface="Noto Sans CJK TC"/>
              </a:rPr>
              <a:t>開門 → 換抓</a:t>
            </a:r>
            <a:endParaRPr b="1" lang="en-US" sz="2100" spc="-1" strike="noStrike">
              <a:solidFill>
                <a:srgbClr val="2f75b5"/>
              </a:solidFill>
              <a:latin typeface="Noto Sans CJK TC"/>
              <a:ea typeface="Noto Sans CJK TC"/>
            </a:endParaRPr>
          </a:p>
        </p:txBody>
      </p:sp>
      <p:sp>
        <p:nvSpPr>
          <p:cNvPr id="300" name=""/>
          <p:cNvSpPr txBox="1"/>
          <p:nvPr/>
        </p:nvSpPr>
        <p:spPr>
          <a:xfrm>
            <a:off x="576000" y="1933200"/>
            <a:ext cx="3402000" cy="1494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先取得同趟實際閉爪與保持證據</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成功子段保留影片</a:t>
            </a:r>
            <a:endParaRPr b="0" lang="en-US" sz="1700" spc="-1" strike="noStrike">
              <a:solidFill>
                <a:srgbClr val="222222"/>
              </a:solidFill>
              <a:latin typeface="Noto Sans CJK TC"/>
              <a:ea typeface="Noto Sans CJK TC"/>
            </a:endParaRPr>
          </a:p>
        </p:txBody>
      </p:sp>
      <p:sp>
        <p:nvSpPr>
          <p:cNvPr id="301" name=""/>
          <p:cNvSpPr/>
          <p:nvPr/>
        </p:nvSpPr>
        <p:spPr>
          <a:xfrm>
            <a:off x="4266000" y="1440000"/>
            <a:ext cx="3636000" cy="205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02" name=""/>
          <p:cNvSpPr/>
          <p:nvPr/>
        </p:nvSpPr>
        <p:spPr>
          <a:xfrm>
            <a:off x="4266000" y="1440000"/>
            <a:ext cx="46800" cy="2052000"/>
          </a:xfrm>
          <a:prstGeom prst="rect">
            <a:avLst/>
          </a:prstGeom>
          <a:solidFill>
            <a:srgbClr val="ed7d31"/>
          </a:solidFill>
          <a:ln w="7200">
            <a:solidFill>
              <a:srgbClr val="ed7d31"/>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303" name=""/>
          <p:cNvSpPr txBox="1"/>
          <p:nvPr/>
        </p:nvSpPr>
        <p:spPr>
          <a:xfrm>
            <a:off x="4392000" y="1548000"/>
            <a:ext cx="3402000" cy="457920"/>
          </a:xfrm>
          <a:prstGeom prst="rect">
            <a:avLst/>
          </a:prstGeom>
          <a:noFill/>
          <a:ln w="0">
            <a:noFill/>
          </a:ln>
        </p:spPr>
        <p:txBody>
          <a:bodyPr lIns="43200" rIns="43200" tIns="36000" bIns="36000" anchor="t">
            <a:noAutofit/>
          </a:bodyPr>
          <a:p>
            <a:r>
              <a:rPr b="1" lang="zh-CN" sz="2100" spc="-1" strike="noStrike">
                <a:solidFill>
                  <a:srgbClr val="ed7d31"/>
                </a:solidFill>
                <a:latin typeface="Noto Sans CJK TC"/>
              </a:rPr>
              <a:t>通過中關門</a:t>
            </a:r>
            <a:endParaRPr b="1" lang="en-US" sz="2100" spc="-1" strike="noStrike">
              <a:solidFill>
                <a:srgbClr val="ed7d31"/>
              </a:solidFill>
              <a:latin typeface="Noto Sans CJK TC"/>
              <a:ea typeface="Noto Sans CJK TC"/>
            </a:endParaRPr>
          </a:p>
        </p:txBody>
      </p:sp>
      <p:sp>
        <p:nvSpPr>
          <p:cNvPr id="304" name=""/>
          <p:cNvSpPr txBox="1"/>
          <p:nvPr/>
        </p:nvSpPr>
        <p:spPr>
          <a:xfrm>
            <a:off x="4392000" y="1933200"/>
            <a:ext cx="3402000" cy="1494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在整機清空前已有實測關門進展</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再完成放手、退臂、交還導航</a:t>
            </a:r>
            <a:endParaRPr b="0" lang="en-US" sz="1700" spc="-1" strike="noStrike">
              <a:solidFill>
                <a:srgbClr val="222222"/>
              </a:solidFill>
              <a:latin typeface="Noto Sans CJK TC"/>
              <a:ea typeface="Noto Sans CJK TC"/>
            </a:endParaRPr>
          </a:p>
        </p:txBody>
      </p:sp>
      <p:sp>
        <p:nvSpPr>
          <p:cNvPr id="305" name=""/>
          <p:cNvSpPr/>
          <p:nvPr/>
        </p:nvSpPr>
        <p:spPr>
          <a:xfrm>
            <a:off x="8082000" y="1440000"/>
            <a:ext cx="3636000" cy="205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06" name=""/>
          <p:cNvSpPr/>
          <p:nvPr/>
        </p:nvSpPr>
        <p:spPr>
          <a:xfrm>
            <a:off x="8082000" y="1440000"/>
            <a:ext cx="46800" cy="2052000"/>
          </a:xfrm>
          <a:prstGeom prst="rect">
            <a:avLst/>
          </a:prstGeom>
          <a:solidFill>
            <a:srgbClr val="ed7d31"/>
          </a:solidFill>
          <a:ln w="7200">
            <a:solidFill>
              <a:srgbClr val="ed7d31"/>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307" name=""/>
          <p:cNvSpPr txBox="1"/>
          <p:nvPr/>
        </p:nvSpPr>
        <p:spPr>
          <a:xfrm>
            <a:off x="8208000" y="1548000"/>
            <a:ext cx="3402000" cy="457920"/>
          </a:xfrm>
          <a:prstGeom prst="rect">
            <a:avLst/>
          </a:prstGeom>
          <a:noFill/>
          <a:ln w="0">
            <a:noFill/>
          </a:ln>
        </p:spPr>
        <p:txBody>
          <a:bodyPr lIns="43200" rIns="43200" tIns="36000" bIns="36000" anchor="t">
            <a:noAutofit/>
          </a:bodyPr>
          <a:p>
            <a:r>
              <a:rPr b="1" lang="zh-CN" sz="2100" spc="-1" strike="noStrike">
                <a:solidFill>
                  <a:srgbClr val="ed7d31"/>
                </a:solidFill>
                <a:latin typeface="Noto Sans CJK TC"/>
              </a:rPr>
              <a:t>開關抽屜 → 返回</a:t>
            </a:r>
            <a:endParaRPr b="1" lang="en-US" sz="2100" spc="-1" strike="noStrike">
              <a:solidFill>
                <a:srgbClr val="ed7d31"/>
              </a:solidFill>
              <a:latin typeface="Noto Sans CJK TC"/>
              <a:ea typeface="Noto Sans CJK TC"/>
            </a:endParaRPr>
          </a:p>
        </p:txBody>
      </p:sp>
      <p:sp>
        <p:nvSpPr>
          <p:cNvPr id="308" name=""/>
          <p:cNvSpPr txBox="1"/>
          <p:nvPr/>
        </p:nvSpPr>
        <p:spPr>
          <a:xfrm>
            <a:off x="8208000" y="1933200"/>
            <a:ext cx="3402000" cy="1494000"/>
          </a:xfrm>
          <a:prstGeom prst="rect">
            <a:avLst/>
          </a:prstGeom>
          <a:noFill/>
          <a:ln w="0">
            <a:noFill/>
          </a:ln>
        </p:spPr>
        <p:txBody>
          <a:bodyPr lIns="43200" rIns="43200" tIns="36000" bIns="36000" anchor="t">
            <a:noAutofit/>
          </a:bodyPr>
          <a:p>
            <a:r>
              <a:rPr b="0" lang="zh-CN" sz="1700" spc="-1" strike="noStrike">
                <a:solidFill>
                  <a:srgbClr val="222222"/>
                </a:solidFill>
                <a:latin typeface="Noto Sans CJK TC"/>
              </a:rPr>
              <a:t>接回上次已建立的操作能力</a:t>
            </a:r>
            <a:endParaRPr b="0" lang="en-US" sz="1700" spc="-1" strike="noStrike">
              <a:solidFill>
                <a:srgbClr val="222222"/>
              </a:solidFill>
              <a:latin typeface="Noto Sans CJK TC"/>
              <a:ea typeface="Noto Sans CJK TC"/>
            </a:endParaRPr>
          </a:p>
          <a:p>
            <a:r>
              <a:rPr b="0" lang="zh-CN" sz="1700" spc="-1" strike="noStrike">
                <a:solidFill>
                  <a:srgbClr val="222222"/>
                </a:solidFill>
                <a:latin typeface="Noto Sans CJK TC"/>
              </a:rPr>
              <a:t>導航 </a:t>
            </a:r>
            <a:r>
              <a:rPr b="0" lang="en-US" sz="1700" spc="-1" strike="noStrike">
                <a:solidFill>
                  <a:srgbClr val="222222"/>
                </a:solidFill>
                <a:latin typeface="Noto Sans CJK TC"/>
              </a:rPr>
              <a:t>GMPC </a:t>
            </a:r>
            <a:r>
              <a:rPr b="0" lang="zh-CN" sz="1700" spc="-1" strike="noStrike">
                <a:solidFill>
                  <a:srgbClr val="222222"/>
                </a:solidFill>
                <a:latin typeface="Noto Sans CJK TC"/>
              </a:rPr>
              <a:t>＋導航 </a:t>
            </a:r>
            <a:r>
              <a:rPr b="0" lang="en-US" sz="1700" spc="-1" strike="noStrike">
                <a:solidFill>
                  <a:srgbClr val="222222"/>
                </a:solidFill>
                <a:latin typeface="Noto Sans CJK TC"/>
              </a:rPr>
              <a:t>CBF </a:t>
            </a:r>
            <a:r>
              <a:rPr b="0" lang="zh-CN" sz="1700" spc="-1" strike="noStrike">
                <a:solidFill>
                  <a:srgbClr val="222222"/>
                </a:solidFill>
                <a:latin typeface="Noto Sans CJK TC"/>
              </a:rPr>
              <a:t>實際啟用</a:t>
            </a:r>
            <a:endParaRPr b="0" lang="en-US" sz="1700" spc="-1" strike="noStrike">
              <a:solidFill>
                <a:srgbClr val="222222"/>
              </a:solidFill>
              <a:latin typeface="Noto Sans CJK TC"/>
              <a:ea typeface="Noto Sans CJK TC"/>
            </a:endParaRPr>
          </a:p>
        </p:txBody>
      </p:sp>
      <p:sp>
        <p:nvSpPr>
          <p:cNvPr id="309" name=""/>
          <p:cNvSpPr txBox="1"/>
          <p:nvPr/>
        </p:nvSpPr>
        <p:spPr>
          <a:xfrm>
            <a:off x="522000" y="3996000"/>
            <a:ext cx="10800000" cy="828000"/>
          </a:xfrm>
          <a:prstGeom prst="rect">
            <a:avLst/>
          </a:prstGeom>
          <a:noFill/>
          <a:ln w="0">
            <a:noFill/>
          </a:ln>
        </p:spPr>
        <p:txBody>
          <a:bodyPr lIns="43200" rIns="43200" tIns="36000" bIns="36000" anchor="t">
            <a:noAutofit/>
          </a:bodyPr>
          <a:p>
            <a:r>
              <a:rPr b="1" lang="zh-CN" sz="2300" spc="-1" strike="noStrike">
                <a:solidFill>
                  <a:srgbClr val="17365d"/>
                </a:solidFill>
                <a:latin typeface="Noto Sans CJK TC"/>
              </a:rPr>
              <a:t>本期回答的是：如何把可規劃的動作，轉成位置伺服平台可執行的全身操作。</a:t>
            </a:r>
            <a:endParaRPr b="1" lang="en-US" sz="2300" spc="-1" strike="noStrike">
              <a:solidFill>
                <a:srgbClr val="17365d"/>
              </a:solidFill>
              <a:latin typeface="Noto Sans CJK TC"/>
              <a:ea typeface="Noto Sans CJK TC"/>
            </a:endParaRPr>
          </a:p>
        </p:txBody>
      </p:sp>
      <p:sp>
        <p:nvSpPr>
          <p:cNvPr id="310" name=""/>
          <p:cNvSpPr txBox="1"/>
          <p:nvPr/>
        </p:nvSpPr>
        <p:spPr>
          <a:xfrm>
            <a:off x="522000" y="4968000"/>
            <a:ext cx="10800000" cy="734040"/>
          </a:xfrm>
          <a:prstGeom prst="rect">
            <a:avLst/>
          </a:prstGeom>
          <a:noFill/>
          <a:ln w="0">
            <a:noFill/>
          </a:ln>
        </p:spPr>
        <p:txBody>
          <a:bodyPr lIns="43200" rIns="43200" tIns="36000" bIns="36000" anchor="t">
            <a:noAutofit/>
          </a:bodyPr>
          <a:p>
            <a:r>
              <a:rPr b="0" lang="zh-CN" sz="1800" spc="-1" strike="noStrike">
                <a:solidFill>
                  <a:srgbClr val="222222"/>
                </a:solidFill>
                <a:latin typeface="Noto Sans CJK TC"/>
              </a:rPr>
              <a:t>已支持：限定配置的時間、預測一致性與持握誤差改善。</a:t>
            </a:r>
            <a:endParaRPr b="0" lang="en-US" sz="1800" spc="-1" strike="noStrike">
              <a:solidFill>
                <a:srgbClr val="222222"/>
              </a:solidFill>
              <a:latin typeface="Noto Sans CJK TC"/>
              <a:ea typeface="Noto Sans CJK TC"/>
            </a:endParaRPr>
          </a:p>
          <a:p>
            <a:r>
              <a:rPr b="0" lang="zh-CN" sz="1800" spc="-1" strike="noStrike">
                <a:solidFill>
                  <a:srgbClr val="222222"/>
                </a:solidFill>
                <a:latin typeface="Noto Sans CJK TC"/>
              </a:rPr>
              <a:t>待支持：完整物理通行、同趟往返及跨方法優越性。</a:t>
            </a:r>
            <a:endParaRPr b="0" lang="en-US" sz="1800" spc="-1" strike="noStrike">
              <a:solidFill>
                <a:srgbClr val="222222"/>
              </a:solidFill>
              <a:latin typeface="Noto Sans CJK TC"/>
              <a:ea typeface="Noto Sans CJK TC"/>
            </a:endParaRPr>
          </a:p>
        </p:txBody>
      </p:sp>
      <p:sp>
        <p:nvSpPr>
          <p:cNvPr id="311"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12"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17365d"/>
                </a:solidFill>
                <a:latin typeface="Noto Sans CJK TC"/>
              </a:rPr>
              <a:t>完整流程仍是目標；依報告前取得的實際證據更新，不預寫成成功。</a:t>
            </a:r>
            <a:endParaRPr b="1" lang="en-US" sz="1600" spc="-1" strike="noStrike">
              <a:solidFill>
                <a:srgbClr val="17365d"/>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
          <p:cNvSpPr txBox="1"/>
          <p:nvPr/>
        </p:nvSpPr>
        <p:spPr>
          <a:xfrm>
            <a:off x="450000" y="169200"/>
            <a:ext cx="10080000" cy="275040"/>
          </a:xfrm>
          <a:prstGeom prst="rect">
            <a:avLst/>
          </a:prstGeom>
          <a:noFill/>
          <a:ln w="0">
            <a:noFill/>
          </a:ln>
        </p:spPr>
        <p:txBody>
          <a:bodyPr lIns="43200" rIns="43200" tIns="36000" bIns="36000" anchor="t">
            <a:noAutofit/>
          </a:bodyPr>
          <a:p>
            <a:r>
              <a:rPr b="1" lang="zh-CN" sz="1100" spc="-1" strike="noStrike">
                <a:solidFill>
                  <a:srgbClr val="2f75b5"/>
                </a:solidFill>
                <a:latin typeface="Noto Sans CJK TC"/>
              </a:rPr>
              <a:t>附錄 </a:t>
            </a:r>
            <a:r>
              <a:rPr b="1" lang="en-US" sz="1100" spc="-1" strike="noStrike">
                <a:solidFill>
                  <a:srgbClr val="2f75b5"/>
                </a:solidFill>
                <a:latin typeface="Noto Sans CJK TC"/>
              </a:rPr>
              <a:t>A / </a:t>
            </a:r>
            <a:r>
              <a:rPr b="1" lang="zh-CN" sz="1100" spc="-1" strike="noStrike">
                <a:solidFill>
                  <a:srgbClr val="2f75b5"/>
                </a:solidFill>
                <a:latin typeface="Noto Sans CJK TC"/>
              </a:rPr>
              <a:t>與舊版完整拉關分開</a:t>
            </a:r>
            <a:endParaRPr b="1" lang="en-US" sz="1100" spc="-1" strike="noStrike">
              <a:solidFill>
                <a:srgbClr val="2f75b5"/>
              </a:solidFill>
              <a:latin typeface="Noto Sans CJK TC"/>
              <a:ea typeface="Noto Sans CJK TC"/>
            </a:endParaRPr>
          </a:p>
        </p:txBody>
      </p:sp>
      <p:sp>
        <p:nvSpPr>
          <p:cNvPr id="314"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備用：最新換抓模型與實作狀態</a:t>
            </a:r>
            <a:endParaRPr b="1" lang="en-US" sz="2800" spc="-1" strike="noStrike">
              <a:solidFill>
                <a:srgbClr val="17365d"/>
              </a:solidFill>
              <a:latin typeface="Noto Sans CJK TC"/>
              <a:ea typeface="Noto Sans CJK TC"/>
            </a:endParaRPr>
          </a:p>
        </p:txBody>
      </p:sp>
      <p:sp>
        <p:nvSpPr>
          <p:cNvPr id="315"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316"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317"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15</a:t>
            </a:r>
            <a:endParaRPr b="0" lang="en-US" sz="1100" spc="-1" strike="noStrike">
              <a:solidFill>
                <a:srgbClr val="666666"/>
              </a:solidFill>
              <a:latin typeface="Noto Sans CJK TC"/>
              <a:ea typeface="Noto Sans CJK TC"/>
            </a:endParaRPr>
          </a:p>
        </p:txBody>
      </p:sp>
      <p:sp>
        <p:nvSpPr>
          <p:cNvPr id="318" name=""/>
          <p:cNvSpPr/>
          <p:nvPr/>
        </p:nvSpPr>
        <p:spPr>
          <a:xfrm>
            <a:off x="450000" y="1404000"/>
            <a:ext cx="2592000" cy="792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319" name=""/>
          <p:cNvSpPr txBox="1"/>
          <p:nvPr/>
        </p:nvSpPr>
        <p:spPr>
          <a:xfrm>
            <a:off x="522000" y="1486800"/>
            <a:ext cx="2448000" cy="648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項目</a:t>
            </a:r>
            <a:endParaRPr b="1" lang="en-US" sz="1600" spc="-1" strike="noStrike">
              <a:solidFill>
                <a:srgbClr val="ffffff"/>
              </a:solidFill>
              <a:latin typeface="Noto Sans CJK TC"/>
              <a:ea typeface="Noto Sans CJK TC"/>
            </a:endParaRPr>
          </a:p>
        </p:txBody>
      </p:sp>
      <p:sp>
        <p:nvSpPr>
          <p:cNvPr id="320" name=""/>
          <p:cNvSpPr/>
          <p:nvPr/>
        </p:nvSpPr>
        <p:spPr>
          <a:xfrm>
            <a:off x="3042000" y="1404000"/>
            <a:ext cx="4356000" cy="792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321" name=""/>
          <p:cNvSpPr txBox="1"/>
          <p:nvPr/>
        </p:nvSpPr>
        <p:spPr>
          <a:xfrm>
            <a:off x="3114000" y="1486800"/>
            <a:ext cx="4212000" cy="648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結果</a:t>
            </a:r>
            <a:endParaRPr b="1" lang="en-US" sz="1600" spc="-1" strike="noStrike">
              <a:solidFill>
                <a:srgbClr val="ffffff"/>
              </a:solidFill>
              <a:latin typeface="Noto Sans CJK TC"/>
              <a:ea typeface="Noto Sans CJK TC"/>
            </a:endParaRPr>
          </a:p>
        </p:txBody>
      </p:sp>
      <p:sp>
        <p:nvSpPr>
          <p:cNvPr id="322" name=""/>
          <p:cNvSpPr/>
          <p:nvPr/>
        </p:nvSpPr>
        <p:spPr>
          <a:xfrm>
            <a:off x="7398000" y="1404000"/>
            <a:ext cx="4320000" cy="792000"/>
          </a:xfrm>
          <a:prstGeom prst="rect">
            <a:avLst/>
          </a:prstGeom>
          <a:solidFill>
            <a:srgbClr val="17365d"/>
          </a:solidFill>
          <a:ln w="7200">
            <a:solidFill>
              <a:srgbClr val="dbe4ee"/>
            </a:solidFill>
            <a:round/>
          </a:ln>
        </p:spPr>
        <p:txBody>
          <a:bodyPr lIns="93600" rIns="93600" tIns="48600" bIns="48600" anchor="ctr" anchorCtr="1">
            <a:noAutofit/>
          </a:bodyPr>
          <a:p>
            <a:endParaRPr b="0" lang="en-US" sz="1800" spc="-1" strike="noStrike">
              <a:solidFill>
                <a:srgbClr val="ffffff"/>
              </a:solidFill>
              <a:latin typeface="Arial"/>
            </a:endParaRPr>
          </a:p>
        </p:txBody>
      </p:sp>
      <p:sp>
        <p:nvSpPr>
          <p:cNvPr id="323" name=""/>
          <p:cNvSpPr txBox="1"/>
          <p:nvPr/>
        </p:nvSpPr>
        <p:spPr>
          <a:xfrm>
            <a:off x="7470000" y="1486800"/>
            <a:ext cx="4176000" cy="648000"/>
          </a:xfrm>
          <a:prstGeom prst="rect">
            <a:avLst/>
          </a:prstGeom>
          <a:noFill/>
          <a:ln w="0">
            <a:noFill/>
          </a:ln>
        </p:spPr>
        <p:txBody>
          <a:bodyPr lIns="43200" rIns="43200" tIns="36000" bIns="36000" anchor="t">
            <a:noAutofit/>
          </a:bodyPr>
          <a:p>
            <a:r>
              <a:rPr b="1" lang="zh-CN" sz="1600" spc="-1" strike="noStrike">
                <a:solidFill>
                  <a:srgbClr val="ffffff"/>
                </a:solidFill>
                <a:latin typeface="Noto Sans CJK TC"/>
              </a:rPr>
              <a:t>限制</a:t>
            </a:r>
            <a:endParaRPr b="1" lang="en-US" sz="1600" spc="-1" strike="noStrike">
              <a:solidFill>
                <a:srgbClr val="ffffff"/>
              </a:solidFill>
              <a:latin typeface="Noto Sans CJK TC"/>
              <a:ea typeface="Noto Sans CJK TC"/>
            </a:endParaRPr>
          </a:p>
        </p:txBody>
      </p:sp>
      <p:sp>
        <p:nvSpPr>
          <p:cNvPr id="324" name=""/>
          <p:cNvSpPr/>
          <p:nvPr/>
        </p:nvSpPr>
        <p:spPr>
          <a:xfrm>
            <a:off x="450000" y="2196000"/>
            <a:ext cx="2592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25" name=""/>
          <p:cNvSpPr txBox="1"/>
          <p:nvPr/>
        </p:nvSpPr>
        <p:spPr>
          <a:xfrm>
            <a:off x="522000" y="2278800"/>
            <a:ext cx="2448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控制狀態</a:t>
            </a:r>
            <a:endParaRPr b="0" lang="en-US" sz="1600" spc="-1" strike="noStrike">
              <a:solidFill>
                <a:srgbClr val="222222"/>
              </a:solidFill>
              <a:latin typeface="Noto Sans CJK TC"/>
              <a:ea typeface="Noto Sans CJK TC"/>
            </a:endParaRPr>
          </a:p>
        </p:txBody>
      </p:sp>
      <p:sp>
        <p:nvSpPr>
          <p:cNvPr id="326" name=""/>
          <p:cNvSpPr/>
          <p:nvPr/>
        </p:nvSpPr>
        <p:spPr>
          <a:xfrm>
            <a:off x="3042000" y="2196000"/>
            <a:ext cx="4356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27" name=""/>
          <p:cNvSpPr txBox="1"/>
          <p:nvPr/>
        </p:nvSpPr>
        <p:spPr>
          <a:xfrm>
            <a:off x="3114000" y="2278800"/>
            <a:ext cx="4212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承接 </a:t>
            </a:r>
            <a:r>
              <a:rPr b="0" lang="en-US" sz="1600" spc="-1" strike="noStrike">
                <a:solidFill>
                  <a:srgbClr val="222222"/>
                </a:solidFill>
                <a:latin typeface="Noto Sans CJK TC"/>
              </a:rPr>
              <a:t>bench_6 </a:t>
            </a:r>
            <a:r>
              <a:rPr b="0" lang="zh-CN" sz="1600" spc="-1" strike="noStrike">
                <a:solidFill>
                  <a:srgbClr val="222222"/>
                </a:solidFill>
                <a:latin typeface="Noto Sans CJK TC"/>
              </a:rPr>
              <a:t>的 </a:t>
            </a:r>
            <a:r>
              <a:rPr b="0" lang="en-US" sz="1600" spc="-1" strike="noStrike">
                <a:solidFill>
                  <a:srgbClr val="222222"/>
                </a:solidFill>
                <a:latin typeface="Noto Sans CJK TC"/>
              </a:rPr>
              <a:t>q</a:t>
            </a:r>
            <a:r>
              <a:rPr b="0" lang="zh-CN" sz="1600" spc="-1" strike="noStrike">
                <a:solidFill>
                  <a:srgbClr val="222222"/>
                </a:solidFill>
                <a:latin typeface="Noto Sans CJK TC"/>
              </a:rPr>
              <a:t>／</a:t>
            </a:r>
            <a:r>
              <a:rPr b="0" lang="en-US" sz="1600" spc="-1" strike="noStrike">
                <a:solidFill>
                  <a:srgbClr val="222222"/>
                </a:solidFill>
                <a:latin typeface="Noto Sans CJK TC"/>
              </a:rPr>
              <a:t>s</a:t>
            </a:r>
            <a:r>
              <a:rPr b="0" lang="zh-CN" sz="1600" spc="-1" strike="noStrike">
                <a:solidFill>
                  <a:srgbClr val="222222"/>
                </a:solidFill>
                <a:latin typeface="Noto Sans CJK TC"/>
              </a:rPr>
              <a:t>／</a:t>
            </a:r>
            <a:r>
              <a:rPr b="0" lang="en-US" sz="1600" spc="-1" strike="noStrike">
                <a:solidFill>
                  <a:srgbClr val="222222"/>
                </a:solidFill>
                <a:latin typeface="Noto Sans CJK TC"/>
              </a:rPr>
              <a:t>u_prev</a:t>
            </a:r>
            <a:r>
              <a:rPr b="0" lang="zh-CN" sz="1600" spc="-1" strike="noStrike">
                <a:solidFill>
                  <a:srgbClr val="222222"/>
                </a:solidFill>
                <a:latin typeface="Noto Sans CJK TC"/>
              </a:rPr>
              <a:t>／偏移</a:t>
            </a:r>
            <a:endParaRPr b="0" lang="en-US" sz="1600" spc="-1" strike="noStrike">
              <a:solidFill>
                <a:srgbClr val="222222"/>
              </a:solidFill>
              <a:latin typeface="Noto Sans CJK TC"/>
              <a:ea typeface="Noto Sans CJK TC"/>
            </a:endParaRPr>
          </a:p>
        </p:txBody>
      </p:sp>
      <p:sp>
        <p:nvSpPr>
          <p:cNvPr id="328" name=""/>
          <p:cNvSpPr/>
          <p:nvPr/>
        </p:nvSpPr>
        <p:spPr>
          <a:xfrm>
            <a:off x="7398000" y="2196000"/>
            <a:ext cx="4320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29" name=""/>
          <p:cNvSpPr txBox="1"/>
          <p:nvPr/>
        </p:nvSpPr>
        <p:spPr>
          <a:xfrm>
            <a:off x="7470000" y="2278800"/>
            <a:ext cx="4176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非同趟實際延續</a:t>
            </a:r>
            <a:endParaRPr b="0" lang="en-US" sz="1600" spc="-1" strike="noStrike">
              <a:solidFill>
                <a:srgbClr val="222222"/>
              </a:solidFill>
              <a:latin typeface="Noto Sans CJK TC"/>
              <a:ea typeface="Noto Sans CJK TC"/>
            </a:endParaRPr>
          </a:p>
        </p:txBody>
      </p:sp>
      <p:sp>
        <p:nvSpPr>
          <p:cNvPr id="330" name=""/>
          <p:cNvSpPr/>
          <p:nvPr/>
        </p:nvSpPr>
        <p:spPr>
          <a:xfrm>
            <a:off x="450000" y="2988000"/>
            <a:ext cx="2592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31" name=""/>
          <p:cNvSpPr txBox="1"/>
          <p:nvPr/>
        </p:nvSpPr>
        <p:spPr>
          <a:xfrm>
            <a:off x="522000" y="3070800"/>
            <a:ext cx="2448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新內側抓法</a:t>
            </a:r>
            <a:endParaRPr b="0" lang="en-US" sz="1600" spc="-1" strike="noStrike">
              <a:solidFill>
                <a:srgbClr val="222222"/>
              </a:solidFill>
              <a:latin typeface="Noto Sans CJK TC"/>
              <a:ea typeface="Noto Sans CJK TC"/>
            </a:endParaRPr>
          </a:p>
        </p:txBody>
      </p:sp>
      <p:sp>
        <p:nvSpPr>
          <p:cNvPr id="332" name=""/>
          <p:cNvSpPr/>
          <p:nvPr/>
        </p:nvSpPr>
        <p:spPr>
          <a:xfrm>
            <a:off x="3042000" y="2988000"/>
            <a:ext cx="4356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33" name=""/>
          <p:cNvSpPr txBox="1"/>
          <p:nvPr/>
        </p:nvSpPr>
        <p:spPr>
          <a:xfrm>
            <a:off x="3114000" y="3070800"/>
            <a:ext cx="4212000" cy="648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φ</a:t>
            </a:r>
            <a:r>
              <a:rPr b="0" lang="zh-CN" sz="1600" spc="-1" strike="noStrike">
                <a:solidFill>
                  <a:srgbClr val="222222"/>
                </a:solidFill>
                <a:latin typeface="Noto Sans CJK TC"/>
              </a:rPr>
              <a:t>＋</a:t>
            </a:r>
            <a:r>
              <a:rPr b="0" lang="en-US" sz="1600" spc="-1" strike="noStrike">
                <a:solidFill>
                  <a:srgbClr val="222222"/>
                </a:solidFill>
                <a:latin typeface="Noto Sans CJK TC"/>
              </a:rPr>
              <a:t>30°</a:t>
            </a:r>
            <a:r>
              <a:rPr b="0" lang="zh-CN" sz="1600" spc="-1" strike="noStrike">
                <a:solidFill>
                  <a:srgbClr val="222222"/>
                </a:solidFill>
                <a:latin typeface="Noto Sans CJK TC"/>
              </a:rPr>
              <a:t>；實測准入條件</a:t>
            </a:r>
            <a:endParaRPr b="0" lang="en-US" sz="1600" spc="-1" strike="noStrike">
              <a:solidFill>
                <a:srgbClr val="222222"/>
              </a:solidFill>
              <a:latin typeface="Noto Sans CJK TC"/>
              <a:ea typeface="Noto Sans CJK TC"/>
            </a:endParaRPr>
          </a:p>
        </p:txBody>
      </p:sp>
      <p:sp>
        <p:nvSpPr>
          <p:cNvPr id="334" name=""/>
          <p:cNvSpPr/>
          <p:nvPr/>
        </p:nvSpPr>
        <p:spPr>
          <a:xfrm>
            <a:off x="7398000" y="2988000"/>
            <a:ext cx="4320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35" name=""/>
          <p:cNvSpPr txBox="1"/>
          <p:nvPr/>
        </p:nvSpPr>
        <p:spPr>
          <a:xfrm>
            <a:off x="7470000" y="3070800"/>
            <a:ext cx="4176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名目模型無接觸力</a:t>
            </a:r>
            <a:endParaRPr b="0" lang="en-US" sz="1600" spc="-1" strike="noStrike">
              <a:solidFill>
                <a:srgbClr val="222222"/>
              </a:solidFill>
              <a:latin typeface="Noto Sans CJK TC"/>
              <a:ea typeface="Noto Sans CJK TC"/>
            </a:endParaRPr>
          </a:p>
        </p:txBody>
      </p:sp>
      <p:sp>
        <p:nvSpPr>
          <p:cNvPr id="336" name=""/>
          <p:cNvSpPr/>
          <p:nvPr/>
        </p:nvSpPr>
        <p:spPr>
          <a:xfrm>
            <a:off x="450000" y="3780000"/>
            <a:ext cx="2592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37" name=""/>
          <p:cNvSpPr txBox="1"/>
          <p:nvPr/>
        </p:nvSpPr>
        <p:spPr>
          <a:xfrm>
            <a:off x="522000" y="3862800"/>
            <a:ext cx="2448000" cy="648000"/>
          </a:xfrm>
          <a:prstGeom prst="rect">
            <a:avLst/>
          </a:prstGeom>
          <a:noFill/>
          <a:ln w="0">
            <a:noFill/>
          </a:ln>
        </p:spPr>
        <p:txBody>
          <a:bodyPr lIns="43200" rIns="43200" tIns="36000" bIns="36000" anchor="t">
            <a:noAutofit/>
          </a:bodyPr>
          <a:p>
            <a:r>
              <a:rPr b="0" lang="en-US" sz="1600" spc="-1" strike="noStrike">
                <a:solidFill>
                  <a:srgbClr val="222222"/>
                </a:solidFill>
                <a:latin typeface="Noto Sans CJK TC"/>
              </a:rPr>
              <a:t>W-GMPC </a:t>
            </a:r>
            <a:r>
              <a:rPr b="0" lang="zh-CN" sz="1600" spc="-1" strike="noStrike">
                <a:solidFill>
                  <a:srgbClr val="222222"/>
                </a:solidFill>
                <a:latin typeface="Noto Sans CJK TC"/>
              </a:rPr>
              <a:t>名目追蹤</a:t>
            </a:r>
            <a:endParaRPr b="0" lang="en-US" sz="1600" spc="-1" strike="noStrike">
              <a:solidFill>
                <a:srgbClr val="222222"/>
              </a:solidFill>
              <a:latin typeface="Noto Sans CJK TC"/>
              <a:ea typeface="Noto Sans CJK TC"/>
            </a:endParaRPr>
          </a:p>
        </p:txBody>
      </p:sp>
      <p:sp>
        <p:nvSpPr>
          <p:cNvPr id="338" name=""/>
          <p:cNvSpPr/>
          <p:nvPr/>
        </p:nvSpPr>
        <p:spPr>
          <a:xfrm>
            <a:off x="3042000" y="3780000"/>
            <a:ext cx="4356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39" name=""/>
          <p:cNvSpPr txBox="1"/>
          <p:nvPr/>
        </p:nvSpPr>
        <p:spPr>
          <a:xfrm>
            <a:off x="3114000" y="3862800"/>
            <a:ext cx="4212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完成；取樣 </a:t>
            </a:r>
            <a:r>
              <a:rPr b="0" lang="en-US" sz="1600" spc="-1" strike="noStrike">
                <a:solidFill>
                  <a:srgbClr val="222222"/>
                </a:solidFill>
                <a:latin typeface="Noto Sans CJK TC"/>
              </a:rPr>
              <a:t>stop</a:t>
            </a:r>
            <a:r>
              <a:rPr b="0" lang="zh-CN" sz="1600" spc="-1" strike="noStrike">
                <a:solidFill>
                  <a:srgbClr val="222222"/>
                </a:solidFill>
                <a:latin typeface="Noto Sans CJK TC"/>
              </a:rPr>
              <a:t>／</a:t>
            </a:r>
            <a:r>
              <a:rPr b="0" lang="en-US" sz="1600" spc="-1" strike="noStrike">
                <a:solidFill>
                  <a:srgbClr val="222222"/>
                </a:solidFill>
                <a:latin typeface="Noto Sans CJK TC"/>
              </a:rPr>
              <a:t>warn 0</a:t>
            </a:r>
            <a:endParaRPr b="0" lang="en-US" sz="1600" spc="-1" strike="noStrike">
              <a:solidFill>
                <a:srgbClr val="222222"/>
              </a:solidFill>
              <a:latin typeface="Noto Sans CJK TC"/>
              <a:ea typeface="Noto Sans CJK TC"/>
            </a:endParaRPr>
          </a:p>
        </p:txBody>
      </p:sp>
      <p:sp>
        <p:nvSpPr>
          <p:cNvPr id="340" name=""/>
          <p:cNvSpPr/>
          <p:nvPr/>
        </p:nvSpPr>
        <p:spPr>
          <a:xfrm>
            <a:off x="7398000" y="3780000"/>
            <a:ext cx="4320000" cy="792000"/>
          </a:xfrm>
          <a:prstGeom prst="rect">
            <a:avLst/>
          </a:prstGeom>
          <a:solidFill>
            <a:srgbClr val="f3f7fb"/>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41" name=""/>
          <p:cNvSpPr txBox="1"/>
          <p:nvPr/>
        </p:nvSpPr>
        <p:spPr>
          <a:xfrm>
            <a:off x="7470000" y="3862800"/>
            <a:ext cx="4176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收臂落後 </a:t>
            </a:r>
            <a:r>
              <a:rPr b="0" lang="en-US" sz="1600" spc="-1" strike="noStrike">
                <a:solidFill>
                  <a:srgbClr val="222222"/>
                </a:solidFill>
                <a:latin typeface="Noto Sans CJK TC"/>
              </a:rPr>
              <a:t>120 mm</a:t>
            </a:r>
            <a:r>
              <a:rPr b="0" lang="zh-CN" sz="1600" spc="-1" strike="noStrike">
                <a:solidFill>
                  <a:srgbClr val="222222"/>
                </a:solidFill>
                <a:latin typeface="Noto Sans CJK TC"/>
              </a:rPr>
              <a:t>、部分關節飽和</a:t>
            </a:r>
            <a:endParaRPr b="0" lang="en-US" sz="1600" spc="-1" strike="noStrike">
              <a:solidFill>
                <a:srgbClr val="222222"/>
              </a:solidFill>
              <a:latin typeface="Noto Sans CJK TC"/>
              <a:ea typeface="Noto Sans CJK TC"/>
            </a:endParaRPr>
          </a:p>
        </p:txBody>
      </p:sp>
      <p:sp>
        <p:nvSpPr>
          <p:cNvPr id="342" name=""/>
          <p:cNvSpPr/>
          <p:nvPr/>
        </p:nvSpPr>
        <p:spPr>
          <a:xfrm>
            <a:off x="450000" y="4572000"/>
            <a:ext cx="2592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43" name=""/>
          <p:cNvSpPr txBox="1"/>
          <p:nvPr/>
        </p:nvSpPr>
        <p:spPr>
          <a:xfrm>
            <a:off x="522000" y="4654800"/>
            <a:ext cx="2448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整合與下一步</a:t>
            </a:r>
            <a:endParaRPr b="0" lang="en-US" sz="1600" spc="-1" strike="noStrike">
              <a:solidFill>
                <a:srgbClr val="222222"/>
              </a:solidFill>
              <a:latin typeface="Noto Sans CJK TC"/>
              <a:ea typeface="Noto Sans CJK TC"/>
            </a:endParaRPr>
          </a:p>
        </p:txBody>
      </p:sp>
      <p:sp>
        <p:nvSpPr>
          <p:cNvPr id="344" name=""/>
          <p:cNvSpPr/>
          <p:nvPr/>
        </p:nvSpPr>
        <p:spPr>
          <a:xfrm>
            <a:off x="3042000" y="4572000"/>
            <a:ext cx="4356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45" name=""/>
          <p:cNvSpPr txBox="1"/>
          <p:nvPr/>
        </p:nvSpPr>
        <p:spPr>
          <a:xfrm>
            <a:off x="3114000" y="4654800"/>
            <a:ext cx="4212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同一真節點＋替身做完整聯測</a:t>
            </a:r>
            <a:endParaRPr b="0" lang="en-US" sz="1600" spc="-1" strike="noStrike">
              <a:solidFill>
                <a:srgbClr val="222222"/>
              </a:solidFill>
              <a:latin typeface="Noto Sans CJK TC"/>
              <a:ea typeface="Noto Sans CJK TC"/>
            </a:endParaRPr>
          </a:p>
        </p:txBody>
      </p:sp>
      <p:sp>
        <p:nvSpPr>
          <p:cNvPr id="346" name=""/>
          <p:cNvSpPr/>
          <p:nvPr/>
        </p:nvSpPr>
        <p:spPr>
          <a:xfrm>
            <a:off x="7398000" y="4572000"/>
            <a:ext cx="4320000" cy="792000"/>
          </a:xfrm>
          <a:prstGeom prst="rect">
            <a:avLst/>
          </a:prstGeom>
          <a:solidFill>
            <a:srgbClr val="ffffff"/>
          </a:solidFill>
          <a:ln w="7200">
            <a:solidFill>
              <a:srgbClr val="dbe4ee"/>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47" name=""/>
          <p:cNvSpPr txBox="1"/>
          <p:nvPr/>
        </p:nvSpPr>
        <p:spPr>
          <a:xfrm>
            <a:off x="7470000" y="4654800"/>
            <a:ext cx="4176000" cy="648000"/>
          </a:xfrm>
          <a:prstGeom prst="rect">
            <a:avLst/>
          </a:prstGeom>
          <a:noFill/>
          <a:ln w="0">
            <a:noFill/>
          </a:ln>
        </p:spPr>
        <p:txBody>
          <a:bodyPr lIns="43200" rIns="43200" tIns="36000" bIns="36000" anchor="t">
            <a:noAutofit/>
          </a:bodyPr>
          <a:p>
            <a:r>
              <a:rPr b="0" lang="zh-CN" sz="1600" spc="-1" strike="noStrike">
                <a:solidFill>
                  <a:srgbClr val="222222"/>
                </a:solidFill>
                <a:latin typeface="Noto Sans CJK TC"/>
              </a:rPr>
              <a:t>尚未取得新換抓 </a:t>
            </a:r>
            <a:r>
              <a:rPr b="0" lang="en-US" sz="1600" spc="-1" strike="noStrike">
                <a:solidFill>
                  <a:srgbClr val="222222"/>
                </a:solidFill>
                <a:latin typeface="Noto Sans CJK TC"/>
              </a:rPr>
              <a:t>Isaac </a:t>
            </a:r>
            <a:r>
              <a:rPr b="0" lang="zh-CN" sz="1600" spc="-1" strike="noStrike">
                <a:solidFill>
                  <a:srgbClr val="222222"/>
                </a:solidFill>
                <a:latin typeface="Noto Sans CJK TC"/>
              </a:rPr>
              <a:t>實證</a:t>
            </a:r>
            <a:endParaRPr b="0" lang="en-US" sz="1600" spc="-1" strike="noStrike">
              <a:solidFill>
                <a:srgbClr val="222222"/>
              </a:solidFill>
              <a:latin typeface="Noto Sans CJK TC"/>
              <a:ea typeface="Noto Sans CJK TC"/>
            </a:endParaRPr>
          </a:p>
        </p:txBody>
      </p:sp>
      <p:sp>
        <p:nvSpPr>
          <p:cNvPr id="348"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49" name=""/>
          <p:cNvSpPr txBox="1"/>
          <p:nvPr/>
        </p:nvSpPr>
        <p:spPr>
          <a:xfrm>
            <a:off x="558000" y="5875200"/>
            <a:ext cx="11076120" cy="365040"/>
          </a:xfrm>
          <a:prstGeom prst="rect">
            <a:avLst/>
          </a:prstGeom>
          <a:noFill/>
          <a:ln w="0">
            <a:noFill/>
          </a:ln>
        </p:spPr>
        <p:txBody>
          <a:bodyPr lIns="43200" rIns="43200" tIns="36000" bIns="36000" anchor="t">
            <a:noAutofit/>
          </a:bodyPr>
          <a:p>
            <a:r>
              <a:rPr b="1" lang="en-US" sz="1600" spc="-1" strike="noStrike">
                <a:solidFill>
                  <a:srgbClr val="ed7d31"/>
                </a:solidFill>
                <a:latin typeface="Noto Sans CJK TC"/>
              </a:rPr>
              <a:t>0.29 s </a:t>
            </a:r>
            <a:r>
              <a:rPr b="1" lang="zh-CN" sz="1600" spc="-1" strike="noStrike">
                <a:solidFill>
                  <a:srgbClr val="ed7d31"/>
                </a:solidFill>
                <a:latin typeface="Noto Sans CJK TC"/>
              </a:rPr>
              <a:t>壓力核對自碰 </a:t>
            </a:r>
            <a:r>
              <a:rPr b="1" lang="en-US" sz="1600" spc="-1" strike="noStrike">
                <a:solidFill>
                  <a:srgbClr val="ed7d31"/>
                </a:solidFill>
                <a:latin typeface="Noto Sans CJK TC"/>
              </a:rPr>
              <a:t>4.90 mm</a:t>
            </a:r>
            <a:r>
              <a:rPr b="1" lang="zh-CN" sz="1600" spc="-1" strike="noStrike">
                <a:solidFill>
                  <a:srgbClr val="ed7d31"/>
                </a:solidFill>
                <a:latin typeface="Noto Sans CJK TC"/>
              </a:rPr>
              <a:t>，未過；本模型成功僅限所列名目條件。</a:t>
            </a:r>
            <a:endParaRPr b="1" lang="en-US" sz="1600" spc="-1" strike="noStrike">
              <a:solidFill>
                <a:srgbClr val="ed7d31"/>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
          <p:cNvSpPr txBox="1"/>
          <p:nvPr/>
        </p:nvSpPr>
        <p:spPr>
          <a:xfrm>
            <a:off x="450000" y="169200"/>
            <a:ext cx="10080000" cy="275040"/>
          </a:xfrm>
          <a:prstGeom prst="rect">
            <a:avLst/>
          </a:prstGeom>
          <a:noFill/>
          <a:ln w="0">
            <a:noFill/>
          </a:ln>
        </p:spPr>
        <p:txBody>
          <a:bodyPr lIns="43200" rIns="43200" tIns="36000" bIns="36000" anchor="t">
            <a:noAutofit/>
          </a:bodyPr>
          <a:p>
            <a:r>
              <a:rPr b="1" lang="zh-CN" sz="1100" spc="-1" strike="noStrike">
                <a:solidFill>
                  <a:srgbClr val="2f75b5"/>
                </a:solidFill>
                <a:latin typeface="Noto Sans CJK TC"/>
              </a:rPr>
              <a:t>附錄 </a:t>
            </a:r>
            <a:r>
              <a:rPr b="1" lang="en-US" sz="1100" spc="-1" strike="noStrike">
                <a:solidFill>
                  <a:srgbClr val="2f75b5"/>
                </a:solidFill>
                <a:latin typeface="Noto Sans CJK TC"/>
              </a:rPr>
              <a:t>B / </a:t>
            </a:r>
            <a:r>
              <a:rPr b="1" lang="zh-CN" sz="1100" spc="-1" strike="noStrike">
                <a:solidFill>
                  <a:srgbClr val="2f75b5"/>
                </a:solidFill>
                <a:latin typeface="Noto Sans CJK TC"/>
              </a:rPr>
              <a:t>本期其他進展</a:t>
            </a:r>
            <a:endParaRPr b="1" lang="en-US" sz="1100" spc="-1" strike="noStrike">
              <a:solidFill>
                <a:srgbClr val="2f75b5"/>
              </a:solidFill>
              <a:latin typeface="Noto Sans CJK TC"/>
              <a:ea typeface="Noto Sans CJK TC"/>
            </a:endParaRPr>
          </a:p>
        </p:txBody>
      </p:sp>
      <p:sp>
        <p:nvSpPr>
          <p:cNvPr id="351"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備用：視覺預抓取與目標誤差</a:t>
            </a:r>
            <a:endParaRPr b="1" lang="en-US" sz="2800" spc="-1" strike="noStrike">
              <a:solidFill>
                <a:srgbClr val="17365d"/>
              </a:solidFill>
              <a:latin typeface="Noto Sans CJK TC"/>
              <a:ea typeface="Noto Sans CJK TC"/>
            </a:endParaRPr>
          </a:p>
        </p:txBody>
      </p:sp>
      <p:sp>
        <p:nvSpPr>
          <p:cNvPr id="352"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353"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354"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16</a:t>
            </a:r>
            <a:endParaRPr b="0" lang="en-US" sz="1100" spc="-1" strike="noStrike">
              <a:solidFill>
                <a:srgbClr val="666666"/>
              </a:solidFill>
              <a:latin typeface="Noto Sans CJK TC"/>
              <a:ea typeface="Noto Sans CJK TC"/>
            </a:endParaRPr>
          </a:p>
        </p:txBody>
      </p:sp>
      <p:pic>
        <p:nvPicPr>
          <p:cNvPr id="355" name="" descr=""/>
          <p:cNvPicPr/>
          <p:nvPr/>
        </p:nvPicPr>
        <p:blipFill>
          <a:blip r:embed="rId1"/>
          <a:stretch/>
        </p:blipFill>
        <p:spPr>
          <a:xfrm>
            <a:off x="450000" y="1609560"/>
            <a:ext cx="7200000" cy="3260520"/>
          </a:xfrm>
          <a:prstGeom prst="rect">
            <a:avLst/>
          </a:prstGeom>
          <a:ln w="0">
            <a:noFill/>
          </a:ln>
        </p:spPr>
      </p:pic>
      <p:sp>
        <p:nvSpPr>
          <p:cNvPr id="356" name=""/>
          <p:cNvSpPr txBox="1"/>
          <p:nvPr/>
        </p:nvSpPr>
        <p:spPr>
          <a:xfrm>
            <a:off x="7920000" y="1404000"/>
            <a:ext cx="3600000" cy="662040"/>
          </a:xfrm>
          <a:prstGeom prst="rect">
            <a:avLst/>
          </a:prstGeom>
          <a:noFill/>
          <a:ln w="0">
            <a:noFill/>
          </a:ln>
        </p:spPr>
        <p:txBody>
          <a:bodyPr lIns="43200" rIns="43200" tIns="36000" bIns="36000" anchor="t">
            <a:noAutofit/>
          </a:bodyPr>
          <a:p>
            <a:pPr algn="r"/>
            <a:r>
              <a:rPr b="1" lang="en-US" sz="3200" spc="-1" strike="noStrike">
                <a:solidFill>
                  <a:srgbClr val="2f75b5"/>
                </a:solidFill>
                <a:latin typeface="Noto Sans CJK TC"/>
              </a:rPr>
              <a:t>1.83 mm</a:t>
            </a:r>
            <a:endParaRPr b="1" lang="en-US" sz="3200" spc="-1" strike="noStrike">
              <a:solidFill>
                <a:srgbClr val="2f75b5"/>
              </a:solidFill>
              <a:latin typeface="Noto Sans CJK TC"/>
              <a:ea typeface="Noto Sans CJK TC"/>
            </a:endParaRPr>
          </a:p>
        </p:txBody>
      </p:sp>
      <p:sp>
        <p:nvSpPr>
          <p:cNvPr id="357" name=""/>
          <p:cNvSpPr txBox="1"/>
          <p:nvPr/>
        </p:nvSpPr>
        <p:spPr>
          <a:xfrm>
            <a:off x="7920000" y="1908000"/>
            <a:ext cx="3600000" cy="657720"/>
          </a:xfrm>
          <a:prstGeom prst="rect">
            <a:avLst/>
          </a:prstGeom>
          <a:noFill/>
          <a:ln w="0">
            <a:noFill/>
          </a:ln>
        </p:spPr>
        <p:txBody>
          <a:bodyPr lIns="43200" rIns="43200" tIns="36000" bIns="36000" anchor="t">
            <a:noAutofit/>
          </a:bodyPr>
          <a:p>
            <a:pPr algn="r"/>
            <a:r>
              <a:rPr b="0" lang="zh-CN" sz="1600" spc="-1" strike="noStrike">
                <a:solidFill>
                  <a:srgbClr val="222222"/>
                </a:solidFill>
                <a:latin typeface="Noto Sans CJK TC"/>
              </a:rPr>
              <a:t>相對鎖定目標的</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預抓取到位誤差</a:t>
            </a:r>
            <a:endParaRPr b="0" lang="en-US" sz="1600" spc="-1" strike="noStrike">
              <a:solidFill>
                <a:srgbClr val="222222"/>
              </a:solidFill>
              <a:latin typeface="Noto Sans CJK TC"/>
              <a:ea typeface="Noto Sans CJK TC"/>
            </a:endParaRPr>
          </a:p>
        </p:txBody>
      </p:sp>
      <p:sp>
        <p:nvSpPr>
          <p:cNvPr id="358" name=""/>
          <p:cNvSpPr txBox="1"/>
          <p:nvPr/>
        </p:nvSpPr>
        <p:spPr>
          <a:xfrm>
            <a:off x="7920000" y="3168000"/>
            <a:ext cx="3600000" cy="662040"/>
          </a:xfrm>
          <a:prstGeom prst="rect">
            <a:avLst/>
          </a:prstGeom>
          <a:noFill/>
          <a:ln w="0">
            <a:noFill/>
          </a:ln>
        </p:spPr>
        <p:txBody>
          <a:bodyPr lIns="43200" rIns="43200" tIns="36000" bIns="36000" anchor="t">
            <a:noAutofit/>
          </a:bodyPr>
          <a:p>
            <a:pPr algn="r"/>
            <a:r>
              <a:rPr b="1" lang="en-US" sz="3200" spc="-1" strike="noStrike">
                <a:solidFill>
                  <a:srgbClr val="2f75b5"/>
                </a:solidFill>
                <a:latin typeface="Noto Sans CJK TC"/>
              </a:rPr>
              <a:t>1.36 → 0.97 mm</a:t>
            </a:r>
            <a:endParaRPr b="1" lang="en-US" sz="3200" spc="-1" strike="noStrike">
              <a:solidFill>
                <a:srgbClr val="2f75b5"/>
              </a:solidFill>
              <a:latin typeface="Noto Sans CJK TC"/>
              <a:ea typeface="Noto Sans CJK TC"/>
            </a:endParaRPr>
          </a:p>
        </p:txBody>
      </p:sp>
      <p:sp>
        <p:nvSpPr>
          <p:cNvPr id="359" name=""/>
          <p:cNvSpPr txBox="1"/>
          <p:nvPr/>
        </p:nvSpPr>
        <p:spPr>
          <a:xfrm>
            <a:off x="7920000" y="3672000"/>
            <a:ext cx="3600000" cy="657720"/>
          </a:xfrm>
          <a:prstGeom prst="rect">
            <a:avLst/>
          </a:prstGeom>
          <a:noFill/>
          <a:ln w="0">
            <a:noFill/>
          </a:ln>
        </p:spPr>
        <p:txBody>
          <a:bodyPr lIns="43200" rIns="43200" tIns="36000" bIns="36000" anchor="t">
            <a:noAutofit/>
          </a:bodyPr>
          <a:p>
            <a:pPr algn="r"/>
            <a:r>
              <a:rPr b="0" lang="en-US" sz="1600" spc="-1" strike="noStrike">
                <a:solidFill>
                  <a:srgbClr val="222222"/>
                </a:solidFill>
                <a:latin typeface="Noto Sans CJK TC"/>
              </a:rPr>
              <a:t>82 </a:t>
            </a:r>
            <a:r>
              <a:rPr b="0" lang="zh-CN" sz="1600" spc="-1" strike="noStrike">
                <a:solidFill>
                  <a:srgbClr val="222222"/>
                </a:solidFill>
                <a:latin typeface="Noto Sans CJK TC"/>
              </a:rPr>
              <a:t>格共同工具目標</a:t>
            </a:r>
            <a:endParaRPr b="0" lang="en-US" sz="1600" spc="-1" strike="noStrike">
              <a:solidFill>
                <a:srgbClr val="222222"/>
              </a:solidFill>
              <a:latin typeface="Noto Sans CJK TC"/>
              <a:ea typeface="Noto Sans CJK TC"/>
            </a:endParaRPr>
          </a:p>
          <a:p>
            <a:pPr algn="r"/>
            <a:r>
              <a:rPr b="0" lang="zh-CN" sz="1600" spc="-1" strike="noStrike">
                <a:solidFill>
                  <a:srgbClr val="222222"/>
                </a:solidFill>
                <a:latin typeface="Noto Sans CJK TC"/>
              </a:rPr>
              <a:t>接近軸絕對誤差中位</a:t>
            </a:r>
            <a:endParaRPr b="0" lang="en-US" sz="1600" spc="-1" strike="noStrike">
              <a:solidFill>
                <a:srgbClr val="222222"/>
              </a:solidFill>
              <a:latin typeface="Noto Sans CJK TC"/>
              <a:ea typeface="Noto Sans CJK TC"/>
            </a:endParaRPr>
          </a:p>
        </p:txBody>
      </p:sp>
      <p:sp>
        <p:nvSpPr>
          <p:cNvPr id="360"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61"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ed7d31"/>
                </a:solidFill>
                <a:latin typeface="Noto Sans CJK TC"/>
              </a:rPr>
              <a:t>預抓取到位 ≠ 可放行抓取；未閉爪、未操作，也未證明跨物件泛化。</a:t>
            </a:r>
            <a:endParaRPr b="1" lang="en-US" sz="1600" spc="-1" strike="noStrike">
              <a:solidFill>
                <a:srgbClr val="ed7d31"/>
              </a:solidFill>
              <a:latin typeface="Noto Sans CJK TC"/>
              <a:ea typeface="Noto Sans CJK TC"/>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
          <p:cNvSpPr txBox="1"/>
          <p:nvPr/>
        </p:nvSpPr>
        <p:spPr>
          <a:xfrm>
            <a:off x="450000" y="169200"/>
            <a:ext cx="10080000" cy="275040"/>
          </a:xfrm>
          <a:prstGeom prst="rect">
            <a:avLst/>
          </a:prstGeom>
          <a:noFill/>
          <a:ln w="0">
            <a:noFill/>
          </a:ln>
        </p:spPr>
        <p:txBody>
          <a:bodyPr lIns="43200" rIns="43200" tIns="36000" bIns="36000" anchor="t">
            <a:noAutofit/>
          </a:bodyPr>
          <a:p>
            <a:r>
              <a:rPr b="1" lang="zh-CN" sz="1100" spc="-1" strike="noStrike">
                <a:solidFill>
                  <a:srgbClr val="2f75b5"/>
                </a:solidFill>
                <a:latin typeface="Noto Sans CJK TC"/>
              </a:rPr>
              <a:t>附錄 </a:t>
            </a:r>
            <a:r>
              <a:rPr b="1" lang="en-US" sz="1100" spc="-1" strike="noStrike">
                <a:solidFill>
                  <a:srgbClr val="2f75b5"/>
                </a:solidFill>
                <a:latin typeface="Noto Sans CJK TC"/>
              </a:rPr>
              <a:t>C / </a:t>
            </a:r>
            <a:r>
              <a:rPr b="1" lang="zh-CN" sz="1100" spc="-1" strike="noStrike">
                <a:solidFill>
                  <a:srgbClr val="2f75b5"/>
                </a:solidFill>
                <a:latin typeface="Noto Sans CJK TC"/>
              </a:rPr>
              <a:t>原始來源・</a:t>
            </a:r>
            <a:r>
              <a:rPr b="1" lang="en-US" sz="1100" spc="-1" strike="noStrike">
                <a:solidFill>
                  <a:srgbClr val="2f75b5"/>
                </a:solidFill>
                <a:latin typeface="Noto Sans CJK TC"/>
              </a:rPr>
              <a:t>2026/10/28 </a:t>
            </a:r>
            <a:r>
              <a:rPr b="1" lang="zh-CN" sz="1100" spc="-1" strike="noStrike">
                <a:solidFill>
                  <a:srgbClr val="2f75b5"/>
                </a:solidFill>
                <a:latin typeface="Noto Sans CJK TC"/>
              </a:rPr>
              <a:t>查核</a:t>
            </a:r>
            <a:endParaRPr b="1" lang="en-US" sz="1100" spc="-1" strike="noStrike">
              <a:solidFill>
                <a:srgbClr val="2f75b5"/>
              </a:solidFill>
              <a:latin typeface="Noto Sans CJK TC"/>
              <a:ea typeface="Noto Sans CJK TC"/>
            </a:endParaRPr>
          </a:p>
        </p:txBody>
      </p:sp>
      <p:sp>
        <p:nvSpPr>
          <p:cNvPr id="363" name=""/>
          <p:cNvSpPr txBox="1"/>
          <p:nvPr/>
        </p:nvSpPr>
        <p:spPr>
          <a:xfrm>
            <a:off x="450000" y="410400"/>
            <a:ext cx="11268000" cy="586080"/>
          </a:xfrm>
          <a:prstGeom prst="rect">
            <a:avLst/>
          </a:prstGeom>
          <a:noFill/>
          <a:ln w="0">
            <a:noFill/>
          </a:ln>
        </p:spPr>
        <p:txBody>
          <a:bodyPr lIns="43200" rIns="43200" tIns="36000" bIns="36000" anchor="t">
            <a:noAutofit/>
          </a:bodyPr>
          <a:p>
            <a:r>
              <a:rPr b="1" lang="zh-CN" sz="2800" spc="-1" strike="noStrike">
                <a:solidFill>
                  <a:srgbClr val="17365d"/>
                </a:solidFill>
                <a:latin typeface="Noto Sans CJK TC"/>
              </a:rPr>
              <a:t>代表性文獻與本研究定位</a:t>
            </a:r>
            <a:endParaRPr b="1" lang="en-US" sz="2800" spc="-1" strike="noStrike">
              <a:solidFill>
                <a:srgbClr val="17365d"/>
              </a:solidFill>
              <a:latin typeface="Noto Sans CJK TC"/>
              <a:ea typeface="Noto Sans CJK TC"/>
            </a:endParaRPr>
          </a:p>
        </p:txBody>
      </p:sp>
      <p:sp>
        <p:nvSpPr>
          <p:cNvPr id="364" name=""/>
          <p:cNvSpPr/>
          <p:nvPr/>
        </p:nvSpPr>
        <p:spPr>
          <a:xfrm>
            <a:off x="450000" y="1008000"/>
            <a:ext cx="11292120" cy="0"/>
          </a:xfrm>
          <a:prstGeom prst="line">
            <a:avLst/>
          </a:prstGeom>
          <a:ln w="10800">
            <a:solidFill>
              <a:srgbClr val="dbe4ee"/>
            </a:solidFill>
            <a:round/>
          </a:ln>
        </p:spPr>
        <p:style>
          <a:lnRef idx="0"/>
          <a:fillRef idx="0"/>
          <a:effectRef idx="0"/>
          <a:fontRef idx="minor"/>
        </p:style>
        <p:txBody>
          <a:bodyPr lIns="95400" rIns="95400" tIns="-50400" bIns="-50400" anchor="ctr" anchorCtr="1">
            <a:noAutofit/>
          </a:bodyPr>
          <a:p>
            <a:endParaRPr b="0" lang="en-US" sz="1800" spc="-1" strike="noStrike">
              <a:solidFill>
                <a:srgbClr val="000000"/>
              </a:solidFill>
              <a:latin typeface="Arial"/>
            </a:endParaRPr>
          </a:p>
        </p:txBody>
      </p:sp>
      <p:sp>
        <p:nvSpPr>
          <p:cNvPr id="365" name=""/>
          <p:cNvSpPr txBox="1"/>
          <p:nvPr/>
        </p:nvSpPr>
        <p:spPr>
          <a:xfrm>
            <a:off x="450000" y="6480000"/>
            <a:ext cx="10440000" cy="238320"/>
          </a:xfrm>
          <a:prstGeom prst="rect">
            <a:avLst/>
          </a:prstGeom>
          <a:noFill/>
          <a:ln w="0">
            <a:noFill/>
          </a:ln>
        </p:spPr>
        <p:txBody>
          <a:bodyPr lIns="43200" rIns="43200" tIns="36000" bIns="36000" anchor="t">
            <a:noAutofit/>
          </a:bodyPr>
          <a:p>
            <a:r>
              <a:rPr b="0" lang="zh-CN" sz="900" spc="-1" strike="noStrike">
                <a:solidFill>
                  <a:srgbClr val="666666"/>
                </a:solidFill>
                <a:latin typeface="Noto Sans CJK TC"/>
              </a:rPr>
              <a:t>第七次進度報告｜工作稿 </a:t>
            </a:r>
            <a:r>
              <a:rPr b="0" lang="en-US" sz="900" spc="-1" strike="noStrike">
                <a:solidFill>
                  <a:srgbClr val="666666"/>
                </a:solidFill>
                <a:latin typeface="Noto Sans CJK TC"/>
              </a:rPr>
              <a:t>v2</a:t>
            </a:r>
            <a:r>
              <a:rPr b="0" lang="zh-CN" sz="900" spc="-1" strike="noStrike">
                <a:solidFill>
                  <a:srgbClr val="666666"/>
                </a:solidFill>
                <a:latin typeface="Noto Sans CJK TC"/>
              </a:rPr>
              <a:t>｜</a:t>
            </a:r>
            <a:r>
              <a:rPr b="0" lang="en-US" sz="900" spc="-1" strike="noStrike">
                <a:solidFill>
                  <a:srgbClr val="666666"/>
                </a:solidFill>
                <a:latin typeface="Noto Sans CJK TC"/>
              </a:rPr>
              <a:t>2026/10/28 </a:t>
            </a:r>
            <a:r>
              <a:rPr b="0" lang="zh-CN" sz="900" spc="-1" strike="noStrike">
                <a:solidFill>
                  <a:srgbClr val="666666"/>
                </a:solidFill>
                <a:latin typeface="Noto Sans CJK TC"/>
              </a:rPr>
              <a:t>整理・報告日期待填</a:t>
            </a:r>
            <a:endParaRPr b="0" lang="en-US" sz="900" spc="-1" strike="noStrike">
              <a:solidFill>
                <a:srgbClr val="666666"/>
              </a:solidFill>
              <a:latin typeface="Noto Sans CJK TC"/>
              <a:ea typeface="Noto Sans CJK TC"/>
            </a:endParaRPr>
          </a:p>
        </p:txBody>
      </p:sp>
      <p:sp>
        <p:nvSpPr>
          <p:cNvPr id="366" name=""/>
          <p:cNvSpPr txBox="1"/>
          <p:nvPr/>
        </p:nvSpPr>
        <p:spPr>
          <a:xfrm>
            <a:off x="11328120" y="6480000"/>
            <a:ext cx="360000" cy="275040"/>
          </a:xfrm>
          <a:prstGeom prst="rect">
            <a:avLst/>
          </a:prstGeom>
          <a:noFill/>
          <a:ln w="0">
            <a:noFill/>
          </a:ln>
        </p:spPr>
        <p:txBody>
          <a:bodyPr lIns="43200" rIns="43200" tIns="36000" bIns="36000" anchor="t">
            <a:noAutofit/>
          </a:bodyPr>
          <a:p>
            <a:pPr algn="just"/>
            <a:r>
              <a:rPr b="0" lang="en-US" sz="1100" spc="-1" strike="noStrike">
                <a:solidFill>
                  <a:srgbClr val="666666"/>
                </a:solidFill>
                <a:latin typeface="Noto Sans CJK TC"/>
              </a:rPr>
              <a:t>17</a:t>
            </a:r>
            <a:endParaRPr b="0" lang="en-US" sz="1100" spc="-1" strike="noStrike">
              <a:solidFill>
                <a:srgbClr val="666666"/>
              </a:solidFill>
              <a:latin typeface="Noto Sans CJK TC"/>
              <a:ea typeface="Noto Sans CJK TC"/>
            </a:endParaRPr>
          </a:p>
        </p:txBody>
      </p:sp>
      <p:sp>
        <p:nvSpPr>
          <p:cNvPr id="367" name=""/>
          <p:cNvSpPr txBox="1"/>
          <p:nvPr/>
        </p:nvSpPr>
        <p:spPr>
          <a:xfrm>
            <a:off x="522000" y="1188000"/>
            <a:ext cx="10800000" cy="403200"/>
          </a:xfrm>
          <a:prstGeom prst="rect">
            <a:avLst/>
          </a:prstGeom>
          <a:noFill/>
          <a:ln w="0">
            <a:noFill/>
          </a:ln>
        </p:spPr>
        <p:txBody>
          <a:bodyPr lIns="43200" rIns="43200" tIns="36000" bIns="36000" anchor="t">
            <a:noAutofit/>
          </a:bodyPr>
          <a:p>
            <a:r>
              <a:rPr b="1" lang="en-US" sz="1800" spc="-1" strike="noStrike">
                <a:solidFill>
                  <a:srgbClr val="2f75b5"/>
                </a:solidFill>
                <a:latin typeface="Noto Sans CJK TC"/>
              </a:rPr>
              <a:t>[R1] Wang, Chen, Zhao — ICRA 2025</a:t>
            </a:r>
            <a:endParaRPr b="1" lang="en-US" sz="1800" spc="-1" strike="noStrike">
              <a:solidFill>
                <a:srgbClr val="2f75b5"/>
              </a:solidFill>
              <a:latin typeface="Noto Sans CJK TC"/>
              <a:ea typeface="Noto Sans CJK TC"/>
            </a:endParaRPr>
          </a:p>
        </p:txBody>
      </p:sp>
      <p:sp>
        <p:nvSpPr>
          <p:cNvPr id="368" name=""/>
          <p:cNvSpPr txBox="1"/>
          <p:nvPr/>
        </p:nvSpPr>
        <p:spPr>
          <a:xfrm>
            <a:off x="522000" y="1476000"/>
            <a:ext cx="10800000" cy="331560"/>
          </a:xfrm>
          <a:prstGeom prst="rect">
            <a:avLst/>
          </a:prstGeom>
          <a:noFill/>
          <a:ln w="0">
            <a:noFill/>
          </a:ln>
        </p:spPr>
        <p:txBody>
          <a:bodyPr lIns="43200" rIns="43200" tIns="36000" bIns="36000" anchor="t">
            <a:noAutofit/>
          </a:bodyPr>
          <a:p>
            <a:r>
              <a:rPr b="0" lang="en-US" sz="1800" spc="-1" strike="noStrike">
                <a:solidFill>
                  <a:srgbClr val="000000"/>
                </a:solidFill>
                <a:latin typeface="Arial"/>
                <a:hlinkClick r:id="rId1"/>
              </a:rPr>
              <a:t>Whole-Body MPC for Mobile Manipulation with Task Priority Transition</a:t>
            </a:r>
            <a:endParaRPr b="0" lang="en-US" sz="1800" spc="-1" strike="noStrike">
              <a:solidFill>
                <a:srgbClr val="000000"/>
              </a:solidFill>
              <a:latin typeface="Arial"/>
            </a:endParaRPr>
          </a:p>
        </p:txBody>
      </p:sp>
      <p:sp>
        <p:nvSpPr>
          <p:cNvPr id="369" name=""/>
          <p:cNvSpPr txBox="1"/>
          <p:nvPr/>
        </p:nvSpPr>
        <p:spPr>
          <a:xfrm>
            <a:off x="522000" y="1908000"/>
            <a:ext cx="10800000" cy="403200"/>
          </a:xfrm>
          <a:prstGeom prst="rect">
            <a:avLst/>
          </a:prstGeom>
          <a:noFill/>
          <a:ln w="0">
            <a:noFill/>
          </a:ln>
        </p:spPr>
        <p:txBody>
          <a:bodyPr lIns="43200" rIns="43200" tIns="36000" bIns="36000" anchor="t">
            <a:noAutofit/>
          </a:bodyPr>
          <a:p>
            <a:r>
              <a:rPr b="1" lang="en-US" sz="1800" spc="-1" strike="noStrike">
                <a:solidFill>
                  <a:srgbClr val="2f75b5"/>
                </a:solidFill>
                <a:latin typeface="Noto Sans CJK TC"/>
              </a:rPr>
              <a:t>[R2] Sinaei et al. — arXiv v1, 2026</a:t>
            </a:r>
            <a:endParaRPr b="1" lang="en-US" sz="1800" spc="-1" strike="noStrike">
              <a:solidFill>
                <a:srgbClr val="2f75b5"/>
              </a:solidFill>
              <a:latin typeface="Noto Sans CJK TC"/>
              <a:ea typeface="Noto Sans CJK TC"/>
            </a:endParaRPr>
          </a:p>
        </p:txBody>
      </p:sp>
      <p:sp>
        <p:nvSpPr>
          <p:cNvPr id="370" name=""/>
          <p:cNvSpPr txBox="1"/>
          <p:nvPr/>
        </p:nvSpPr>
        <p:spPr>
          <a:xfrm>
            <a:off x="522000" y="2196000"/>
            <a:ext cx="10800000" cy="331560"/>
          </a:xfrm>
          <a:prstGeom prst="rect">
            <a:avLst/>
          </a:prstGeom>
          <a:noFill/>
          <a:ln w="0">
            <a:noFill/>
          </a:ln>
        </p:spPr>
        <p:txBody>
          <a:bodyPr lIns="43200" rIns="43200" tIns="36000" bIns="36000" anchor="t">
            <a:noAutofit/>
          </a:bodyPr>
          <a:p>
            <a:r>
              <a:rPr b="0" lang="en-US" sz="1800" spc="-1" strike="noStrike">
                <a:solidFill>
                  <a:srgbClr val="000000"/>
                </a:solidFill>
                <a:latin typeface="Arial"/>
                <a:hlinkClick r:id="rId2"/>
              </a:rPr>
              <a:t>Motion Planning for Mobile Manipulators Navigating Doorways via MPC</a:t>
            </a:r>
            <a:endParaRPr b="0" lang="en-US" sz="1800" spc="-1" strike="noStrike">
              <a:solidFill>
                <a:srgbClr val="000000"/>
              </a:solidFill>
              <a:latin typeface="Arial"/>
            </a:endParaRPr>
          </a:p>
        </p:txBody>
      </p:sp>
      <p:sp>
        <p:nvSpPr>
          <p:cNvPr id="371" name=""/>
          <p:cNvSpPr txBox="1"/>
          <p:nvPr/>
        </p:nvSpPr>
        <p:spPr>
          <a:xfrm>
            <a:off x="522000" y="2628000"/>
            <a:ext cx="10800000" cy="403200"/>
          </a:xfrm>
          <a:prstGeom prst="rect">
            <a:avLst/>
          </a:prstGeom>
          <a:noFill/>
          <a:ln w="0">
            <a:noFill/>
          </a:ln>
        </p:spPr>
        <p:txBody>
          <a:bodyPr lIns="43200" rIns="43200" tIns="36000" bIns="36000" anchor="t">
            <a:noAutofit/>
          </a:bodyPr>
          <a:p>
            <a:r>
              <a:rPr b="1" lang="en-US" sz="1800" spc="-1" strike="noStrike">
                <a:solidFill>
                  <a:srgbClr val="2f75b5"/>
                </a:solidFill>
                <a:latin typeface="Noto Sans CJK TC"/>
              </a:rPr>
              <a:t>[R3] Du et al. — arXiv v1, 2024</a:t>
            </a:r>
            <a:endParaRPr b="1" lang="en-US" sz="1800" spc="-1" strike="noStrike">
              <a:solidFill>
                <a:srgbClr val="2f75b5"/>
              </a:solidFill>
              <a:latin typeface="Noto Sans CJK TC"/>
              <a:ea typeface="Noto Sans CJK TC"/>
            </a:endParaRPr>
          </a:p>
        </p:txBody>
      </p:sp>
      <p:sp>
        <p:nvSpPr>
          <p:cNvPr id="372" name=""/>
          <p:cNvSpPr txBox="1"/>
          <p:nvPr/>
        </p:nvSpPr>
        <p:spPr>
          <a:xfrm>
            <a:off x="522000" y="2916000"/>
            <a:ext cx="10800000" cy="331560"/>
          </a:xfrm>
          <a:prstGeom prst="rect">
            <a:avLst/>
          </a:prstGeom>
          <a:noFill/>
          <a:ln w="0">
            <a:noFill/>
          </a:ln>
        </p:spPr>
        <p:txBody>
          <a:bodyPr lIns="43200" rIns="43200" tIns="36000" bIns="36000" anchor="t">
            <a:noAutofit/>
          </a:bodyPr>
          <a:p>
            <a:r>
              <a:rPr b="0" lang="en-US" sz="1800" spc="-1" strike="noStrike">
                <a:solidFill>
                  <a:srgbClr val="000000"/>
                </a:solidFill>
                <a:latin typeface="Arial"/>
                <a:hlinkClick r:id="rId3"/>
              </a:rPr>
              <a:t>An Efficient Representation of Whole-body MPC for Online Compliant Dual-arm Mobile Manipulation</a:t>
            </a:r>
            <a:endParaRPr b="0" lang="en-US" sz="1800" spc="-1" strike="noStrike">
              <a:solidFill>
                <a:srgbClr val="000000"/>
              </a:solidFill>
              <a:latin typeface="Arial"/>
            </a:endParaRPr>
          </a:p>
        </p:txBody>
      </p:sp>
      <p:sp>
        <p:nvSpPr>
          <p:cNvPr id="373" name=""/>
          <p:cNvSpPr txBox="1"/>
          <p:nvPr/>
        </p:nvSpPr>
        <p:spPr>
          <a:xfrm>
            <a:off x="522000" y="3348000"/>
            <a:ext cx="10800000" cy="403200"/>
          </a:xfrm>
          <a:prstGeom prst="rect">
            <a:avLst/>
          </a:prstGeom>
          <a:noFill/>
          <a:ln w="0">
            <a:noFill/>
          </a:ln>
        </p:spPr>
        <p:txBody>
          <a:bodyPr lIns="43200" rIns="43200" tIns="36000" bIns="36000" anchor="t">
            <a:noAutofit/>
          </a:bodyPr>
          <a:p>
            <a:r>
              <a:rPr b="1" lang="en-US" sz="1800" spc="-1" strike="noStrike">
                <a:solidFill>
                  <a:srgbClr val="2f75b5"/>
                </a:solidFill>
                <a:latin typeface="Noto Sans CJK TC"/>
              </a:rPr>
              <a:t>[R4] Jang, Kim, Park — RA-L 2023</a:t>
            </a:r>
            <a:endParaRPr b="1" lang="en-US" sz="1800" spc="-1" strike="noStrike">
              <a:solidFill>
                <a:srgbClr val="2f75b5"/>
              </a:solidFill>
              <a:latin typeface="Noto Sans CJK TC"/>
              <a:ea typeface="Noto Sans CJK TC"/>
            </a:endParaRPr>
          </a:p>
        </p:txBody>
      </p:sp>
      <p:sp>
        <p:nvSpPr>
          <p:cNvPr id="374" name=""/>
          <p:cNvSpPr txBox="1"/>
          <p:nvPr/>
        </p:nvSpPr>
        <p:spPr>
          <a:xfrm>
            <a:off x="522000" y="3636000"/>
            <a:ext cx="10800000" cy="331560"/>
          </a:xfrm>
          <a:prstGeom prst="rect">
            <a:avLst/>
          </a:prstGeom>
          <a:noFill/>
          <a:ln w="0">
            <a:noFill/>
          </a:ln>
        </p:spPr>
        <p:txBody>
          <a:bodyPr lIns="43200" rIns="43200" tIns="36000" bIns="36000" anchor="t">
            <a:noAutofit/>
          </a:bodyPr>
          <a:p>
            <a:r>
              <a:rPr b="0" lang="en-US" sz="1800" spc="-1" strike="noStrike">
                <a:solidFill>
                  <a:srgbClr val="000000"/>
                </a:solidFill>
                <a:latin typeface="Arial"/>
                <a:hlinkClick r:id="rId4"/>
              </a:rPr>
              <a:t>Motion Planning of Mobile Manipulator for Navigation Including Door Traversal</a:t>
            </a:r>
            <a:endParaRPr b="0" lang="en-US" sz="1800" spc="-1" strike="noStrike">
              <a:solidFill>
                <a:srgbClr val="000000"/>
              </a:solidFill>
              <a:latin typeface="Arial"/>
            </a:endParaRPr>
          </a:p>
        </p:txBody>
      </p:sp>
      <p:sp>
        <p:nvSpPr>
          <p:cNvPr id="375" name=""/>
          <p:cNvSpPr txBox="1"/>
          <p:nvPr/>
        </p:nvSpPr>
        <p:spPr>
          <a:xfrm>
            <a:off x="522000" y="4068000"/>
            <a:ext cx="10800000" cy="403200"/>
          </a:xfrm>
          <a:prstGeom prst="rect">
            <a:avLst/>
          </a:prstGeom>
          <a:noFill/>
          <a:ln w="0">
            <a:noFill/>
          </a:ln>
        </p:spPr>
        <p:txBody>
          <a:bodyPr lIns="43200" rIns="43200" tIns="36000" bIns="36000" anchor="t">
            <a:noAutofit/>
          </a:bodyPr>
          <a:p>
            <a:r>
              <a:rPr b="1" lang="en-US" sz="1800" spc="-1" strike="noStrike">
                <a:solidFill>
                  <a:srgbClr val="2f75b5"/>
                </a:solidFill>
                <a:latin typeface="Noto Sans CJK TC"/>
              </a:rPr>
              <a:t>[R5] Minniti et al. — ICRA 2021</a:t>
            </a:r>
            <a:endParaRPr b="1" lang="en-US" sz="1800" spc="-1" strike="noStrike">
              <a:solidFill>
                <a:srgbClr val="2f75b5"/>
              </a:solidFill>
              <a:latin typeface="Noto Sans CJK TC"/>
              <a:ea typeface="Noto Sans CJK TC"/>
            </a:endParaRPr>
          </a:p>
        </p:txBody>
      </p:sp>
      <p:sp>
        <p:nvSpPr>
          <p:cNvPr id="376" name=""/>
          <p:cNvSpPr txBox="1"/>
          <p:nvPr/>
        </p:nvSpPr>
        <p:spPr>
          <a:xfrm>
            <a:off x="522000" y="4356000"/>
            <a:ext cx="10800000" cy="331560"/>
          </a:xfrm>
          <a:prstGeom prst="rect">
            <a:avLst/>
          </a:prstGeom>
          <a:noFill/>
          <a:ln w="0">
            <a:noFill/>
          </a:ln>
        </p:spPr>
        <p:txBody>
          <a:bodyPr lIns="43200" rIns="43200" tIns="36000" bIns="36000" anchor="t">
            <a:noAutofit/>
          </a:bodyPr>
          <a:p>
            <a:r>
              <a:rPr b="0" lang="en-US" sz="1800" spc="-1" strike="noStrike">
                <a:solidFill>
                  <a:srgbClr val="000000"/>
                </a:solidFill>
                <a:latin typeface="Arial"/>
                <a:hlinkClick r:id="rId5"/>
              </a:rPr>
              <a:t>Model Predictive Robot-Environment Interaction Control for Mobile Manipulation Tasks</a:t>
            </a:r>
            <a:endParaRPr b="0" lang="en-US" sz="1800" spc="-1" strike="noStrike">
              <a:solidFill>
                <a:srgbClr val="000000"/>
              </a:solidFill>
              <a:latin typeface="Arial"/>
            </a:endParaRPr>
          </a:p>
        </p:txBody>
      </p:sp>
      <p:sp>
        <p:nvSpPr>
          <p:cNvPr id="377" name=""/>
          <p:cNvSpPr txBox="1"/>
          <p:nvPr/>
        </p:nvSpPr>
        <p:spPr>
          <a:xfrm>
            <a:off x="522000" y="4788000"/>
            <a:ext cx="10800000" cy="403200"/>
          </a:xfrm>
          <a:prstGeom prst="rect">
            <a:avLst/>
          </a:prstGeom>
          <a:noFill/>
          <a:ln w="0">
            <a:noFill/>
          </a:ln>
        </p:spPr>
        <p:txBody>
          <a:bodyPr lIns="43200" rIns="43200" tIns="36000" bIns="36000" anchor="t">
            <a:noAutofit/>
          </a:bodyPr>
          <a:p>
            <a:r>
              <a:rPr b="1" lang="en-US" sz="1800" spc="-1" strike="noStrike">
                <a:solidFill>
                  <a:srgbClr val="2f75b5"/>
                </a:solidFill>
                <a:latin typeface="Noto Sans CJK TC"/>
              </a:rPr>
              <a:t>[R6] Tang et al. — RA-L 2024</a:t>
            </a:r>
            <a:endParaRPr b="1" lang="en-US" sz="1800" spc="-1" strike="noStrike">
              <a:solidFill>
                <a:srgbClr val="2f75b5"/>
              </a:solidFill>
              <a:latin typeface="Noto Sans CJK TC"/>
              <a:ea typeface="Noto Sans CJK TC"/>
            </a:endParaRPr>
          </a:p>
        </p:txBody>
      </p:sp>
      <p:sp>
        <p:nvSpPr>
          <p:cNvPr id="378" name=""/>
          <p:cNvSpPr txBox="1"/>
          <p:nvPr/>
        </p:nvSpPr>
        <p:spPr>
          <a:xfrm>
            <a:off x="522000" y="5076000"/>
            <a:ext cx="10800000" cy="331560"/>
          </a:xfrm>
          <a:prstGeom prst="rect">
            <a:avLst/>
          </a:prstGeom>
          <a:noFill/>
          <a:ln w="0">
            <a:noFill/>
          </a:ln>
        </p:spPr>
        <p:txBody>
          <a:bodyPr lIns="43200" rIns="43200" tIns="36000" bIns="36000" anchor="t">
            <a:noAutofit/>
          </a:bodyPr>
          <a:p>
            <a:r>
              <a:rPr b="0" lang="en-US" sz="1800" spc="-1" strike="noStrike">
                <a:solidFill>
                  <a:srgbClr val="000000"/>
                </a:solidFill>
                <a:latin typeface="Arial"/>
                <a:hlinkClick r:id="rId6"/>
              </a:rPr>
              <a:t>GMPC: Geometric MPC for Wheeled Mobile Robot Trajectory Tracking</a:t>
            </a:r>
            <a:endParaRPr b="0" lang="en-US" sz="1800" spc="-1" strike="noStrike">
              <a:solidFill>
                <a:srgbClr val="000000"/>
              </a:solidFill>
              <a:latin typeface="Arial"/>
            </a:endParaRPr>
          </a:p>
        </p:txBody>
      </p:sp>
      <p:sp>
        <p:nvSpPr>
          <p:cNvPr id="379" name=""/>
          <p:cNvSpPr/>
          <p:nvPr/>
        </p:nvSpPr>
        <p:spPr>
          <a:xfrm>
            <a:off x="450000" y="5832000"/>
            <a:ext cx="11292120" cy="414000"/>
          </a:xfrm>
          <a:prstGeom prst="rect">
            <a:avLst/>
          </a:prstGeom>
          <a:solidFill>
            <a:srgbClr val="f3f7fb"/>
          </a:solidFill>
          <a:ln w="7200">
            <a:solidFill>
              <a:srgbClr val="f3f7fb"/>
            </a:solidFill>
            <a:round/>
          </a:ln>
        </p:spPr>
        <p:txBody>
          <a:bodyPr lIns="93600" rIns="93600" tIns="48600" bIns="48600" anchor="ctr" anchorCtr="1">
            <a:noAutofit/>
          </a:bodyPr>
          <a:p>
            <a:endParaRPr b="0" lang="en-US" sz="1800" spc="-1" strike="noStrike">
              <a:solidFill>
                <a:srgbClr val="000000"/>
              </a:solidFill>
              <a:latin typeface="Arial"/>
            </a:endParaRPr>
          </a:p>
        </p:txBody>
      </p:sp>
      <p:sp>
        <p:nvSpPr>
          <p:cNvPr id="380" name=""/>
          <p:cNvSpPr txBox="1"/>
          <p:nvPr/>
        </p:nvSpPr>
        <p:spPr>
          <a:xfrm>
            <a:off x="558000" y="5875200"/>
            <a:ext cx="11076120" cy="365040"/>
          </a:xfrm>
          <a:prstGeom prst="rect">
            <a:avLst/>
          </a:prstGeom>
          <a:noFill/>
          <a:ln w="0">
            <a:noFill/>
          </a:ln>
        </p:spPr>
        <p:txBody>
          <a:bodyPr lIns="43200" rIns="43200" tIns="36000" bIns="36000" anchor="t">
            <a:noAutofit/>
          </a:bodyPr>
          <a:p>
            <a:r>
              <a:rPr b="1" lang="zh-CN" sz="1600" spc="-1" strike="noStrike">
                <a:solidFill>
                  <a:srgbClr val="666666"/>
                </a:solidFill>
                <a:latin typeface="Noto Sans CJK TC"/>
              </a:rPr>
              <a:t>比較表的『方法不同』不是『已經比較勝出』；本平台改善數字另列。</a:t>
            </a:r>
            <a:endParaRPr b="1" lang="en-US" sz="1600" spc="-1" strike="noStrike">
              <a:solidFill>
                <a:srgbClr val="666666"/>
              </a:solidFill>
              <a:latin typeface="Noto Sans CJK TC"/>
              <a:ea typeface="Noto Sans CJK TC"/>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2026-10-28T17:04:38Z</dcterms:created>
  <dc:creator/>
  <dc:description/>
  <dc:language>en-US</dc:language>
  <cp:lastModifiedBy/>
  <dcterms:modified xsi:type="dcterms:W3CDTF">2026-10-28T17:04:39Z</dcterms:modified>
  <cp:revision>1</cp:revision>
  <dc:subject/>
  <dc:title/>
</cp:coreProperties>
</file>