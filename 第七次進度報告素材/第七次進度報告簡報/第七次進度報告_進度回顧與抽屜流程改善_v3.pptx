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Id2"/>
    <ns0:sldMasterId id="2147483650" ns1:id="rId3"/>
  </ns0:sldMasterIdLst>
  <ns0:notesMasterIdLst>
    <ns0:notesMasterId ns1:id="rId4"/>
  </ns0:notesMasterIdLst>
  <ns0:sldIdLst>
    <ns0:sldId id="256" ns1:id="rId5"/>
    <ns0:sldId id="257" ns1:id="rId6"/>
    <ns0:sldId id="258" ns1:id="rId7"/>
    <ns0:sldId id="260" ns1:id="rId9"/>
    <ns0:sldId id="261" ns1:id="rId10"/>
    <ns0:sldId id="268" ns1:id="rId17"/>
    <ns0:sldId id="259" ns1:id="rId8"/>
    <ns0:sldId id="262" ns1:id="rId11"/>
    <ns0:sldId id="263" ns1:id="rId12"/>
    <ns0:sldId id="264" ns1:id="rId13"/>
    <ns0:sldId id="265" ns1:id="rId14"/>
    <ns0:sldId id="266" ns1:id="rId15"/>
    <ns0:sldId id="267" ns1:id="rId16"/>
    <ns0:sldId id="269" ns1:id="rId18"/>
    <ns0:sldId id="270" ns1:id="rId19"/>
    <ns0:sldId id="271" ns1:id="rId20"/>
    <ns0:sldId id="272" ns1:id="rId21"/>
  </ns0:sldIdLst>
  <ns0:sldSz cx="12192000" cy="6858000"/>
  <ns0:notesSz cx="7559675" cy="10691813"/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5FF6DE9-FBFF-4E5E-8B79-F0410783BE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90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本次先回顧上次已完成的完整抽屜流程，再展開啟動、退開、收臂與控制交還的具體修改和數據。接著比較文獻方法，介紹開門模型更新及接觸成果；上次數據可重報，但不改稱本期新增實驗。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6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先回顧整體進度。第一階段建立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導航與預測式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；第二階段建立底盤三維加手臂六維的全身模型，再將設定點追蹤納入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W-GMPC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。上次已展示導航、實際夾持、抽屜開啟二百毫米、關閉、釋放和返回。這次會把上次一頁流程中沒有詳細說明的修改展開，回答啟動怎麼穩、底盤和手臂怎麼分工，以及退出收臂如何接順。導航曾有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的成果，不等於前期抽屜影片所有相位都已啟用該模組。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第六次講稿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簡報用實驗比較表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上次完整抽屜流程分成九個階段。為了讓整趟流暢，我把問題分成三個位置：第一是導航交給操作、求解器剛上線時，命令與狀態延遲不能積壓。第二是接近與開關期間，底盤引導、名目手臂姿態和末端追蹤要一致，不能讓底盤和手臂互相拉扯。第三是放手後的退出收臂，目標不能一次跳太遠，回程計畫也不能阻塞主迴圈。流暢不是把所有保持時間刪掉，必要的夾持確認、保持和安全停止仍保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evaluation/drawer_task_node.py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evaluation/dual_source_executor.py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evaluation/results/wgmpc_drawer_open_close.yaml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第六次講稿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55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這裡選三個直接相關的方法。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Wang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等人的重點是全身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的任務優先序轉換，已展示實機自動回關門的開啟與通過；不是只能停車操作。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Sinaei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等人在較低維的機器人與門耦合規劃中，以軟工作空間條件描述可達性，手臂交給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IK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等人已有混合位置與速度介面的雙層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MPC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，所以我們也不能宣稱首次處理這種介面。我的切入點是這台全向底盤加單臂，明確預測位置設定點的執行，並在機構操作中研究模型更新與控制承接。這是方法與假設比較，不是已重現外部方法的效能排行榜。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https://wbmpc.github.io/static/pdfs/paper.pdf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https://arxiv.org/html/2608.00206v1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https://arxiv.org/html/2410.22910v1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第七次進度報告簡報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文獻差異與改善證據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_v2.md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27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啟動時的擺盪不能只靠調權重解釋。抽屜模擬端原本每個物理步只處理一則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ROS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訊息，多個話題會排隊，命令實際生效比求解器假設晚很多。相關診斷中，狀態到生效的延遲最大到三百九十毫秒，而補償假設約八十毫秒。後來改成每物理步有界清空待處理回呼，命令只取最新一筆。兩趟修正版最大延遲約九十毫秒，啟動高度峰對峰為一點四與一點五毫米。這是抽屜這條命令鏈的結果，不代表另一條全身模擬器的所有高頻振盪都已解決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evaluation/results/wgmpc_drawer_open_close.yaml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/07_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啟動擺盪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_TCP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高度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產生程式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/build_sixth_progress_motm.py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/motm_190426/motm_metrics.json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55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這頁把最後幾個不必要動作具體說明。第一，放手後不直接把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目標跳到六十毫米外，而是讓退開量以斜坡增加，避免手臂瞬間衝到速率上限。第二，收臂原本讓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最後動，肩部先立起來，夾爪會先升高約四十四公分再落下。改成整個速率向量同比例縮放，讓各軸同時到達；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下界保護仍保留。這一對紀錄的收臂時間由十一點七五秒到六點四八秒，修正版高度約五百四十七至五百六十三毫米。第三，收臂時提早非阻塞發布回程計畫，讓交還導航不必因主迴圈停發而停住。這些是不同階段的修正，不能把所有節省時間直接相加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evaluation/drawer_task_node.py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evaluation/dual_source_executor.py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evaluation/results/wgmpc_drawer_open_close.yaml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/08_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收臂夾爪高度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修正前後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90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初期開門結果在末段出現位置漂移，預測起點另有鉛直偏差。我沒有直接提高漂移門檻，而是對既有紀錄做因果影子重播：兩版本同一起點，每個區間先預測再更新，恢復更新後的一區間鉛直殘差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RMS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從零點七七六降到零點零四五毫米。據此把既有估計規則延伸到開門與收斂期間，暫停生效才凍結。這是模型一致性的改善證據，不表示已分離所有接觸負載原因，也不是穩定性定理。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/door_coopen_core_bench_3_offset_shadow.json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/COOPEN_core_spec_draft14.md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接著看物理接觸模擬，而不只看影子重播。灰色為開門早期凍結，另外三條是開門更新的趟次。共同四十到四十三點七度，持握平均漂移由四點四八毫米變為一點三三、一點三二、一點三五毫米，曲線三趟相近。這是可報告的量測改善；但診斷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與暫停設定不完全相同，不稱嚴格單變因因果。末段仍回升至四點八二毫米，尚有薄弱處。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/29_coopen_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漂移四趟比較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/door_coopen_core_bench_6_compare.json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從抽屜延伸到門，已有一項可清楚展示的接觸模擬成果：實際夾持把手開門至約六十度，完成收斂、受控暫停與十點零六秒主動保持停止觀察，事前判定器通過。這是一趟功能成果，不是可和論文跨平台比較的成功率，也不是穿門。畫面為既有實錄姿態重播，並未重跑控制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/NOTE_door_wide_w1f_60_3.md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/door_wide_w1f_60_3_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大角度協同開門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度紀錄修正驗證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開至約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度並完成受控暫停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成功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側視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實錄重播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.mp4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60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另一個繞緣抓法的指定初態實驗，實際開門至四十七點七四度，出口距離指標下降零點一七六公尺，顯示底盤與手臂共同執行開門及繞行。不過整體判定仍未通過，原因是低承載物理步與獨立停止窗超標。這裡強調的是新增核心動作證據，不把流程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DONE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說成可靠成功；本趟也不是自主接近，且和六十度成功趟並非同一抓法配置。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成果與限制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/bench_6_door_coopen_check_core12.json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繞緣持握邊開門邊往出口繞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聯合配置開至約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度並走完暫停與停止觀察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判定器不通過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失敗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側視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實錄重播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.mp4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7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第二項工作是參考和控制執行的一致性。離線幾何可行並不保證位置伺服加延遲的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W-GMPC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能追上。我們在同一名目設定下比較兩種自由段速度參考：較快參考在實際模型的退臂移動段出現自碰淨空不足；降低速度的版本完成取樣自檢。這只有兩組，不是最適速度搜尋，也不證明一半速度是必要條件。後續換抓規劃再把監看所需扣減納入參考時間化，使幾何門檻與預測監看一致；不靠放寬門檻去湊通過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evaluation/results/door/door_coopen_inner_wgmpc_v1_static.json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/coopen_inner_wgmpc_v2_summary.json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evaluation/results/door/door_regrasp_ref_v4_monitor_check_v4.json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3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早期完整拉關模型由保存的開門末態開始，包含放手、退臂、移動、內側幾何准入、通過中拉關與退出。模型推得門角由四十七點八九度降到二點二度；在底盤圓盤清空前已有約四十五點七度的關門進展，整機之後也清空。這支持路線在所列名目模型下有執行候選，並非完成物理關門。門角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推得，未驗接觸力、門動力學、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、安全層或最後二點二度。最新換抓已改抓法與參考，不能和這組拼成同趟成功。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/coopen_inner_wgmpc_v2_summary.json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/31_coopen_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內側把手串接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名目閉迴路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時間軸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72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前面解釋的是怎麼把流程接順，這一頁再用正式對照看效果。策略比較中，整機協調和嚴格停車各三趟都通過，完整任務平均八十點七二對九十三點六二秒，逐對縮短十三點三八到十四點零五百分比。另一批比較同一核心的一步與五步，五步整控制窗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位置誤差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p95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和手臂命令反轉率較低。這兩張表來自不同批次，統計窗口不同。命令反轉率不是物理振動量測；三對也不支持普遍優越性。這次重報時，要明確說這是上期已完成的數據，本期用來把修改機制說清楚，而非新增重跑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簡報用實驗比較表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evaluation/results/motm_speed/park_hold_formal_summary.yaml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evaluation/results/horizon_ablation/c0b1_results.yaml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最後回到上次抽屜的基礎。近期先取得同一趟開門到內側換抓的接觸驗證與影片，再接通過中拉關和退出，最後串接既有抽屜開關及返回。導航段沿用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加導航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，不把導航的保護外推成手臂全身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。成功子段要留影片，完整流程另外用同一趟連續紀錄驗證，不拼接不同版本。對外部文獻的同平台效能比較若要主張優越，還需另外設計；這是論文定稿證據缺口，不作為現在整趟整合的額外前置。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reviews/20261027_howard_confirmed_plan.md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第七次進度報告簡報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文獻差異與改善證據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_v2.md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最新換抓名目模型承接實錄的實測關節、設定點、套用命令和偏移。新抓法沿內側橫桿軸轉三十度；參考與控制同時修訂後，走到內側保持，實際模型狀態的取樣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stop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warn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為零。收臂仍有一百二十毫米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落後及關節飽和，固定零點二九秒規劃壓力的自碰診斷未過。這不是力確認，也不包含通過拉關。整合進度以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r66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為快照，不以未完成的真節點聯測冒充實跑。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evaluation/results/door/door_regrasp_ref_v4_wgmpc_v2.json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evaluation/results/door/door_regrasp_ref_v4.json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reviews/20261028_152918_request.md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視覺支線先做到限定預抓取。相對鎖定目標到位誤差一點八三毫米，保持零點五一秒；但對真值的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誤差約三點九九毫米。這說明控制到位不能代替目標幾何正確。像素中心契約的候選版，在八十二格共同工具目標上，接近軸絕對誤差中位由一點三六降到零點九七毫米，但仍有變差影格，抓取放行誤差界尚未建立。這不是本期已做完視覺抓取或泛化的證據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/DL3_run_result.yaml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/PC2_result.yaml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623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文獻表用來定位問題與方法，不是用不同平台報告的成功率作比較。主要三篇為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Wang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的全身優先序轉換、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Sinaei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的耦合門通行規劃、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的混合介面雙層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MPC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Jang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用來確認門開關通行已有人做，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Minniti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說明互動模型自適應不是新概念，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Tang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則是導航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的方法來源。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這裡比較二零二四年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，已知另有二零二六年期刊版本，不混用其數字。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https://wbmpc.github.io/static/pdfs/paper.pdf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https://arxiv.org/html/2608.00206v1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https://arxiv.org/html/2410.22910v1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https://khu.elsevierpure.com/en/publications/motion-planning-of-mobile-manipulator-for-navigation-including-do/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https://arxiv.org/abs/2106.04202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https://arxiv.org/abs/2403.07317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第七次進度報告簡報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文獻差異與改善證據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_v2.md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DD596F-AC7B-4089-9A63-90B6A3273A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6358E3-B7D2-4082-9327-04C636CFF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02DF60-4696-4C96-B1A7-0DC93E89CA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E9D700-D579-405D-854F-8DCDA7E0BA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hyperlink" Target="file:///home/howardchen/masterthesis/&#31532;&#19971;&#27425;&#36914;&#24230;&#22577;&#21578;&#32032;&#26448;/&#24433;&#29255;/door_wide_w1f_60_3_&#22823;&#35282;&#24230;&#21332;&#21516;&#38283;&#38272;60&#24230;&#32000;&#37636;&#20462;&#27491;&#39511;&#35657;_&#38283;&#33267;&#32004;60&#24230;&#20006;&#23436;&#25104;&#21463;&#25511;&#26283;&#20572;_&#25104;&#21151;_&#20596;&#35222;_&#23526;&#37636;&#37325;&#25773;.mp4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file:///home/howardchen/masterthesis/&#31532;&#19971;&#27425;&#36914;&#24230;&#22577;&#21578;&#32032;&#26448;/&#24433;&#29255;/door_coopen_core_bench_6_&#32350;&#32227;&#25345;&#25569;&#37002;&#38283;&#38272;&#37002;&#24448;&#20986;&#21475;&#32350;_&#32879;&#21512;&#37197;&#32622;&#38283;&#33267;&#32004;48&#24230;&#20006;&#36208;&#23436;&#26283;&#20572;&#33287;&#20572;&#27490;&#35264;&#23519;_&#21028;&#23450;&#22120;&#19981;&#36890;&#36942;_&#22833;&#25943;_&#20596;&#35222;_&#23526;&#37636;&#37325;&#25773;.mp4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bmpc.github.io/static/pdfs/paper.pdf" TargetMode="External"/><Relationship Id="rId2" Type="http://schemas.openxmlformats.org/officeDocument/2006/relationships/hyperlink" Target="https://arxiv.org/html/2608.00206v1" TargetMode="External"/><Relationship Id="rId3" Type="http://schemas.openxmlformats.org/officeDocument/2006/relationships/hyperlink" Target="https://arxiv.org/html/2410.22910v1" TargetMode="External"/><Relationship Id="rId4" Type="http://schemas.openxmlformats.org/officeDocument/2006/relationships/hyperlink" Target="https://khu.elsevierpure.com/en/publications/motion-planning-of-mobile-manipulator-for-navigation-including-do/" TargetMode="External"/><Relationship Id="rId5" Type="http://schemas.openxmlformats.org/officeDocument/2006/relationships/hyperlink" Target="https://arxiv.org/abs/2106.04202" TargetMode="External"/><Relationship Id="rId6" Type="http://schemas.openxmlformats.org/officeDocument/2006/relationships/hyperlink" Target="https://arxiv.org/abs/2403.07317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第七次進度報告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研究進展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50000" y="410400"/>
            <a:ext cx="11267640" cy="10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由抽屜流程平順化到門通行：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W-GMPC 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方法改善與流程整合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50000" y="1440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04000" y="1710000"/>
            <a:ext cx="10799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2f75b5"/>
                </a:solidFill>
                <a:latin typeface="Noto Sans CJK TC"/>
              </a:rPr>
              <a:t>動態環境下移動機械臂預測導航與受約束操作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04000" y="2466000"/>
            <a:ext cx="1069164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600" spc="-1" strike="noStrike">
                <a:solidFill>
                  <a:srgbClr val="17365d"/>
                </a:solidFill>
                <a:latin typeface="Noto Sans CJK TC"/>
              </a:rPr>
              <a:t>回顧：完整抽屜操作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CN" sz="2600" spc="-1" strike="noStrike">
                <a:solidFill>
                  <a:srgbClr val="17365d"/>
                </a:solidFill>
                <a:latin typeface="Noto Sans CJK TC"/>
              </a:rPr>
              <a:t>本次：展開平順化修改，再延伸到門操作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04000" y="4104000"/>
            <a:ext cx="755964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報告者：陳文顥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指導教授：陳榮順 教授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報告主軸：解決什麼執行問題 → 和既有方法有何不同 → 目前證據改善了什麼。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01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進度回顧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進度回顧：導航與完整抽屜操作已建立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30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2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33" name=""/>
          <p:cNvSpPr/>
          <p:nvPr/>
        </p:nvSpPr>
        <p:spPr>
          <a:xfrm>
            <a:off x="450000" y="1404000"/>
            <a:ext cx="2700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22000" y="1486800"/>
            <a:ext cx="255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階段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35" name=""/>
          <p:cNvSpPr/>
          <p:nvPr/>
        </p:nvSpPr>
        <p:spPr>
          <a:xfrm>
            <a:off x="3150000" y="1404000"/>
            <a:ext cx="4860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222000" y="1486800"/>
            <a:ext cx="47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已建立的能力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37" name=""/>
          <p:cNvSpPr/>
          <p:nvPr/>
        </p:nvSpPr>
        <p:spPr>
          <a:xfrm>
            <a:off x="8010000" y="1404000"/>
            <a:ext cx="3708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082000" y="1486800"/>
            <a:ext cx="3564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本次承接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39" name=""/>
          <p:cNvSpPr/>
          <p:nvPr/>
        </p:nvSpPr>
        <p:spPr>
          <a:xfrm>
            <a:off x="450000" y="2196000"/>
            <a:ext cx="270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22000" y="2278800"/>
            <a:ext cx="255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第一階段：移動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1" name=""/>
          <p:cNvSpPr/>
          <p:nvPr/>
        </p:nvSpPr>
        <p:spPr>
          <a:xfrm>
            <a:off x="3150000" y="2196000"/>
            <a:ext cx="486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222000" y="2278800"/>
            <a:ext cx="47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GMPC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路徑追蹤、動態障礙預測與導航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CBF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3" name=""/>
          <p:cNvSpPr/>
          <p:nvPr/>
        </p:nvSpPr>
        <p:spPr>
          <a:xfrm>
            <a:off x="8010000" y="2196000"/>
            <a:ext cx="3708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082000" y="2278800"/>
            <a:ext cx="3564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前往操作區與返回的基礎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5" name=""/>
          <p:cNvSpPr/>
          <p:nvPr/>
        </p:nvSpPr>
        <p:spPr>
          <a:xfrm>
            <a:off x="450000" y="2988000"/>
            <a:ext cx="270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22000" y="3070800"/>
            <a:ext cx="255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第二階段：全身控制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7" name=""/>
          <p:cNvSpPr/>
          <p:nvPr/>
        </p:nvSpPr>
        <p:spPr>
          <a:xfrm>
            <a:off x="3150000" y="2988000"/>
            <a:ext cx="486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222000" y="3070800"/>
            <a:ext cx="4716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底盤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3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＋手臂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6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聯合求解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設定點追蹤模型與命令限制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9" name=""/>
          <p:cNvSpPr/>
          <p:nvPr/>
        </p:nvSpPr>
        <p:spPr>
          <a:xfrm>
            <a:off x="8010000" y="2988000"/>
            <a:ext cx="3708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082000" y="3070800"/>
            <a:ext cx="3564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讓命令、預測與實際回授一致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1" name=""/>
          <p:cNvSpPr/>
          <p:nvPr/>
        </p:nvSpPr>
        <p:spPr>
          <a:xfrm>
            <a:off x="450000" y="3780000"/>
            <a:ext cx="270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22000" y="3862800"/>
            <a:ext cx="255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上次：完整抽屜操作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3" name=""/>
          <p:cNvSpPr/>
          <p:nvPr/>
        </p:nvSpPr>
        <p:spPr>
          <a:xfrm>
            <a:off x="3150000" y="3780000"/>
            <a:ext cx="486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222000" y="3862800"/>
            <a:ext cx="4716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夾持 → 開啟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200 mm →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關閉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放開 → 退開 → 收臂 → 返回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5" name=""/>
          <p:cNvSpPr/>
          <p:nvPr/>
        </p:nvSpPr>
        <p:spPr>
          <a:xfrm>
            <a:off x="8010000" y="3780000"/>
            <a:ext cx="3708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082000" y="3862800"/>
            <a:ext cx="3564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已有完整流程，不只單一末端到位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7" name=""/>
          <p:cNvSpPr/>
          <p:nvPr/>
        </p:nvSpPr>
        <p:spPr>
          <a:xfrm>
            <a:off x="450000" y="4572000"/>
            <a:ext cx="270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22000" y="4654800"/>
            <a:ext cx="255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這次報告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9" name=""/>
          <p:cNvSpPr/>
          <p:nvPr/>
        </p:nvSpPr>
        <p:spPr>
          <a:xfrm>
            <a:off x="3150000" y="4572000"/>
            <a:ext cx="486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22000" y="4654800"/>
            <a:ext cx="4716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展開流程平順化的修改與實測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再介紹鉸鏈門與接觸切換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61" name=""/>
          <p:cNvSpPr/>
          <p:nvPr/>
        </p:nvSpPr>
        <p:spPr>
          <a:xfrm>
            <a:off x="8010000" y="4572000"/>
            <a:ext cx="3708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082000" y="4654800"/>
            <a:ext cx="3564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從做得到，進一步說明怎麼做順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63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本次順序：進度回顧 → 抽屜流程修改 → 文獻與方法 → 開門延伸 → 後續工作。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完整流程與修改位置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抽屜流程怎麼接順？先看三個容易卡住的地方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67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3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70" name=""/>
          <p:cNvSpPr/>
          <p:nvPr/>
        </p:nvSpPr>
        <p:spPr>
          <a:xfrm>
            <a:off x="450000" y="1242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40000" y="1404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1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導航接近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086000" y="1422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73" name=""/>
          <p:cNvSpPr/>
          <p:nvPr/>
        </p:nvSpPr>
        <p:spPr>
          <a:xfrm>
            <a:off x="4266000" y="1242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356000" y="1404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2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低速接手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902000" y="1422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76" name=""/>
          <p:cNvSpPr/>
          <p:nvPr/>
        </p:nvSpPr>
        <p:spPr>
          <a:xfrm>
            <a:off x="8082000" y="1242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172000" y="1404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3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展開對準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78" name=""/>
          <p:cNvSpPr/>
          <p:nvPr/>
        </p:nvSpPr>
        <p:spPr>
          <a:xfrm>
            <a:off x="450000" y="2088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40000" y="2250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4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閉爪確認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086000" y="2268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1" name=""/>
          <p:cNvSpPr/>
          <p:nvPr/>
        </p:nvSpPr>
        <p:spPr>
          <a:xfrm>
            <a:off x="4266000" y="2088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356000" y="2250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5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協同開啟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902000" y="2268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4" name=""/>
          <p:cNvSpPr/>
          <p:nvPr/>
        </p:nvSpPr>
        <p:spPr>
          <a:xfrm>
            <a:off x="8082000" y="2088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172000" y="2250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6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關閉保持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6" name=""/>
          <p:cNvSpPr/>
          <p:nvPr/>
        </p:nvSpPr>
        <p:spPr>
          <a:xfrm>
            <a:off x="450000" y="2934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40000" y="3096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7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放手退開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086000" y="3114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89" name=""/>
          <p:cNvSpPr/>
          <p:nvPr/>
        </p:nvSpPr>
        <p:spPr>
          <a:xfrm>
            <a:off x="4266000" y="2934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356000" y="3096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8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同步收臂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902000" y="3114000"/>
            <a:ext cx="180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7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7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92" name=""/>
          <p:cNvSpPr/>
          <p:nvPr/>
        </p:nvSpPr>
        <p:spPr>
          <a:xfrm>
            <a:off x="8082000" y="2934000"/>
            <a:ext cx="3636000" cy="66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172000" y="3096000"/>
            <a:ext cx="345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9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交還返回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22000" y="3996000"/>
            <a:ext cx="1080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①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接手／啟動：避免舊訊息積壓，承接最後套用命令。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②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接近／開關：底盤與手臂共同分擔，維持把手相對關係。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③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退開／返回：目標斜坡、同步收臂、回程計畫不阻塞。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95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流暢＝減少不必要的擺盪、繞路與停發；不取消必要的到位、夾持與保持確認。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方法差異，不把不同寫成較好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相關研究已做到什麼？本研究的切入點在哪裡？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50000" y="1404000"/>
            <a:ext cx="2231640" cy="953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22000" y="1486800"/>
            <a:ext cx="2087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相關方法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682000" y="1404000"/>
            <a:ext cx="4535640" cy="953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754000" y="1486800"/>
            <a:ext cx="4391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主要設計／已有能力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218000" y="1404000"/>
            <a:ext cx="4499640" cy="953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290000" y="1486800"/>
            <a:ext cx="4355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本研究對應的差異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50000" y="2358000"/>
            <a:ext cx="2231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22000" y="2440800"/>
            <a:ext cx="2087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Wang et 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ICRA 2025 [R1]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82000" y="2358000"/>
            <a:ext cx="4535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754000" y="2440800"/>
            <a:ext cx="4391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任務優先序轉換的全身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MPC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已有實機開門、擋門、通過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218000" y="2358000"/>
            <a:ext cx="4499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290000" y="2440800"/>
            <a:ext cx="4355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顯式預測位置設定點的執行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研究操作中的偏移更新與承接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50000" y="3312000"/>
            <a:ext cx="2231640" cy="953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22000" y="3394800"/>
            <a:ext cx="2087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Sinaei et 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2026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預印本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[R2]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682000" y="3312000"/>
            <a:ext cx="4535640" cy="953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754000" y="3394800"/>
            <a:ext cx="4391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低維機器人—門耦合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NMPC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軟可達性＋下游手臂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IK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218000" y="3312000"/>
            <a:ext cx="4499640" cy="953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290000" y="3394800"/>
            <a:ext cx="4355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保留六軸構型、設定點與限位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另核取樣淨空；門動力學較簡化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50000" y="4266000"/>
            <a:ext cx="2231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22000" y="4348800"/>
            <a:ext cx="2087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Du et 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2024 v1 [R3]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682000" y="4266000"/>
            <a:ext cx="4535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754000" y="4348800"/>
            <a:ext cx="4391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雙層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Bézier MPC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＋預測導納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雙臂、混合位置／速度介面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218000" y="4266000"/>
            <a:ext cx="4499640" cy="953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290000" y="4348800"/>
            <a:ext cx="43556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單臂設定點增廣＋區間估計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沿用既有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SQP/QP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全身核心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22000" y="5418000"/>
            <a:ext cx="1079964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[R1] </a:t>
            </a:r>
            <a:r>
              <a:rPr b="0" lang="zh-CN" sz="1100" spc="-1" strike="noStrike">
                <a:solidFill>
                  <a:srgbClr val="666666"/>
                </a:solidFill>
                <a:latin typeface="Noto Sans CJK TC"/>
              </a:rPr>
              <a:t>作者原文 </a:t>
            </a: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§III</a:t>
            </a:r>
            <a:r>
              <a:rPr b="0" lang="zh-CN" sz="1100" spc="-1" strike="noStrike">
                <a:solidFill>
                  <a:srgbClr val="666666"/>
                </a:solidFill>
                <a:latin typeface="Noto Sans CJK TC"/>
              </a:rPr>
              <a:t>／</a:t>
            </a: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IV</a:t>
            </a:r>
            <a:r>
              <a:rPr b="0" lang="zh-CN" sz="1100" spc="-1" strike="noStrike">
                <a:solidFill>
                  <a:srgbClr val="666666"/>
                </a:solidFill>
                <a:latin typeface="Noto Sans CJK TC"/>
              </a:rPr>
              <a:t>　</a:t>
            </a: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[R2] arXiv:2608.00206v1 §1–2</a:t>
            </a:r>
            <a:r>
              <a:rPr b="0" lang="zh-CN" sz="1100" spc="-1" strike="noStrike">
                <a:solidFill>
                  <a:srgbClr val="666666"/>
                </a:solidFill>
                <a:latin typeface="Noto Sans CJK TC"/>
              </a:rPr>
              <a:t>　</a:t>
            </a: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[R3] arXiv:2410.22910v1 §III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文獻已有全身 </a:t>
            </a:r>
            <a:r>
              <a:rPr b="1" lang="en-US" sz="1600" spc="-1" strike="noStrike">
                <a:solidFill>
                  <a:srgbClr val="17365d"/>
                </a:solidFill>
                <a:latin typeface="Noto Sans CJK TC"/>
              </a:rPr>
              <a:t>MPC</a:t>
            </a: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、門通行與混合介面；本研究不以這些能力存在本身宣稱首創。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啟動與接近段的平順化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修改一：清除命令積壓，讓延遲補償對上實際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31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4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34" name=""/>
          <p:cNvSpPr/>
          <p:nvPr/>
        </p:nvSpPr>
        <p:spPr>
          <a:xfrm>
            <a:off x="450000" y="1260000"/>
            <a:ext cx="5400000" cy="122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50000" y="1260000"/>
            <a:ext cx="46800" cy="1224000"/>
          </a:xfrm>
          <a:prstGeom prst="rect">
            <a:avLst/>
          </a:prstGeom>
          <a:solidFill>
            <a:srgbClr val="666666"/>
          </a:solidFill>
          <a:ln w="7200">
            <a:solidFill>
              <a:srgbClr val="666666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76000" y="1368000"/>
            <a:ext cx="516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666666"/>
                </a:solidFill>
                <a:latin typeface="Noto Sans CJK TC"/>
              </a:rPr>
              <a:t>原本：每物理步只處理一則訊息</a:t>
            </a:r>
            <a:endParaRPr b="1" lang="en-US" sz="2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76000" y="1753200"/>
            <a:ext cx="5166000" cy="700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多話題積壓 → 命令較晚生效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補償假設約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80 ms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，實際最大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390 ms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38" name=""/>
          <p:cNvSpPr/>
          <p:nvPr/>
        </p:nvSpPr>
        <p:spPr>
          <a:xfrm>
            <a:off x="6228000" y="1260000"/>
            <a:ext cx="5400000" cy="122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228000" y="1260000"/>
            <a:ext cx="46800" cy="1224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354000" y="1368000"/>
            <a:ext cx="516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修改：有界清空回呼，命令取最新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54000" y="1753200"/>
            <a:ext cx="5166000" cy="700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每步處理上限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64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，不無限等待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兩趟修正版：最大約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90 ms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277640" y="2682000"/>
            <a:ext cx="9612360" cy="234000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 txBox="1"/>
          <p:nvPr/>
        </p:nvSpPr>
        <p:spPr>
          <a:xfrm>
            <a:off x="522000" y="5148000"/>
            <a:ext cx="10800000" cy="476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200" spc="-1" strike="noStrike">
                <a:solidFill>
                  <a:srgbClr val="287766"/>
                </a:solidFill>
                <a:latin typeface="Noto Sans CJK TC"/>
              </a:rPr>
              <a:t>修正版兩趟：啟動 </a:t>
            </a:r>
            <a:r>
              <a:rPr b="1" lang="en-US" sz="2200" spc="-1" strike="noStrike">
                <a:solidFill>
                  <a:srgbClr val="287766"/>
                </a:solidFill>
                <a:latin typeface="Noto Sans CJK TC"/>
              </a:rPr>
              <a:t>TCP </a:t>
            </a:r>
            <a:r>
              <a:rPr b="1" lang="zh-CN" sz="2200" spc="-1" strike="noStrike">
                <a:solidFill>
                  <a:srgbClr val="287766"/>
                </a:solidFill>
                <a:latin typeface="Noto Sans CJK TC"/>
              </a:rPr>
              <a:t>高度峰對峰 </a:t>
            </a:r>
            <a:r>
              <a:rPr b="1" lang="en-US" sz="2200" spc="-1" strike="noStrike">
                <a:solidFill>
                  <a:srgbClr val="287766"/>
                </a:solidFill>
                <a:latin typeface="Noto Sans CJK TC"/>
              </a:rPr>
              <a:t>1.4</a:t>
            </a:r>
            <a:r>
              <a:rPr b="1" lang="zh-CN" sz="2200" spc="-1" strike="noStrike">
                <a:solidFill>
                  <a:srgbClr val="287766"/>
                </a:solidFill>
                <a:latin typeface="Noto Sans CJK TC"/>
              </a:rPr>
              <a:t>／</a:t>
            </a:r>
            <a:r>
              <a:rPr b="1" lang="en-US" sz="2200" spc="-1" strike="noStrike">
                <a:solidFill>
                  <a:srgbClr val="287766"/>
                </a:solidFill>
                <a:latin typeface="Noto Sans CJK TC"/>
              </a:rPr>
              <a:t>1.5 mm</a:t>
            </a:r>
            <a:r>
              <a:rPr b="1" lang="zh-CN" sz="2200" spc="-1" strike="noStrike">
                <a:solidFill>
                  <a:srgbClr val="287766"/>
                </a:solidFill>
                <a:latin typeface="Noto Sans CJK TC"/>
              </a:rPr>
              <a:t>。</a:t>
            </a:r>
            <a:endParaRPr b="1" lang="en-US" sz="22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144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既有抽屜證據，本次展開說明；圖中多次修改為探索過程，非嚴格單變因實驗。</a:t>
            </a:r>
            <a:endParaRPr b="1" lang="en-US" sz="16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退出與控制交還的平順化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修改二：退開、收臂與回程不要重新卡一下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48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5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450000" y="1421280"/>
            <a:ext cx="7128000" cy="3348720"/>
          </a:xfrm>
          <a:prstGeom prst="rect">
            <a:avLst/>
          </a:prstGeom>
          <a:ln w="0">
            <a:noFill/>
          </a:ln>
        </p:spPr>
      </p:pic>
      <p:sp>
        <p:nvSpPr>
          <p:cNvPr id="152" name=""/>
          <p:cNvSpPr txBox="1"/>
          <p:nvPr/>
        </p:nvSpPr>
        <p:spPr>
          <a:xfrm>
            <a:off x="7848000" y="1332000"/>
            <a:ext cx="3852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87766"/>
                </a:solidFill>
                <a:latin typeface="Noto Sans CJK TC"/>
              </a:rPr>
              <a:t>11.75 → 6.48 s</a:t>
            </a:r>
            <a:endParaRPr b="1" lang="en-US" sz="32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848000" y="1836000"/>
            <a:ext cx="3852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該對紀錄的收臂時間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不是整個任務時間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54" name=""/>
          <p:cNvSpPr/>
          <p:nvPr/>
        </p:nvSpPr>
        <p:spPr>
          <a:xfrm>
            <a:off x="7848000" y="3024000"/>
            <a:ext cx="3852000" cy="10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848000" y="3024000"/>
            <a:ext cx="46800" cy="1044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974000" y="3132000"/>
            <a:ext cx="3618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放手 → 退開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974000" y="3517200"/>
            <a:ext cx="3618000" cy="700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退開目標改斜坡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避免一次跳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60 mm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58" name=""/>
          <p:cNvSpPr/>
          <p:nvPr/>
        </p:nvSpPr>
        <p:spPr>
          <a:xfrm>
            <a:off x="7848000" y="4212000"/>
            <a:ext cx="3852000" cy="111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848000" y="4212000"/>
            <a:ext cx="46800" cy="1116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974000" y="4320000"/>
            <a:ext cx="3618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收臂 → 回程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974000" y="4705200"/>
            <a:ext cx="3618000" cy="700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提早非阻塞發布回程計畫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交還時承接最後套用命令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62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同步收臂保留 </a:t>
            </a:r>
            <a:r>
              <a:rPr b="1" lang="en-US" sz="1600" spc="-1" strike="noStrike">
                <a:solidFill>
                  <a:srgbClr val="666666"/>
                </a:solidFill>
                <a:latin typeface="Noto Sans CJK TC"/>
              </a:rPr>
              <a:t>j3 </a:t>
            </a: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下界保護；不同階段的局部結果，不拼成新的整趟時間改善數字。</a:t>
            </a:r>
            <a:endParaRPr b="1" lang="en-US" sz="16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由觀察問題到控制修正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本期改進一：開門期間更新偏移，而非全程凍結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50000" y="1404000"/>
            <a:ext cx="5399640" cy="1799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50000" y="1404000"/>
            <a:ext cx="46440" cy="1799640"/>
          </a:xfrm>
          <a:prstGeom prst="rect">
            <a:avLst/>
          </a:prstGeom>
          <a:solidFill>
            <a:srgbClr val="666666"/>
          </a:solidFill>
          <a:ln w="72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76000" y="1512000"/>
            <a:ext cx="5165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666666"/>
                </a:solidFill>
                <a:latin typeface="Noto Sans CJK TC"/>
              </a:rPr>
              <a:t>原本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76000" y="1897200"/>
            <a:ext cx="516564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切入開門運動後凍結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d̂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約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100 s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不再更新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末段持握位置誤差增大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228000" y="1404000"/>
            <a:ext cx="5399640" cy="1799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228000" y="1404000"/>
            <a:ext cx="46440" cy="179964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354000" y="1512000"/>
            <a:ext cx="5165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本期候選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354000" y="1897200"/>
            <a:ext cx="516564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開門／收斂期間按有效區間更新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暫停生效時才凍結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停止與失效處置仍優先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044000" y="3852000"/>
            <a:ext cx="10079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87766"/>
                </a:solidFill>
                <a:latin typeface="Noto Sans CJK TC"/>
              </a:rPr>
              <a:t>0.776 → 0.045 mm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44000" y="4356000"/>
            <a:ext cx="1007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既有紀錄的因果影子重播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鉛直一區間預測殘差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RMS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更新前估計做預測，不用未來資料回填；仍須分報接觸承載，避免把負載學入當成成功。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預測修正的接觸模擬結果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實際改善：共同門角區間的持握漂移下降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996840" y="1224000"/>
            <a:ext cx="10173240" cy="3743640"/>
          </a:xfrm>
          <a:prstGeom prst="rect">
            <a:avLst/>
          </a:prstGeom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522000" y="5040000"/>
            <a:ext cx="10799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f75b5"/>
                </a:solidFill>
                <a:latin typeface="Noto Sans CJK TC"/>
              </a:rPr>
              <a:t>40–43.7° </a:t>
            </a:r>
            <a:r>
              <a:rPr b="1" lang="zh-CN" sz="2400" spc="-1" strike="noStrike">
                <a:solidFill>
                  <a:srgbClr val="2f75b5"/>
                </a:solidFill>
                <a:latin typeface="Noto Sans CJK TC"/>
              </a:rPr>
              <a:t>平均：</a:t>
            </a:r>
            <a:r>
              <a:rPr b="1" lang="en-US" sz="2400" spc="-1" strike="noStrike">
                <a:solidFill>
                  <a:srgbClr val="2f75b5"/>
                </a:solidFill>
                <a:latin typeface="Noto Sans CJK TC"/>
              </a:rPr>
              <a:t>4.48 → 1.33</a:t>
            </a:r>
            <a:r>
              <a:rPr b="1" lang="zh-CN" sz="2400" spc="-1" strike="noStrike">
                <a:solidFill>
                  <a:srgbClr val="2f75b5"/>
                </a:solidFill>
                <a:latin typeface="Noto Sans CJK TC"/>
              </a:rPr>
              <a:t>／</a:t>
            </a:r>
            <a:r>
              <a:rPr b="1" lang="en-US" sz="2400" spc="-1" strike="noStrike">
                <a:solidFill>
                  <a:srgbClr val="2f75b5"/>
                </a:solidFill>
                <a:latin typeface="Noto Sans CJK TC"/>
              </a:rPr>
              <a:t>1.32</a:t>
            </a:r>
            <a:r>
              <a:rPr b="1" lang="zh-CN" sz="2400" spc="-1" strike="noStrike">
                <a:solidFill>
                  <a:srgbClr val="2f75b5"/>
                </a:solidFill>
                <a:latin typeface="Noto Sans CJK TC"/>
              </a:rPr>
              <a:t>／</a:t>
            </a:r>
            <a:r>
              <a:rPr b="1" lang="en-US" sz="2400" spc="-1" strike="noStrike">
                <a:solidFill>
                  <a:srgbClr val="2f75b5"/>
                </a:solidFill>
                <a:latin typeface="Noto Sans CJK TC"/>
              </a:rPr>
              <a:t>1.35 mm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相較本平台早期配置的改善，非超越外部論文；末段最大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4.82 mm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，可靠性仍未通過。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從直線機構到鉸鏈機構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任務能力擴展：單趟 </a:t>
            </a: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60° 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開門與受控暫停通過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849960" y="1242000"/>
            <a:ext cx="6399360" cy="359964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2"/>
          <a:stretch/>
        </p:blipFill>
        <p:spPr>
          <a:xfrm>
            <a:off x="7884000" y="1320480"/>
            <a:ext cx="3815640" cy="2145960"/>
          </a:xfrm>
          <a:prstGeom prst="rect">
            <a:avLst/>
          </a:prstGeom>
          <a:ln w="0">
            <a:noFill/>
          </a:ln>
        </p:spPr>
      </p:pic>
      <p:sp>
        <p:nvSpPr>
          <p:cNvPr id="197" name=""/>
          <p:cNvSpPr/>
          <p:nvPr/>
        </p:nvSpPr>
        <p:spPr>
          <a:xfrm>
            <a:off x="7848000" y="3888000"/>
            <a:ext cx="3887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87766"/>
                </a:solidFill>
                <a:latin typeface="Noto Sans CJK TC"/>
              </a:rPr>
              <a:t>60.005°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848000" y="4392000"/>
            <a:ext cx="38876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進入暫停時的實測門角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22000" y="5040000"/>
            <a:ext cx="10799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287766"/>
                </a:solidFill>
                <a:latin typeface="Noto Sans CJK TC"/>
              </a:rPr>
              <a:t>事前判定器通過｜主動保持停止觀察 </a:t>
            </a:r>
            <a:r>
              <a:rPr b="1" lang="en-US" sz="2100" spc="-1" strike="noStrike">
                <a:solidFill>
                  <a:srgbClr val="287766"/>
                </a:solidFill>
                <a:latin typeface="Noto Sans CJK TC"/>
              </a:rPr>
              <a:t>10.06 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22000" y="5544000"/>
            <a:ext cx="1043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8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播放：60° 開門側視實錄重播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已知場景、單趟、暫停期 </a:t>
            </a:r>
            <a:r>
              <a:rPr b="1" lang="en-US" sz="1600" spc="-1" strike="noStrike">
                <a:solidFill>
                  <a:srgbClr val="666666"/>
                </a:solidFill>
                <a:latin typeface="Noto Sans CJK TC"/>
              </a:rPr>
              <a:t>20 N </a:t>
            </a: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上限；不代表撤除保持後停止、實機或通行能力。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核心動作證據與未通過項分開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全身協同證據：開門同期，底盤已往出口繞行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864000" y="1260000"/>
            <a:ext cx="6911640" cy="3887640"/>
          </a:xfrm>
          <a:prstGeom prst="rect">
            <a:avLst/>
          </a:prstGeom>
          <a:ln w="0">
            <a:noFill/>
          </a:ln>
        </p:spPr>
      </p:pic>
      <p:sp>
        <p:nvSpPr>
          <p:cNvPr id="209" name=""/>
          <p:cNvSpPr/>
          <p:nvPr/>
        </p:nvSpPr>
        <p:spPr>
          <a:xfrm>
            <a:off x="8280000" y="1332000"/>
            <a:ext cx="3347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47.74°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8280000" y="1836000"/>
            <a:ext cx="3347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OPEN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實測最大門角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參考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48°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8280000" y="2952000"/>
            <a:ext cx="3347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0.176 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8280000" y="3456000"/>
            <a:ext cx="3347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出口距離指標下降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不是已通過門洞的距離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22000" y="5184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666666"/>
                </a:solidFill>
                <a:latin typeface="Noto Sans CJK TC"/>
              </a:rPr>
              <a:t>指定台架初態＋實際閉爪取證；尚非自主接近或通行。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22000" y="5580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8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播放：繞行開門實錄重播（整體判定未通過）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cf1ed"/>
          </a:solidFill>
          <a:ln w="7200">
            <a:solidFill>
              <a:srgbClr val="fcf1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未通過保留：</a:t>
            </a:r>
            <a:r>
              <a:rPr b="1" lang="en-US" sz="1600" spc="-1" strike="noStrike">
                <a:solidFill>
                  <a:srgbClr val="ac3c36"/>
                </a:solidFill>
                <a:latin typeface="Noto Sans CJK TC"/>
              </a:rPr>
              <a:t>29 </a:t>
            </a:r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個低承載物理步、停止十秒窗內 </a:t>
            </a:r>
            <a:r>
              <a:rPr b="1" lang="en-US" sz="1600" spc="-1" strike="noStrike">
                <a:solidFill>
                  <a:srgbClr val="ac3c36"/>
                </a:solidFill>
                <a:latin typeface="Noto Sans CJK TC"/>
              </a:rPr>
              <a:t>2 </a:t>
            </a:r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個手臂超標樣本。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04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從幾何路徑到回授執行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本期改進二：參考可執行性，不只看 </a:t>
            </a: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IK 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是否有解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50000" y="1404000"/>
            <a:ext cx="2879640" cy="1007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22000" y="1486800"/>
            <a:ext cx="2735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參考／執行條件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330000" y="1404000"/>
            <a:ext cx="4175640" cy="1007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402000" y="1486800"/>
            <a:ext cx="4031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名目 </a:t>
            </a:r>
            <a:r>
              <a:rPr b="1" lang="en-US" sz="1600" spc="-1" strike="noStrike">
                <a:solidFill>
                  <a:srgbClr val="ffffff"/>
                </a:solidFill>
                <a:latin typeface="Noto Sans CJK TC"/>
              </a:rPr>
              <a:t>W-GMPC </a:t>
            </a: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結果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506000" y="1404000"/>
            <a:ext cx="4211640" cy="1007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578000" y="1486800"/>
            <a:ext cx="4067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可得到的結論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50000" y="2412000"/>
            <a:ext cx="2879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22000" y="2494800"/>
            <a:ext cx="2735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自由段速度比例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0.995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330000" y="2412000"/>
            <a:ext cx="4175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402000" y="2494800"/>
            <a:ext cx="4031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退臂 → 移動出現淨空違規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TCP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落後最大約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316 mm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506000" y="2412000"/>
            <a:ext cx="4211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578000" y="2494800"/>
            <a:ext cx="4067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幾何可行，不等於執行可行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450000" y="3420000"/>
            <a:ext cx="2879640" cy="1007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22000" y="3502800"/>
            <a:ext cx="2735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自由段速度比例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330000" y="3420000"/>
            <a:ext cx="4175640" cy="1007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3402000" y="3502800"/>
            <a:ext cx="4031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所列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20 Hz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取樣自檢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違規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自由段仍可落後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120 mm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506000" y="3420000"/>
            <a:ext cx="4211640" cy="1007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578000" y="3502800"/>
            <a:ext cx="4067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保留控制餘裕後，找到可執行名目序列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450000" y="4428000"/>
            <a:ext cx="2879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522000" y="4510800"/>
            <a:ext cx="2735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後續換抓參考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330000" y="4428000"/>
            <a:ext cx="4175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402000" y="4510800"/>
            <a:ext cx="4031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把預測淨空扣減納入規劃／時間化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模式切換與准入使用實測證據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506000" y="4428000"/>
            <a:ext cx="4211640" cy="1007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578000" y="4510800"/>
            <a:ext cx="40676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讓規劃、監看與提交條件一致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改善對象是本平台參考／執行配置；不是新規劃理論，也不是已證明物理換抓穩定。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04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通過中拉關的名目閉迴路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離線能力：底盤通過途中，模型門角已明顯減少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450000" y="1628280"/>
            <a:ext cx="7559640" cy="2934360"/>
          </a:xfrm>
          <a:prstGeom prst="rect">
            <a:avLst/>
          </a:prstGeom>
          <a:ln w="0">
            <a:noFill/>
          </a:ln>
        </p:spPr>
      </p:pic>
      <p:sp>
        <p:nvSpPr>
          <p:cNvPr id="254" name=""/>
          <p:cNvSpPr/>
          <p:nvPr/>
        </p:nvSpPr>
        <p:spPr>
          <a:xfrm>
            <a:off x="8136000" y="1332000"/>
            <a:ext cx="3599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47.89° → 2.20°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136000" y="1836000"/>
            <a:ext cx="359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模型推得門角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非門關節實測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136000" y="3024000"/>
            <a:ext cx="3599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45.7°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136000" y="3528000"/>
            <a:ext cx="359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底盤圓盤清空前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已發生的關門進展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22000" y="5148000"/>
            <a:ext cx="10799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900" spc="-1" strike="noStrike">
                <a:solidFill>
                  <a:srgbClr val="2f75b5"/>
                </a:solidFill>
                <a:latin typeface="Noto Sans CJK TC"/>
              </a:rPr>
              <a:t>已取得：可追蹤的名目序列。待取得：同趟換抓、通行與關門的接觸實證。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此圖為舊版完整拉關模型；新換抓模型只到內側保持，兩者不併成一個通過結果。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流程平順化的實驗證據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抽屜流程的改善：效率與運動品質分開看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63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6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22000" y="1242000"/>
            <a:ext cx="1080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完整任務策略：整機協調 </a:t>
            </a:r>
            <a:r>
              <a:rPr b="1" lang="en-US" sz="2100" spc="-1" strike="noStrike">
                <a:solidFill>
                  <a:srgbClr val="17365d"/>
                </a:solidFill>
                <a:latin typeface="Noto Sans CJK TC"/>
              </a:rPr>
              <a:t>vs </a:t>
            </a:r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嚴格停車（各 </a:t>
            </a:r>
            <a:r>
              <a:rPr b="1" lang="en-US" sz="2100" spc="-1" strike="noStrike">
                <a:solidFill>
                  <a:srgbClr val="17365d"/>
                </a:solidFill>
                <a:latin typeface="Noto Sans CJK TC"/>
              </a:rPr>
              <a:t>3 </a:t>
            </a:r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趟）</a:t>
            </a:r>
            <a:endParaRPr b="1" lang="en-US" sz="21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67" name=""/>
          <p:cNvSpPr/>
          <p:nvPr/>
        </p:nvSpPr>
        <p:spPr>
          <a:xfrm>
            <a:off x="450000" y="1692000"/>
            <a:ext cx="3960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22000" y="1774800"/>
            <a:ext cx="3816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TC"/>
              </a:rPr>
              <a:t>指標</a:t>
            </a:r>
            <a:endParaRPr b="1" lang="en-US" sz="18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69" name=""/>
          <p:cNvSpPr/>
          <p:nvPr/>
        </p:nvSpPr>
        <p:spPr>
          <a:xfrm>
            <a:off x="4410000" y="1692000"/>
            <a:ext cx="3654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482000" y="177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TC"/>
              </a:rPr>
              <a:t>嚴格停車</a:t>
            </a:r>
            <a:endParaRPr b="1" lang="en-US" sz="18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71" name=""/>
          <p:cNvSpPr/>
          <p:nvPr/>
        </p:nvSpPr>
        <p:spPr>
          <a:xfrm>
            <a:off x="8064000" y="1692000"/>
            <a:ext cx="3654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136000" y="177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TC"/>
              </a:rPr>
              <a:t>整機協調</a:t>
            </a:r>
            <a:endParaRPr b="1" lang="en-US" sz="18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73" name=""/>
          <p:cNvSpPr/>
          <p:nvPr/>
        </p:nvSpPr>
        <p:spPr>
          <a:xfrm>
            <a:off x="450000" y="2232000"/>
            <a:ext cx="3960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22000" y="2314800"/>
            <a:ext cx="3816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平均完整任務時間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75" name=""/>
          <p:cNvSpPr/>
          <p:nvPr/>
        </p:nvSpPr>
        <p:spPr>
          <a:xfrm>
            <a:off x="4410000" y="2232000"/>
            <a:ext cx="3654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482000" y="231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800" spc="-1" strike="noStrike">
                <a:solidFill>
                  <a:srgbClr val="222222"/>
                </a:solidFill>
                <a:latin typeface="Noto Sans CJK TC"/>
              </a:rPr>
              <a:t>93.62 s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77" name=""/>
          <p:cNvSpPr/>
          <p:nvPr/>
        </p:nvSpPr>
        <p:spPr>
          <a:xfrm>
            <a:off x="8064000" y="2232000"/>
            <a:ext cx="3654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136000" y="231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800" spc="-1" strike="noStrike">
                <a:solidFill>
                  <a:srgbClr val="222222"/>
                </a:solidFill>
                <a:latin typeface="Noto Sans CJK TC"/>
              </a:rPr>
              <a:t>80.72 s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79" name=""/>
          <p:cNvSpPr/>
          <p:nvPr/>
        </p:nvSpPr>
        <p:spPr>
          <a:xfrm>
            <a:off x="450000" y="2772000"/>
            <a:ext cx="3960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22000" y="2854800"/>
            <a:ext cx="3816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任務判準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81" name=""/>
          <p:cNvSpPr/>
          <p:nvPr/>
        </p:nvSpPr>
        <p:spPr>
          <a:xfrm>
            <a:off x="4410000" y="2772000"/>
            <a:ext cx="3654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482000" y="285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800" spc="-1" strike="noStrike">
                <a:solidFill>
                  <a:srgbClr val="222222"/>
                </a:solidFill>
                <a:latin typeface="Noto Sans CJK TC"/>
              </a:rPr>
              <a:t>3/3 </a:t>
            </a:r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通過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83" name=""/>
          <p:cNvSpPr/>
          <p:nvPr/>
        </p:nvSpPr>
        <p:spPr>
          <a:xfrm>
            <a:off x="8064000" y="2772000"/>
            <a:ext cx="3654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136000" y="2854800"/>
            <a:ext cx="351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800" spc="-1" strike="noStrike">
                <a:solidFill>
                  <a:srgbClr val="222222"/>
                </a:solidFill>
                <a:latin typeface="Noto Sans CJK TC"/>
              </a:rPr>
              <a:t>3/3 </a:t>
            </a:r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通過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22000" y="3600000"/>
            <a:ext cx="1080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同一核心的預測設定：</a:t>
            </a:r>
            <a:r>
              <a:rPr b="1" lang="en-US" sz="2100" spc="-1" strike="noStrike">
                <a:solidFill>
                  <a:srgbClr val="17365d"/>
                </a:solidFill>
                <a:latin typeface="Noto Sans CJK TC"/>
              </a:rPr>
              <a:t>N=1 vs N=5</a:t>
            </a:r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（另一批，各 </a:t>
            </a:r>
            <a:r>
              <a:rPr b="1" lang="en-US" sz="2100" spc="-1" strike="noStrike">
                <a:solidFill>
                  <a:srgbClr val="17365d"/>
                </a:solidFill>
                <a:latin typeface="Noto Sans CJK TC"/>
              </a:rPr>
              <a:t>3 </a:t>
            </a:r>
            <a:r>
              <a:rPr b="1" lang="zh-CN" sz="2100" spc="-1" strike="noStrike">
                <a:solidFill>
                  <a:srgbClr val="17365d"/>
                </a:solidFill>
                <a:latin typeface="Noto Sans CJK TC"/>
              </a:rPr>
              <a:t>趟）</a:t>
            </a:r>
            <a:endParaRPr b="1" lang="en-US" sz="21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86" name=""/>
          <p:cNvSpPr/>
          <p:nvPr/>
        </p:nvSpPr>
        <p:spPr>
          <a:xfrm>
            <a:off x="450000" y="4032000"/>
            <a:ext cx="3960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22000" y="4114800"/>
            <a:ext cx="3816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TC"/>
              </a:rPr>
              <a:t>整控制窗指標</a:t>
            </a:r>
            <a:endParaRPr b="1" lang="en-US" sz="17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88" name=""/>
          <p:cNvSpPr/>
          <p:nvPr/>
        </p:nvSpPr>
        <p:spPr>
          <a:xfrm>
            <a:off x="4410000" y="4032000"/>
            <a:ext cx="3654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482000" y="411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TC"/>
              </a:rPr>
              <a:t>單步 </a:t>
            </a:r>
            <a:r>
              <a:rPr b="1" lang="en-US" sz="1700" spc="-1" strike="noStrike">
                <a:solidFill>
                  <a:srgbClr val="ffffff"/>
                </a:solidFill>
                <a:latin typeface="Noto Sans CJK TC"/>
              </a:rPr>
              <a:t>N=1</a:t>
            </a:r>
            <a:endParaRPr b="1" lang="en-US" sz="17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90" name=""/>
          <p:cNvSpPr/>
          <p:nvPr/>
        </p:nvSpPr>
        <p:spPr>
          <a:xfrm>
            <a:off x="8064000" y="4032000"/>
            <a:ext cx="3654000" cy="540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136000" y="411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TC"/>
              </a:rPr>
              <a:t>五步 </a:t>
            </a:r>
            <a:r>
              <a:rPr b="1" lang="en-US" sz="1700" spc="-1" strike="noStrike">
                <a:solidFill>
                  <a:srgbClr val="ffffff"/>
                </a:solidFill>
                <a:latin typeface="Noto Sans CJK TC"/>
              </a:rPr>
              <a:t>N=5</a:t>
            </a:r>
            <a:endParaRPr b="1" lang="en-US" sz="17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92" name=""/>
          <p:cNvSpPr/>
          <p:nvPr/>
        </p:nvSpPr>
        <p:spPr>
          <a:xfrm>
            <a:off x="450000" y="4572000"/>
            <a:ext cx="3960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22000" y="4654800"/>
            <a:ext cx="3816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TCP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位置誤差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p95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94" name=""/>
          <p:cNvSpPr/>
          <p:nvPr/>
        </p:nvSpPr>
        <p:spPr>
          <a:xfrm>
            <a:off x="4410000" y="4572000"/>
            <a:ext cx="3654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482000" y="465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10.78–16.64 mm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96" name=""/>
          <p:cNvSpPr/>
          <p:nvPr/>
        </p:nvSpPr>
        <p:spPr>
          <a:xfrm>
            <a:off x="8064000" y="4572000"/>
            <a:ext cx="3654000" cy="5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136000" y="465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7.27–9.75 mm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98" name=""/>
          <p:cNvSpPr/>
          <p:nvPr/>
        </p:nvSpPr>
        <p:spPr>
          <a:xfrm>
            <a:off x="450000" y="5112000"/>
            <a:ext cx="3960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22000" y="5194800"/>
            <a:ext cx="3816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手臂命令反轉率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0" name=""/>
          <p:cNvSpPr/>
          <p:nvPr/>
        </p:nvSpPr>
        <p:spPr>
          <a:xfrm>
            <a:off x="4410000" y="5112000"/>
            <a:ext cx="3654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4482000" y="519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26.01–28.42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次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/s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2" name=""/>
          <p:cNvSpPr/>
          <p:nvPr/>
        </p:nvSpPr>
        <p:spPr>
          <a:xfrm>
            <a:off x="8064000" y="5112000"/>
            <a:ext cx="3654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136000" y="5194800"/>
            <a:ext cx="3510000" cy="39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1.12–2.33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次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/s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4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上表為完整策略比較；下表 </a:t>
            </a:r>
            <a:r>
              <a:rPr b="1" lang="en-US" sz="1600" spc="-1" strike="noStrike">
                <a:solidFill>
                  <a:srgbClr val="666666"/>
                </a:solidFill>
                <a:latin typeface="Noto Sans CJK TC"/>
              </a:rPr>
              <a:t>N </a:t>
            </a: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改變時成本累加也改變。不同批次，不混算時間或歸因。</a:t>
            </a:r>
            <a:endParaRPr b="1" lang="en-US" sz="16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05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研究目標與後續交付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接下來：由單一操作走向同趟導航—操作—返回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450000" y="1440000"/>
            <a:ext cx="3635640" cy="205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450000" y="1440000"/>
            <a:ext cx="46440" cy="205164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576000" y="1548000"/>
            <a:ext cx="3401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開門 → 換抓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76000" y="1933200"/>
            <a:ext cx="3401640" cy="14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先取得同趟實際閉爪與保持證據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成功子段保留影片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4266000" y="1440000"/>
            <a:ext cx="3635640" cy="205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4266000" y="1440000"/>
            <a:ext cx="46440" cy="205164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4392000" y="1548000"/>
            <a:ext cx="3401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通過中關門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392000" y="1933200"/>
            <a:ext cx="3401640" cy="14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在整機清空前已有實測關門進展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再完成放手、退臂、交還導航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082000" y="1440000"/>
            <a:ext cx="3635640" cy="205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8082000" y="1440000"/>
            <a:ext cx="46440" cy="205164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8208000" y="1548000"/>
            <a:ext cx="3401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開關抽屜 → 返回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8208000" y="1933200"/>
            <a:ext cx="3401640" cy="14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接回上次已建立的操作能力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導航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GMPC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＋導航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CBF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實際啟用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522000" y="3996000"/>
            <a:ext cx="1079964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300" spc="-1" strike="noStrike">
                <a:solidFill>
                  <a:srgbClr val="17365d"/>
                </a:solidFill>
                <a:latin typeface="Noto Sans CJK TC"/>
              </a:rPr>
              <a:t>本期回答的是：如何把可規劃的動作，轉成位置伺服平台可執行的全身操作。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522000" y="4968000"/>
            <a:ext cx="1079964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已支持：限定配置的時間、預測一致性與持握誤差改善。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待支持：完整物理通行、同趟往返及跨方法優越性。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完整流程仍是目標；依報告前取得的實際證據更新，不預寫成成功。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A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與舊版完整拉關分開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備用：最新換抓模型與實作狀態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450000" y="1404000"/>
            <a:ext cx="2591640" cy="791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522000" y="1486800"/>
            <a:ext cx="2447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項目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3042000" y="1404000"/>
            <a:ext cx="4355640" cy="791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3114000" y="1486800"/>
            <a:ext cx="4211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結果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398000" y="1404000"/>
            <a:ext cx="4319640" cy="79164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7470000" y="1486800"/>
            <a:ext cx="417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限制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50000" y="2196000"/>
            <a:ext cx="2591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522000" y="2278800"/>
            <a:ext cx="2447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控制狀態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3042000" y="2196000"/>
            <a:ext cx="4355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114000" y="2278800"/>
            <a:ext cx="4211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承接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bench_6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的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q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s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u_prev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／偏移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398000" y="2196000"/>
            <a:ext cx="4319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470000" y="2278800"/>
            <a:ext cx="417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非同趟實際延續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450000" y="2988000"/>
            <a:ext cx="2591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522000" y="3070800"/>
            <a:ext cx="2447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新內側抓法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042000" y="2988000"/>
            <a:ext cx="4355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3114000" y="3070800"/>
            <a:ext cx="4211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φ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＋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30°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；實測准入條件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398000" y="2988000"/>
            <a:ext cx="4319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7470000" y="3070800"/>
            <a:ext cx="417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名目模型無接觸力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450000" y="3780000"/>
            <a:ext cx="2591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522000" y="3862800"/>
            <a:ext cx="2447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W-GMPC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名目追蹤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3042000" y="3780000"/>
            <a:ext cx="4355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3114000" y="3862800"/>
            <a:ext cx="4211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完成；取樣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stop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warn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7398000" y="3780000"/>
            <a:ext cx="4319640" cy="79164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7470000" y="3862800"/>
            <a:ext cx="417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收臂落後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120 mm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、部分關節飽和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50000" y="4572000"/>
            <a:ext cx="2591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522000" y="4654800"/>
            <a:ext cx="2447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整合與下一步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042000" y="4572000"/>
            <a:ext cx="4355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3114000" y="4654800"/>
            <a:ext cx="4211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同一真節點＋替身做完整聯測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7398000" y="4572000"/>
            <a:ext cx="4319640" cy="79164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7470000" y="4654800"/>
            <a:ext cx="417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尚未取得新換抓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Isaac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實證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0.29 s 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壓力核對自碰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4.90 mm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，未過；本模型成功僅限所列名目條件。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B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本期其他進展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備用：視覺預抓取與目標誤差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7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450000" y="1609560"/>
            <a:ext cx="7199640" cy="3260160"/>
          </a:xfrm>
          <a:prstGeom prst="rect">
            <a:avLst/>
          </a:prstGeom>
          <a:ln w="0">
            <a:noFill/>
          </a:ln>
        </p:spPr>
      </p:pic>
      <p:sp>
        <p:nvSpPr>
          <p:cNvPr id="370" name=""/>
          <p:cNvSpPr/>
          <p:nvPr/>
        </p:nvSpPr>
        <p:spPr>
          <a:xfrm>
            <a:off x="7920000" y="1404000"/>
            <a:ext cx="3599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1.83 mm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7920000" y="1908000"/>
            <a:ext cx="359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相對鎖定目標的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預抓取到位誤差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7920000" y="3168000"/>
            <a:ext cx="359964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1.36 → 0.97 mm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7920000" y="3672000"/>
            <a:ext cx="359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82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格共同工具目標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接近軸絕對誤差中位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預抓取到位 ≠ 可放行抓取；未閉爪、未操作，也未證明跨物件泛化。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>
            <a:off x="450000" y="169200"/>
            <a:ext cx="1007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C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原始來源・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2026/10/28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查核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50000" y="410400"/>
            <a:ext cx="112676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代表性文獻與本研究定位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50000" y="1008000"/>
            <a:ext cx="11292120" cy="36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9" name=""/>
          <p:cNvSpPr/>
          <p:nvPr/>
        </p:nvSpPr>
        <p:spPr>
          <a:xfrm>
            <a:off x="450000" y="6480000"/>
            <a:ext cx="10439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v3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1328120" y="6480000"/>
            <a:ext cx="35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22000" y="118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[R1] Wang, Chen, Zhao — ICRA 2025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522000" y="147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Whole-Body MPC for Mobile Manipulation with Task Priority Transition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522000" y="190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[R2] Sinaei et al. — arXiv v1, 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522000" y="219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Motion Planning for Mobile Manipulators Navigating Doorways via MPC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522000" y="262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[R3] Du et al. — arXiv v1, 2024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522000" y="291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An Efficient Representation of Whole-body MPC for Online Compliant Dual-arm Mobile Manipulation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522000" y="334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[R4] Jang, Kim, Park — RA-L 2023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522000" y="363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4"/>
              </a:rPr>
              <a:t>Motion Planning of Mobile Manipulator for Navigation Including Door Traversal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522000" y="406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[R5] Minniti et al. — ICRA 2021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522000" y="435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5"/>
              </a:rPr>
              <a:t>Model Predictive Robot-Environment Interaction Control for Mobile Manipulation Tasks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522000" y="4788000"/>
            <a:ext cx="1079964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[R6] Tang et al. — RA-L 2024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522000" y="5076000"/>
            <a:ext cx="10799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ee"/>
                </a:solidFill>
                <a:uFillTx/>
                <a:latin typeface="Arial"/>
                <a:hlinkClick r:id="rId6"/>
              </a:rPr>
              <a:t>GMPC: Geometric MPC for Wheeled Mobile Robot Trajectory Tracking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450000" y="5832000"/>
            <a:ext cx="11291760" cy="41364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48600" bIns="486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558000" y="5875200"/>
            <a:ext cx="1107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比較表的『方法不同』不是『已經比較勝出』；本平台改善數字另列。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2026-10-28T17:04:38Z</dcterms:created>
  <dc:creator/>
  <dc:description/>
  <dc:language>en-US</dc:language>
  <cp:lastModifiedBy/>
  <dcterms:modified xsi:type="dcterms:W3CDTF">2026-10-28T17:13:07Z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